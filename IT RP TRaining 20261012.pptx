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5" r:id="rId5"/>
    <p:sldMasterId id="2147483686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y="5143500" cx="9144000"/>
  <p:notesSz cx="6858000" cy="9144000"/>
  <p:embeddedFontLst>
    <p:embeddedFont>
      <p:font typeface="Roboto Mono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B480D92-C3F5-41F8-A9A1-6B737B9D9845}">
  <a:tblStyle styleId="{6B480D92-C3F5-41F8-A9A1-6B737B9D984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boldItalic.fntdata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font" Target="fonts/RobotoMono-regular.fntdata"/><Relationship Id="rId14" Type="http://schemas.openxmlformats.org/officeDocument/2006/relationships/slide" Target="slides/slide7.xml"/><Relationship Id="rId36" Type="http://schemas.openxmlformats.org/officeDocument/2006/relationships/slide" Target="slides/slide29.xml"/><Relationship Id="rId17" Type="http://schemas.openxmlformats.org/officeDocument/2006/relationships/slide" Target="slides/slide10.xml"/><Relationship Id="rId39" Type="http://schemas.openxmlformats.org/officeDocument/2006/relationships/font" Target="fonts/RobotoMono-italic.fntdata"/><Relationship Id="rId16" Type="http://schemas.openxmlformats.org/officeDocument/2006/relationships/slide" Target="slides/slide9.xml"/><Relationship Id="rId38" Type="http://schemas.openxmlformats.org/officeDocument/2006/relationships/font" Target="fonts/RobotoMono-bold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h6a5df1e0bea5b7f6_5_0:notes"/>
          <p:cNvSpPr txBox="1"/>
          <p:nvPr>
            <p:ph idx="1" type="body"/>
          </p:nvPr>
        </p:nvSpPr>
        <p:spPr>
          <a:xfrm>
            <a:off x="685800" y="4343713"/>
            <a:ext cx="54864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925" lIns="89850" spcFirstLastPara="1" rIns="89850" wrap="square" tIns="44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400"/>
          </a:p>
        </p:txBody>
      </p:sp>
      <p:sp>
        <p:nvSpPr>
          <p:cNvPr id="130" name="Google Shape;130;h6a5df1e0bea5b7f6_5_0:notes"/>
          <p:cNvSpPr/>
          <p:nvPr>
            <p:ph idx="2" type="sldImg"/>
          </p:nvPr>
        </p:nvSpPr>
        <p:spPr>
          <a:xfrm>
            <a:off x="390698" y="68642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h6a5df1e0bea5b7f6_5_8:notes"/>
          <p:cNvSpPr/>
          <p:nvPr>
            <p:ph idx="2" type="sldImg"/>
          </p:nvPr>
        </p:nvSpPr>
        <p:spPr>
          <a:xfrm>
            <a:off x="390698" y="68642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h6a5df1e0bea5b7f6_5_8:notes"/>
          <p:cNvSpPr txBox="1"/>
          <p:nvPr>
            <p:ph idx="1" type="body"/>
          </p:nvPr>
        </p:nvSpPr>
        <p:spPr>
          <a:xfrm>
            <a:off x="685800" y="4343713"/>
            <a:ext cx="54864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925" lIns="89850" spcFirstLastPara="1" rIns="89850" wrap="square" tIns="44925">
            <a:noAutofit/>
          </a:bodyPr>
          <a:lstStyle/>
          <a:p>
            <a:pPr indent="-215900" lvl="0" marL="444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/>
          </a:p>
        </p:txBody>
      </p:sp>
      <p:sp>
        <p:nvSpPr>
          <p:cNvPr id="150" name="Google Shape;150;h6a5df1e0bea5b7f6_5_8:notes"/>
          <p:cNvSpPr txBox="1"/>
          <p:nvPr>
            <p:ph idx="12" type="sldNum"/>
          </p:nvPr>
        </p:nvSpPr>
        <p:spPr>
          <a:xfrm>
            <a:off x="3884122" y="8685862"/>
            <a:ext cx="29724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4925" lIns="89850" spcFirstLastPara="1" rIns="89850" wrap="square" tIns="44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h6a5df1e0bea5b7f6_5_14:notes"/>
          <p:cNvSpPr txBox="1"/>
          <p:nvPr>
            <p:ph idx="1" type="body"/>
          </p:nvPr>
        </p:nvSpPr>
        <p:spPr>
          <a:xfrm>
            <a:off x="685800" y="4343713"/>
            <a:ext cx="5486400" cy="4113900"/>
          </a:xfrm>
          <a:prstGeom prst="rect">
            <a:avLst/>
          </a:prstGeom>
        </p:spPr>
        <p:txBody>
          <a:bodyPr anchorCtr="0" anchor="t" bIns="89850" lIns="89850" spcFirstLastPara="1" rIns="89850" wrap="square" tIns="8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h6a5df1e0bea5b7f6_5_14:notes"/>
          <p:cNvSpPr/>
          <p:nvPr>
            <p:ph idx="2" type="sldImg"/>
          </p:nvPr>
        </p:nvSpPr>
        <p:spPr>
          <a:xfrm>
            <a:off x="390698" y="68642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h6a5df1e0bea5b7f6_5_20:notes"/>
          <p:cNvSpPr txBox="1"/>
          <p:nvPr>
            <p:ph idx="1" type="body"/>
          </p:nvPr>
        </p:nvSpPr>
        <p:spPr>
          <a:xfrm>
            <a:off x="685800" y="4343713"/>
            <a:ext cx="54864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925" lIns="89850" spcFirstLastPara="1" rIns="89850" wrap="square" tIns="44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/>
              <a:t>dfdfd</a:t>
            </a:r>
            <a:endParaRPr sz="1400"/>
          </a:p>
        </p:txBody>
      </p:sp>
      <p:sp>
        <p:nvSpPr>
          <p:cNvPr id="181" name="Google Shape;181;h6a5df1e0bea5b7f6_5_20:notes"/>
          <p:cNvSpPr/>
          <p:nvPr>
            <p:ph idx="2" type="sldImg"/>
          </p:nvPr>
        </p:nvSpPr>
        <p:spPr>
          <a:xfrm>
            <a:off x="390698" y="68642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h6a5df1e0bea5b7f6_5_26:notes"/>
          <p:cNvSpPr/>
          <p:nvPr>
            <p:ph idx="2" type="sldImg"/>
          </p:nvPr>
        </p:nvSpPr>
        <p:spPr>
          <a:xfrm>
            <a:off x="390698" y="68642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h6a5df1e0bea5b7f6_5_26:notes"/>
          <p:cNvSpPr txBox="1"/>
          <p:nvPr>
            <p:ph idx="1" type="body"/>
          </p:nvPr>
        </p:nvSpPr>
        <p:spPr>
          <a:xfrm>
            <a:off x="685800" y="4343713"/>
            <a:ext cx="54864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925" lIns="89850" spcFirstLastPara="1" rIns="89850" wrap="square" tIns="44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t/>
            </a:r>
            <a:endParaRPr sz="1400"/>
          </a:p>
        </p:txBody>
      </p:sp>
      <p:sp>
        <p:nvSpPr>
          <p:cNvPr id="200" name="Google Shape;200;h6a5df1e0bea5b7f6_5_26:notes"/>
          <p:cNvSpPr txBox="1"/>
          <p:nvPr>
            <p:ph idx="12" type="sldNum"/>
          </p:nvPr>
        </p:nvSpPr>
        <p:spPr>
          <a:xfrm>
            <a:off x="3884122" y="8685862"/>
            <a:ext cx="29724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4925" lIns="89850" spcFirstLastPara="1" rIns="89850" wrap="square" tIns="449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h6a5df1e0bea5b7f6_5_32:notes"/>
          <p:cNvSpPr/>
          <p:nvPr>
            <p:ph idx="2" type="sldImg"/>
          </p:nvPr>
        </p:nvSpPr>
        <p:spPr>
          <a:xfrm>
            <a:off x="390698" y="68642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h6a5df1e0bea5b7f6_5_32:notes"/>
          <p:cNvSpPr txBox="1"/>
          <p:nvPr>
            <p:ph idx="1" type="body"/>
          </p:nvPr>
        </p:nvSpPr>
        <p:spPr>
          <a:xfrm>
            <a:off x="685800" y="4343713"/>
            <a:ext cx="54864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925" lIns="89850" spcFirstLastPara="1" rIns="89850" wrap="square" tIns="44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i="1" lang="en" sz="1200"/>
              <a:t>Uses a weighted “fair share” queuing system, with job limits, access is distributed evenly across the system.</a:t>
            </a:r>
            <a:endParaRPr sz="1400"/>
          </a:p>
        </p:txBody>
      </p:sp>
      <p:sp>
        <p:nvSpPr>
          <p:cNvPr id="224" name="Google Shape;224;h6a5df1e0bea5b7f6_5_32:notes"/>
          <p:cNvSpPr txBox="1"/>
          <p:nvPr>
            <p:ph idx="12" type="sldNum"/>
          </p:nvPr>
        </p:nvSpPr>
        <p:spPr>
          <a:xfrm>
            <a:off x="3884122" y="8685862"/>
            <a:ext cx="29724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4925" lIns="89850" spcFirstLastPara="1" rIns="89850" wrap="square" tIns="449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h6a5df1e0bea5b7f6_5_38:notes"/>
          <p:cNvSpPr txBox="1"/>
          <p:nvPr>
            <p:ph idx="1" type="body"/>
          </p:nvPr>
        </p:nvSpPr>
        <p:spPr>
          <a:xfrm>
            <a:off x="685800" y="4343713"/>
            <a:ext cx="54864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925" lIns="89850" spcFirstLastPara="1" rIns="89850" wrap="square" tIns="44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400"/>
          </a:p>
        </p:txBody>
      </p:sp>
      <p:sp>
        <p:nvSpPr>
          <p:cNvPr id="247" name="Google Shape;247;h6a5df1e0bea5b7f6_5_38:notes"/>
          <p:cNvSpPr/>
          <p:nvPr>
            <p:ph idx="2" type="sldImg"/>
          </p:nvPr>
        </p:nvSpPr>
        <p:spPr>
          <a:xfrm>
            <a:off x="390698" y="68642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h6a5df1e0bea5b7f6_5_44:notes"/>
          <p:cNvSpPr txBox="1"/>
          <p:nvPr>
            <p:ph idx="1" type="body"/>
          </p:nvPr>
        </p:nvSpPr>
        <p:spPr>
          <a:xfrm>
            <a:off x="685800" y="4343713"/>
            <a:ext cx="54864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925" lIns="89850" spcFirstLastPara="1" rIns="89850" wrap="square" tIns="44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400"/>
          </a:p>
        </p:txBody>
      </p:sp>
      <p:sp>
        <p:nvSpPr>
          <p:cNvPr id="270" name="Google Shape;270;h6a5df1e0bea5b7f6_5_44:notes"/>
          <p:cNvSpPr/>
          <p:nvPr>
            <p:ph idx="2" type="sldImg"/>
          </p:nvPr>
        </p:nvSpPr>
        <p:spPr>
          <a:xfrm>
            <a:off x="390698" y="68642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h6a5df1e0bea5b7f6_5_49:notes"/>
          <p:cNvSpPr/>
          <p:nvPr>
            <p:ph idx="2" type="sldImg"/>
          </p:nvPr>
        </p:nvSpPr>
        <p:spPr>
          <a:xfrm>
            <a:off x="374073" y="675480"/>
            <a:ext cx="5985300" cy="3377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h6a5df1e0bea5b7f6_5_49:notes"/>
          <p:cNvSpPr txBox="1"/>
          <p:nvPr>
            <p:ph idx="1" type="body"/>
          </p:nvPr>
        </p:nvSpPr>
        <p:spPr>
          <a:xfrm>
            <a:off x="673331" y="4278349"/>
            <a:ext cx="5386800" cy="40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150" lIns="88300" spcFirstLastPara="1" rIns="88300" wrap="square" tIns="44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400"/>
          </a:p>
        </p:txBody>
      </p:sp>
      <p:sp>
        <p:nvSpPr>
          <p:cNvPr id="304" name="Google Shape;304;h6a5df1e0bea5b7f6_5_49:notes"/>
          <p:cNvSpPr txBox="1"/>
          <p:nvPr>
            <p:ph idx="12" type="sldNum"/>
          </p:nvPr>
        </p:nvSpPr>
        <p:spPr>
          <a:xfrm>
            <a:off x="3813502" y="8555158"/>
            <a:ext cx="29181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4150" lIns="88300" spcFirstLastPara="1" rIns="88300" wrap="square" tIns="441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h6a5df1e0bea5b7f6_5_56:notes"/>
          <p:cNvSpPr txBox="1"/>
          <p:nvPr>
            <p:ph idx="1" type="body"/>
          </p:nvPr>
        </p:nvSpPr>
        <p:spPr>
          <a:xfrm>
            <a:off x="685800" y="4343713"/>
            <a:ext cx="54864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925" lIns="89850" spcFirstLastPara="1" rIns="89850" wrap="square" tIns="44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400"/>
          </a:p>
        </p:txBody>
      </p:sp>
      <p:sp>
        <p:nvSpPr>
          <p:cNvPr id="327" name="Google Shape;327;h6a5df1e0bea5b7f6_5_56:notes"/>
          <p:cNvSpPr/>
          <p:nvPr>
            <p:ph idx="2" type="sldImg"/>
          </p:nvPr>
        </p:nvSpPr>
        <p:spPr>
          <a:xfrm>
            <a:off x="390698" y="68642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h6a5df1e0bea5b7f6_5_61:notes"/>
          <p:cNvSpPr txBox="1"/>
          <p:nvPr>
            <p:ph idx="1" type="body"/>
          </p:nvPr>
        </p:nvSpPr>
        <p:spPr>
          <a:xfrm>
            <a:off x="685800" y="4343713"/>
            <a:ext cx="54864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925" lIns="89850" spcFirstLastPara="1" rIns="89850" wrap="square" tIns="44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400"/>
          </a:p>
        </p:txBody>
      </p:sp>
      <p:sp>
        <p:nvSpPr>
          <p:cNvPr id="343" name="Google Shape;343;h6a5df1e0bea5b7f6_5_61:notes"/>
          <p:cNvSpPr/>
          <p:nvPr>
            <p:ph idx="2" type="sldImg"/>
          </p:nvPr>
        </p:nvSpPr>
        <p:spPr>
          <a:xfrm>
            <a:off x="390698" y="68642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h6a5df1e0bea5b7f6_0_16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h6a5df1e0bea5b7f6_0_16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h6a5df1e0bea5b7f6_5_85:notes"/>
          <p:cNvSpPr/>
          <p:nvPr>
            <p:ph idx="2" type="sldImg"/>
          </p:nvPr>
        </p:nvSpPr>
        <p:spPr>
          <a:xfrm>
            <a:off x="390698" y="68642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3" name="Google Shape;423;h6a5df1e0bea5b7f6_5_85:notes"/>
          <p:cNvSpPr txBox="1"/>
          <p:nvPr>
            <p:ph idx="1" type="body"/>
          </p:nvPr>
        </p:nvSpPr>
        <p:spPr>
          <a:xfrm>
            <a:off x="685800" y="4343713"/>
            <a:ext cx="54864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925" lIns="89850" spcFirstLastPara="1" rIns="89850" wrap="square" tIns="44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400"/>
          </a:p>
        </p:txBody>
      </p:sp>
      <p:sp>
        <p:nvSpPr>
          <p:cNvPr id="424" name="Google Shape;424;h6a5df1e0bea5b7f6_5_85:notes"/>
          <p:cNvSpPr txBox="1"/>
          <p:nvPr>
            <p:ph idx="12" type="sldNum"/>
          </p:nvPr>
        </p:nvSpPr>
        <p:spPr>
          <a:xfrm>
            <a:off x="3884122" y="8685862"/>
            <a:ext cx="29724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4925" lIns="89850" spcFirstLastPara="1" rIns="89850" wrap="square" tIns="449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h6a5df1e0bea5b7f6_5_92:notes"/>
          <p:cNvSpPr txBox="1"/>
          <p:nvPr>
            <p:ph idx="1" type="body"/>
          </p:nvPr>
        </p:nvSpPr>
        <p:spPr>
          <a:xfrm>
            <a:off x="685800" y="4343713"/>
            <a:ext cx="54864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925" lIns="89850" spcFirstLastPara="1" rIns="89850" wrap="square" tIns="44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400"/>
          </a:p>
        </p:txBody>
      </p:sp>
      <p:sp>
        <p:nvSpPr>
          <p:cNvPr id="435" name="Google Shape;435;h6a5df1e0bea5b7f6_5_92:notes"/>
          <p:cNvSpPr/>
          <p:nvPr>
            <p:ph idx="2" type="sldImg"/>
          </p:nvPr>
        </p:nvSpPr>
        <p:spPr>
          <a:xfrm>
            <a:off x="390698" y="68642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h6a5df1e0bea5b7f6_5_97:notes"/>
          <p:cNvSpPr txBox="1"/>
          <p:nvPr>
            <p:ph idx="1" type="body"/>
          </p:nvPr>
        </p:nvSpPr>
        <p:spPr>
          <a:xfrm>
            <a:off x="685800" y="4343713"/>
            <a:ext cx="54864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925" lIns="89850" spcFirstLastPara="1" rIns="89850" wrap="square" tIns="44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400"/>
          </a:p>
        </p:txBody>
      </p:sp>
      <p:sp>
        <p:nvSpPr>
          <p:cNvPr id="479" name="Google Shape;479;h6a5df1e0bea5b7f6_5_97:notes"/>
          <p:cNvSpPr/>
          <p:nvPr>
            <p:ph idx="2" type="sldImg"/>
          </p:nvPr>
        </p:nvSpPr>
        <p:spPr>
          <a:xfrm>
            <a:off x="390698" y="68642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h6a5df1e0bea5b7f6_5_103:notes"/>
          <p:cNvSpPr/>
          <p:nvPr>
            <p:ph idx="2" type="sldImg"/>
          </p:nvPr>
        </p:nvSpPr>
        <p:spPr>
          <a:xfrm>
            <a:off x="390698" y="68642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4" name="Google Shape;514;h6a5df1e0bea5b7f6_5_103:notes"/>
          <p:cNvSpPr txBox="1"/>
          <p:nvPr>
            <p:ph idx="1" type="body"/>
          </p:nvPr>
        </p:nvSpPr>
        <p:spPr>
          <a:xfrm>
            <a:off x="685800" y="4343713"/>
            <a:ext cx="54864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925" lIns="89850" spcFirstLastPara="1" rIns="89850" wrap="square" tIns="44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400"/>
          </a:p>
        </p:txBody>
      </p:sp>
      <p:sp>
        <p:nvSpPr>
          <p:cNvPr id="515" name="Google Shape;515;h6a5df1e0bea5b7f6_5_103:notes"/>
          <p:cNvSpPr txBox="1"/>
          <p:nvPr>
            <p:ph idx="12" type="sldNum"/>
          </p:nvPr>
        </p:nvSpPr>
        <p:spPr>
          <a:xfrm>
            <a:off x="3884122" y="8685862"/>
            <a:ext cx="29724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4925" lIns="89850" spcFirstLastPara="1" rIns="89850" wrap="square" tIns="449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h6a5df1e0bea5b7f6_5_109:notes"/>
          <p:cNvSpPr txBox="1"/>
          <p:nvPr>
            <p:ph idx="1" type="body"/>
          </p:nvPr>
        </p:nvSpPr>
        <p:spPr>
          <a:xfrm>
            <a:off x="685800" y="4343713"/>
            <a:ext cx="54864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925" lIns="89850" spcFirstLastPara="1" rIns="89850" wrap="square" tIns="44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400"/>
          </a:p>
        </p:txBody>
      </p:sp>
      <p:sp>
        <p:nvSpPr>
          <p:cNvPr id="547" name="Google Shape;547;h6a5df1e0bea5b7f6_5_109:notes"/>
          <p:cNvSpPr/>
          <p:nvPr>
            <p:ph idx="2" type="sldImg"/>
          </p:nvPr>
        </p:nvSpPr>
        <p:spPr>
          <a:xfrm>
            <a:off x="390698" y="68642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h6a5df1e0bea5b7f6_5_114:notes"/>
          <p:cNvSpPr/>
          <p:nvPr>
            <p:ph idx="2" type="sldImg"/>
          </p:nvPr>
        </p:nvSpPr>
        <p:spPr>
          <a:xfrm>
            <a:off x="390698" y="68642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2" name="Google Shape;572;h6a5df1e0bea5b7f6_5_114:notes"/>
          <p:cNvSpPr txBox="1"/>
          <p:nvPr>
            <p:ph idx="1" type="body"/>
          </p:nvPr>
        </p:nvSpPr>
        <p:spPr>
          <a:xfrm>
            <a:off x="685800" y="4343713"/>
            <a:ext cx="54864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925" lIns="89850" spcFirstLastPara="1" rIns="89850" wrap="square" tIns="44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400"/>
          </a:p>
        </p:txBody>
      </p:sp>
      <p:sp>
        <p:nvSpPr>
          <p:cNvPr id="573" name="Google Shape;573;h6a5df1e0bea5b7f6_5_114:notes"/>
          <p:cNvSpPr txBox="1"/>
          <p:nvPr>
            <p:ph idx="12" type="sldNum"/>
          </p:nvPr>
        </p:nvSpPr>
        <p:spPr>
          <a:xfrm>
            <a:off x="3884122" y="8685862"/>
            <a:ext cx="29724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4925" lIns="89850" spcFirstLastPara="1" rIns="89850" wrap="square" tIns="449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h6a5df1e0bea5b7f6_5_120:notes"/>
          <p:cNvSpPr/>
          <p:nvPr>
            <p:ph idx="2" type="sldImg"/>
          </p:nvPr>
        </p:nvSpPr>
        <p:spPr>
          <a:xfrm>
            <a:off x="390698" y="68642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4" name="Google Shape;614;h6a5df1e0bea5b7f6_5_120:notes"/>
          <p:cNvSpPr txBox="1"/>
          <p:nvPr>
            <p:ph idx="1" type="body"/>
          </p:nvPr>
        </p:nvSpPr>
        <p:spPr>
          <a:xfrm>
            <a:off x="685800" y="4343713"/>
            <a:ext cx="54864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925" lIns="89850" spcFirstLastPara="1" rIns="89850" wrap="square" tIns="44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400"/>
          </a:p>
        </p:txBody>
      </p:sp>
      <p:sp>
        <p:nvSpPr>
          <p:cNvPr id="615" name="Google Shape;615;h6a5df1e0bea5b7f6_5_120:notes"/>
          <p:cNvSpPr txBox="1"/>
          <p:nvPr>
            <p:ph idx="12" type="sldNum"/>
          </p:nvPr>
        </p:nvSpPr>
        <p:spPr>
          <a:xfrm>
            <a:off x="3884122" y="8685862"/>
            <a:ext cx="29724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4925" lIns="89850" spcFirstLastPara="1" rIns="89850" wrap="square" tIns="449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h6a5df1e0bea5b7f6_5_130:notes"/>
          <p:cNvSpPr/>
          <p:nvPr>
            <p:ph idx="2" type="sldImg"/>
          </p:nvPr>
        </p:nvSpPr>
        <p:spPr>
          <a:xfrm>
            <a:off x="390698" y="68642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6" name="Google Shape;656;h6a5df1e0bea5b7f6_5_130:notes"/>
          <p:cNvSpPr txBox="1"/>
          <p:nvPr>
            <p:ph idx="1" type="body"/>
          </p:nvPr>
        </p:nvSpPr>
        <p:spPr>
          <a:xfrm>
            <a:off x="685800" y="4343713"/>
            <a:ext cx="54864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925" lIns="89850" spcFirstLastPara="1" rIns="89850" wrap="square" tIns="44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400"/>
          </a:p>
        </p:txBody>
      </p:sp>
      <p:sp>
        <p:nvSpPr>
          <p:cNvPr id="657" name="Google Shape;657;h6a5df1e0bea5b7f6_5_130:notes"/>
          <p:cNvSpPr txBox="1"/>
          <p:nvPr>
            <p:ph idx="12" type="sldNum"/>
          </p:nvPr>
        </p:nvSpPr>
        <p:spPr>
          <a:xfrm>
            <a:off x="3884122" y="8685862"/>
            <a:ext cx="29724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4925" lIns="89850" spcFirstLastPara="1" rIns="89850" wrap="square" tIns="449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h6a5df1e0bea5b7f6_5_136:notes"/>
          <p:cNvSpPr/>
          <p:nvPr>
            <p:ph idx="2" type="sldImg"/>
          </p:nvPr>
        </p:nvSpPr>
        <p:spPr>
          <a:xfrm>
            <a:off x="390698" y="68642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3" name="Google Shape;683;h6a5df1e0bea5b7f6_5_136:notes"/>
          <p:cNvSpPr txBox="1"/>
          <p:nvPr>
            <p:ph idx="1" type="body"/>
          </p:nvPr>
        </p:nvSpPr>
        <p:spPr>
          <a:xfrm>
            <a:off x="685800" y="4343713"/>
            <a:ext cx="54864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925" lIns="89850" spcFirstLastPara="1" rIns="89850" wrap="square" tIns="44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400"/>
          </a:p>
        </p:txBody>
      </p:sp>
      <p:sp>
        <p:nvSpPr>
          <p:cNvPr id="684" name="Google Shape;684;h6a5df1e0bea5b7f6_5_136:notes"/>
          <p:cNvSpPr txBox="1"/>
          <p:nvPr>
            <p:ph idx="12" type="sldNum"/>
          </p:nvPr>
        </p:nvSpPr>
        <p:spPr>
          <a:xfrm>
            <a:off x="3884122" y="8685862"/>
            <a:ext cx="29724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4925" lIns="89850" spcFirstLastPara="1" rIns="89850" wrap="square" tIns="449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h6a5df1e0bea5b7f6_5_142:notes"/>
          <p:cNvSpPr/>
          <p:nvPr>
            <p:ph idx="2" type="sldImg"/>
          </p:nvPr>
        </p:nvSpPr>
        <p:spPr>
          <a:xfrm>
            <a:off x="390698" y="68642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9" name="Google Shape;719;h6a5df1e0bea5b7f6_5_142:notes"/>
          <p:cNvSpPr txBox="1"/>
          <p:nvPr>
            <p:ph idx="1" type="body"/>
          </p:nvPr>
        </p:nvSpPr>
        <p:spPr>
          <a:xfrm>
            <a:off x="685800" y="4343713"/>
            <a:ext cx="54864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925" lIns="89850" spcFirstLastPara="1" rIns="89850" wrap="square" tIns="44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400"/>
          </a:p>
        </p:txBody>
      </p:sp>
      <p:sp>
        <p:nvSpPr>
          <p:cNvPr id="720" name="Google Shape;720;h6a5df1e0bea5b7f6_5_142:notes"/>
          <p:cNvSpPr txBox="1"/>
          <p:nvPr>
            <p:ph idx="12" type="sldNum"/>
          </p:nvPr>
        </p:nvSpPr>
        <p:spPr>
          <a:xfrm>
            <a:off x="3884122" y="8685862"/>
            <a:ext cx="29724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4925" lIns="89850" spcFirstLastPara="1" rIns="89850" wrap="square" tIns="449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h6a5df1e0bea5b7f6_5_148:notes"/>
          <p:cNvSpPr/>
          <p:nvPr>
            <p:ph idx="2" type="sldImg"/>
          </p:nvPr>
        </p:nvSpPr>
        <p:spPr>
          <a:xfrm>
            <a:off x="390698" y="68642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9" name="Google Shape;749;h6a5df1e0bea5b7f6_5_148:notes"/>
          <p:cNvSpPr txBox="1"/>
          <p:nvPr>
            <p:ph idx="1" type="body"/>
          </p:nvPr>
        </p:nvSpPr>
        <p:spPr>
          <a:xfrm>
            <a:off x="685800" y="4343713"/>
            <a:ext cx="54864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925" lIns="89850" spcFirstLastPara="1" rIns="89850" wrap="square" tIns="44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400"/>
          </a:p>
        </p:txBody>
      </p:sp>
      <p:sp>
        <p:nvSpPr>
          <p:cNvPr id="750" name="Google Shape;750;h6a5df1e0bea5b7f6_5_148:notes"/>
          <p:cNvSpPr txBox="1"/>
          <p:nvPr>
            <p:ph idx="12" type="sldNum"/>
          </p:nvPr>
        </p:nvSpPr>
        <p:spPr>
          <a:xfrm>
            <a:off x="3884122" y="8685862"/>
            <a:ext cx="29724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4925" lIns="89850" spcFirstLastPara="1" rIns="89850" wrap="square" tIns="449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h6a5df1e0bea5b7f6_5_156:notes"/>
          <p:cNvSpPr/>
          <p:nvPr>
            <p:ph idx="2" type="sldImg"/>
          </p:nvPr>
        </p:nvSpPr>
        <p:spPr>
          <a:xfrm>
            <a:off x="390690" y="686426"/>
            <a:ext cx="60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4" name="Google Shape;774;h6a5df1e0bea5b7f6_5_156:notes"/>
          <p:cNvSpPr txBox="1"/>
          <p:nvPr>
            <p:ph idx="1" type="body"/>
          </p:nvPr>
        </p:nvSpPr>
        <p:spPr>
          <a:xfrm>
            <a:off x="685800" y="4343713"/>
            <a:ext cx="54864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925" lIns="89850" spcFirstLastPara="1" rIns="89850" wrap="square" tIns="44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400"/>
          </a:p>
        </p:txBody>
      </p:sp>
      <p:sp>
        <p:nvSpPr>
          <p:cNvPr id="775" name="Google Shape;775;h6a5df1e0bea5b7f6_5_156:notes"/>
          <p:cNvSpPr txBox="1"/>
          <p:nvPr>
            <p:ph idx="12" type="sldNum"/>
          </p:nvPr>
        </p:nvSpPr>
        <p:spPr>
          <a:xfrm>
            <a:off x="3884122" y="8685862"/>
            <a:ext cx="29724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4925" lIns="89850" spcFirstLastPara="1" rIns="89850" wrap="square" tIns="449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h6a5df1e0bea5b7f6_5_162:notes"/>
          <p:cNvSpPr/>
          <p:nvPr>
            <p:ph idx="2" type="sldImg"/>
          </p:nvPr>
        </p:nvSpPr>
        <p:spPr>
          <a:xfrm>
            <a:off x="374073" y="675480"/>
            <a:ext cx="5985300" cy="3377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3" name="Google Shape;803;h6a5df1e0bea5b7f6_5_162:notes"/>
          <p:cNvSpPr txBox="1"/>
          <p:nvPr>
            <p:ph idx="1" type="body"/>
          </p:nvPr>
        </p:nvSpPr>
        <p:spPr>
          <a:xfrm>
            <a:off x="673331" y="4278349"/>
            <a:ext cx="5386500" cy="40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4150" lIns="88300" spcFirstLastPara="1" rIns="88300" wrap="square" tIns="44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400"/>
          </a:p>
        </p:txBody>
      </p:sp>
      <p:sp>
        <p:nvSpPr>
          <p:cNvPr id="804" name="Google Shape;804;h6a5df1e0bea5b7f6_5_162:notes"/>
          <p:cNvSpPr txBox="1"/>
          <p:nvPr>
            <p:ph idx="12" type="sldNum"/>
          </p:nvPr>
        </p:nvSpPr>
        <p:spPr>
          <a:xfrm>
            <a:off x="3813502" y="8555158"/>
            <a:ext cx="29184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4150" lIns="88300" spcFirstLastPara="1" rIns="88300" wrap="square" tIns="441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h6a5df1e0bea5b7f6_5_168:notes"/>
          <p:cNvSpPr txBox="1"/>
          <p:nvPr>
            <p:ph idx="1" type="body"/>
          </p:nvPr>
        </p:nvSpPr>
        <p:spPr>
          <a:xfrm>
            <a:off x="685800" y="4343713"/>
            <a:ext cx="54864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925" lIns="89850" spcFirstLastPara="1" rIns="89850" wrap="square" tIns="44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400"/>
          </a:p>
        </p:txBody>
      </p:sp>
      <p:sp>
        <p:nvSpPr>
          <p:cNvPr id="831" name="Google Shape;831;h6a5df1e0bea5b7f6_5_168:notes"/>
          <p:cNvSpPr/>
          <p:nvPr>
            <p:ph idx="2" type="sldImg"/>
          </p:nvPr>
        </p:nvSpPr>
        <p:spPr>
          <a:xfrm>
            <a:off x="390698" y="686426"/>
            <a:ext cx="6076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h6a5df1e0bea5b7f6_5_173:notes"/>
          <p:cNvSpPr/>
          <p:nvPr>
            <p:ph idx="2" type="sldImg"/>
          </p:nvPr>
        </p:nvSpPr>
        <p:spPr>
          <a:xfrm>
            <a:off x="374073" y="675480"/>
            <a:ext cx="5985300" cy="3377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4" name="Google Shape;854;h6a5df1e0bea5b7f6_5_173:notes"/>
          <p:cNvSpPr txBox="1"/>
          <p:nvPr>
            <p:ph idx="1" type="body"/>
          </p:nvPr>
        </p:nvSpPr>
        <p:spPr>
          <a:xfrm>
            <a:off x="673331" y="4278349"/>
            <a:ext cx="5386500" cy="40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4150" lIns="88300" spcFirstLastPara="1" rIns="88300" wrap="square" tIns="44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400"/>
          </a:p>
        </p:txBody>
      </p:sp>
      <p:sp>
        <p:nvSpPr>
          <p:cNvPr id="855" name="Google Shape;855;h6a5df1e0bea5b7f6_5_173:notes"/>
          <p:cNvSpPr txBox="1"/>
          <p:nvPr>
            <p:ph idx="12" type="sldNum"/>
          </p:nvPr>
        </p:nvSpPr>
        <p:spPr>
          <a:xfrm>
            <a:off x="3813502" y="8555158"/>
            <a:ext cx="29184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4150" lIns="88300" spcFirstLastPara="1" rIns="88300" wrap="square" tIns="441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h6a5df1e0bea5b7f6_5_179:notes"/>
          <p:cNvSpPr txBox="1"/>
          <p:nvPr>
            <p:ph idx="1" type="body"/>
          </p:nvPr>
        </p:nvSpPr>
        <p:spPr>
          <a:xfrm>
            <a:off x="685800" y="4343713"/>
            <a:ext cx="5486400" cy="4113862"/>
          </a:xfrm>
          <a:prstGeom prst="rect">
            <a:avLst/>
          </a:prstGeom>
          <a:noFill/>
          <a:ln>
            <a:noFill/>
          </a:ln>
        </p:spPr>
        <p:txBody>
          <a:bodyPr anchorCtr="0" anchor="t" bIns="44925" lIns="89850" spcFirstLastPara="1" rIns="89850" wrap="square" tIns="44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400"/>
          </a:p>
        </p:txBody>
      </p:sp>
      <p:sp>
        <p:nvSpPr>
          <p:cNvPr id="884" name="Google Shape;884;h6a5df1e0bea5b7f6_5_179:notes"/>
          <p:cNvSpPr/>
          <p:nvPr>
            <p:ph idx="2" type="sldImg"/>
          </p:nvPr>
        </p:nvSpPr>
        <p:spPr>
          <a:xfrm>
            <a:off x="390698" y="686426"/>
            <a:ext cx="6076604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h6a5df1e0bea5b7f6_5_183:notes"/>
          <p:cNvSpPr txBox="1"/>
          <p:nvPr>
            <p:ph idx="1" type="body"/>
          </p:nvPr>
        </p:nvSpPr>
        <p:spPr>
          <a:xfrm>
            <a:off x="685800" y="4343713"/>
            <a:ext cx="5486400" cy="4113862"/>
          </a:xfrm>
          <a:prstGeom prst="rect">
            <a:avLst/>
          </a:prstGeom>
          <a:noFill/>
          <a:ln>
            <a:noFill/>
          </a:ln>
        </p:spPr>
        <p:txBody>
          <a:bodyPr anchorCtr="0" anchor="t" bIns="44925" lIns="89850" spcFirstLastPara="1" rIns="89850" wrap="square" tIns="44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400"/>
          </a:p>
        </p:txBody>
      </p:sp>
      <p:sp>
        <p:nvSpPr>
          <p:cNvPr id="889" name="Google Shape;889;h6a5df1e0bea5b7f6_5_183:notes"/>
          <p:cNvSpPr/>
          <p:nvPr>
            <p:ph idx="2" type="sldImg"/>
          </p:nvPr>
        </p:nvSpPr>
        <p:spPr>
          <a:xfrm>
            <a:off x="390698" y="686426"/>
            <a:ext cx="6076604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Whitney\Documents\CHICAGO GSB\PPT-Large-Logo-with-Tag-Pos.png" id="9" name="Google Shape;9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7200" y="3174206"/>
            <a:ext cx="6172200" cy="1704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type="ctrTitle"/>
          </p:nvPr>
        </p:nvSpPr>
        <p:spPr>
          <a:xfrm>
            <a:off x="457200" y="872491"/>
            <a:ext cx="8229600" cy="834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57200" y="1804511"/>
            <a:ext cx="6400800" cy="8853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Arial"/>
              <a:buNone/>
              <a:defRPr/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  <a:defRPr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Google Shape;13;p3"/>
          <p:cNvCxnSpPr/>
          <p:nvPr/>
        </p:nvCxnSpPr>
        <p:spPr>
          <a:xfrm>
            <a:off x="0" y="4457700"/>
            <a:ext cx="9144000" cy="1191"/>
          </a:xfrm>
          <a:prstGeom prst="straightConnector1">
            <a:avLst/>
          </a:prstGeom>
          <a:noFill/>
          <a:ln cap="flat" cmpd="sng" w="9525">
            <a:solidFill>
              <a:srgbClr val="6E0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PT-Large-Logo-with-Tag-Pos.png" id="14" name="Google Shape;14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291263" y="4552950"/>
            <a:ext cx="1796653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 txBox="1"/>
          <p:nvPr>
            <p:ph type="title"/>
          </p:nvPr>
        </p:nvSpPr>
        <p:spPr>
          <a:xfrm>
            <a:off x="457200" y="198882"/>
            <a:ext cx="8229600" cy="48691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" type="body"/>
          </p:nvPr>
        </p:nvSpPr>
        <p:spPr>
          <a:xfrm>
            <a:off x="457199" y="800100"/>
            <a:ext cx="8229600" cy="3530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 sz="2600"/>
            </a:lvl1pPr>
            <a:lvl2pPr indent="-393700" lvl="1" marL="9144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2pPr>
            <a:lvl3pPr indent="-393700" lvl="2" marL="13716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3pPr>
            <a:lvl4pPr indent="-393700" lvl="3" marL="18288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4pPr>
            <a:lvl5pPr indent="-393700" lvl="4" marL="22860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5pPr>
            <a:lvl6pPr indent="-228600" lvl="5" marL="27432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/>
        </p:nvSpPr>
        <p:spPr>
          <a:xfrm>
            <a:off x="549442" y="4662101"/>
            <a:ext cx="4667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Title Slide">
  <p:cSld name="19_Title Slid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ripes-graphic_fade_thinner.png" id="19" name="Google Shape;1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6858000" cy="24812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Title Slide">
  <p:cSld name="10_Title Slid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5"/>
          <p:cNvCxnSpPr/>
          <p:nvPr/>
        </p:nvCxnSpPr>
        <p:spPr>
          <a:xfrm>
            <a:off x="0" y="4457700"/>
            <a:ext cx="9144000" cy="1191"/>
          </a:xfrm>
          <a:prstGeom prst="straightConnector1">
            <a:avLst/>
          </a:prstGeom>
          <a:noFill/>
          <a:ln cap="flat" cmpd="sng" w="9525">
            <a:solidFill>
              <a:srgbClr val="6E0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PT-Large-Logo-with-Tag-Pos.png" id="22" name="Google Shape;22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291263" y="4552950"/>
            <a:ext cx="1796653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5"/>
          <p:cNvSpPr txBox="1"/>
          <p:nvPr>
            <p:ph type="ctrTitle"/>
          </p:nvPr>
        </p:nvSpPr>
        <p:spPr>
          <a:xfrm>
            <a:off x="457200" y="751989"/>
            <a:ext cx="8229600" cy="20383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Title Slide">
  <p:cSld name="13_Title Slide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Google Shape;25;p6"/>
          <p:cNvCxnSpPr/>
          <p:nvPr/>
        </p:nvCxnSpPr>
        <p:spPr>
          <a:xfrm>
            <a:off x="0" y="4457700"/>
            <a:ext cx="9144000" cy="1191"/>
          </a:xfrm>
          <a:prstGeom prst="straightConnector1">
            <a:avLst/>
          </a:prstGeom>
          <a:noFill/>
          <a:ln cap="flat" cmpd="sng" w="9525">
            <a:solidFill>
              <a:srgbClr val="6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" name="Google Shape;26;p6"/>
          <p:cNvSpPr txBox="1"/>
          <p:nvPr>
            <p:ph type="ctrTitle"/>
          </p:nvPr>
        </p:nvSpPr>
        <p:spPr>
          <a:xfrm>
            <a:off x="457200" y="1735074"/>
            <a:ext cx="8229600" cy="8366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>
                <a:solidFill>
                  <a:srgbClr val="6E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PPT-Large-Logo-with-Tag-Pos.png" id="27" name="Google Shape;2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291263" y="4552950"/>
            <a:ext cx="1796653" cy="49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Slide" type="title">
  <p:cSld name="TITLE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Whitney\Documents\CHICAGO GSB\PPT-Large-Logo-with-Tag-Pos.png" id="33" name="Google Shape;33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7200" y="3174206"/>
            <a:ext cx="6172200" cy="1704975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9"/>
          <p:cNvSpPr txBox="1"/>
          <p:nvPr>
            <p:ph type="ctrTitle"/>
          </p:nvPr>
        </p:nvSpPr>
        <p:spPr>
          <a:xfrm>
            <a:off x="457200" y="872491"/>
            <a:ext cx="8229600" cy="8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1" type="subTitle"/>
          </p:nvPr>
        </p:nvSpPr>
        <p:spPr>
          <a:xfrm>
            <a:off x="457200" y="1804511"/>
            <a:ext cx="6400800" cy="8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Arial"/>
              <a:buNone/>
              <a:defRPr/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  <a:defRPr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type="obj">
  <p:cSld name="OBJEC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Google Shape;37;p10"/>
          <p:cNvCxnSpPr/>
          <p:nvPr/>
        </p:nvCxnSpPr>
        <p:spPr>
          <a:xfrm>
            <a:off x="0" y="4457700"/>
            <a:ext cx="9144000" cy="1200"/>
          </a:xfrm>
          <a:prstGeom prst="straightConnector1">
            <a:avLst/>
          </a:prstGeom>
          <a:noFill/>
          <a:ln cap="flat" cmpd="sng" w="9525">
            <a:solidFill>
              <a:srgbClr val="6E0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PT-Large-Logo-with-Tag-Pos.png" id="38" name="Google Shape;38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291263" y="4552950"/>
            <a:ext cx="1796653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0"/>
          <p:cNvSpPr txBox="1"/>
          <p:nvPr>
            <p:ph type="title"/>
          </p:nvPr>
        </p:nvSpPr>
        <p:spPr>
          <a:xfrm>
            <a:off x="457200" y="198882"/>
            <a:ext cx="82296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1" type="body"/>
          </p:nvPr>
        </p:nvSpPr>
        <p:spPr>
          <a:xfrm>
            <a:off x="457199" y="800100"/>
            <a:ext cx="8229600" cy="35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 sz="2600"/>
            </a:lvl1pPr>
            <a:lvl2pPr indent="-393700" lvl="1" marL="9144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2pPr>
            <a:lvl3pPr indent="-393700" lvl="2" marL="13716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3pPr>
            <a:lvl4pPr indent="-393700" lvl="3" marL="18288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4pPr>
            <a:lvl5pPr indent="-393700" lvl="4" marL="22860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5pPr>
            <a:lvl6pPr indent="-228600" lvl="5" marL="27432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0"/>
          <p:cNvSpPr txBox="1"/>
          <p:nvPr/>
        </p:nvSpPr>
        <p:spPr>
          <a:xfrm>
            <a:off x="549442" y="4662101"/>
            <a:ext cx="466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Title Slide">
  <p:cSld name="19_Title Slide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ripes-graphic_fade_thinner.png" id="43" name="Google Shape;43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6858000" cy="24812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Title Slide">
  <p:cSld name="10_Title Slide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12"/>
          <p:cNvCxnSpPr/>
          <p:nvPr/>
        </p:nvCxnSpPr>
        <p:spPr>
          <a:xfrm>
            <a:off x="0" y="4457700"/>
            <a:ext cx="9144000" cy="1200"/>
          </a:xfrm>
          <a:prstGeom prst="straightConnector1">
            <a:avLst/>
          </a:prstGeom>
          <a:noFill/>
          <a:ln cap="flat" cmpd="sng" w="9525">
            <a:solidFill>
              <a:srgbClr val="6E0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PT-Large-Logo-with-Tag-Pos.png" id="46" name="Google Shape;46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291263" y="4552950"/>
            <a:ext cx="1796653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12"/>
          <p:cNvSpPr txBox="1"/>
          <p:nvPr>
            <p:ph type="ctrTitle"/>
          </p:nvPr>
        </p:nvSpPr>
        <p:spPr>
          <a:xfrm>
            <a:off x="457200" y="751989"/>
            <a:ext cx="8229600" cy="20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Title Slide">
  <p:cSld name="13_Title Slide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Google Shape;49;p13"/>
          <p:cNvCxnSpPr/>
          <p:nvPr/>
        </p:nvCxnSpPr>
        <p:spPr>
          <a:xfrm>
            <a:off x="0" y="4457700"/>
            <a:ext cx="9144000" cy="1200"/>
          </a:xfrm>
          <a:prstGeom prst="straightConnector1">
            <a:avLst/>
          </a:prstGeom>
          <a:noFill/>
          <a:ln cap="flat" cmpd="sng" w="9525">
            <a:solidFill>
              <a:srgbClr val="6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" name="Google Shape;50;p13"/>
          <p:cNvSpPr txBox="1"/>
          <p:nvPr>
            <p:ph type="ctrTitle"/>
          </p:nvPr>
        </p:nvSpPr>
        <p:spPr>
          <a:xfrm>
            <a:off x="457200" y="1735074"/>
            <a:ext cx="8229600" cy="8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>
                <a:solidFill>
                  <a:srgbClr val="6E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PPT-Large-Logo-with-Tag-Pos.png" id="51" name="Google Shape;51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291263" y="4552950"/>
            <a:ext cx="1796653" cy="49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 (h6c84ca069371a294_121_0)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/>
          <p:cNvSpPr txBox="1"/>
          <p:nvPr>
            <p:ph type="title"/>
          </p:nvPr>
        </p:nvSpPr>
        <p:spPr>
          <a:xfrm>
            <a:off x="457200" y="198882"/>
            <a:ext cx="82296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5"/>
          <p:cNvSpPr txBox="1"/>
          <p:nvPr>
            <p:ph idx="1" type="body"/>
          </p:nvPr>
        </p:nvSpPr>
        <p:spPr>
          <a:xfrm>
            <a:off x="457199" y="800100"/>
            <a:ext cx="8229600" cy="35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 sz="2600"/>
            </a:lvl1pPr>
            <a:lvl2pPr indent="-393700" lvl="1" marL="9144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2pPr>
            <a:lvl3pPr indent="-393700" lvl="2" marL="13716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3pPr>
            <a:lvl4pPr indent="-393700" lvl="3" marL="18288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4pPr>
            <a:lvl5pPr indent="-393700" lvl="4" marL="22860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5pPr>
            <a:lvl6pPr indent="-228600" lvl="5" marL="27432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 1">
  <p:cSld name="1_Title and Content (h6c84ca069371a294_108_0)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6"/>
          <p:cNvSpPr txBox="1"/>
          <p:nvPr>
            <p:ph type="title"/>
          </p:nvPr>
        </p:nvSpPr>
        <p:spPr>
          <a:xfrm>
            <a:off x="457200" y="198882"/>
            <a:ext cx="82296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6"/>
          <p:cNvSpPr txBox="1"/>
          <p:nvPr>
            <p:ph idx="1" type="body"/>
          </p:nvPr>
        </p:nvSpPr>
        <p:spPr>
          <a:xfrm>
            <a:off x="457199" y="800100"/>
            <a:ext cx="8229600" cy="35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 sz="2600"/>
            </a:lvl1pPr>
            <a:lvl2pPr indent="-393700" lvl="1" marL="9144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2pPr>
            <a:lvl3pPr indent="-393700" lvl="2" marL="13716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3pPr>
            <a:lvl4pPr indent="-393700" lvl="3" marL="18288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4pPr>
            <a:lvl5pPr indent="-393700" lvl="4" marL="22860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5pPr>
            <a:lvl6pPr indent="-228600" lvl="5" marL="27432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 1 1">
  <p:cSld name="1_Title and Content (h6c84ca069371a294_101_0)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7"/>
          <p:cNvSpPr txBox="1"/>
          <p:nvPr>
            <p:ph type="title"/>
          </p:nvPr>
        </p:nvSpPr>
        <p:spPr>
          <a:xfrm>
            <a:off x="457200" y="198882"/>
            <a:ext cx="82296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7"/>
          <p:cNvSpPr txBox="1"/>
          <p:nvPr>
            <p:ph idx="1" type="body"/>
          </p:nvPr>
        </p:nvSpPr>
        <p:spPr>
          <a:xfrm>
            <a:off x="457199" y="800100"/>
            <a:ext cx="8229600" cy="35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 sz="2600"/>
            </a:lvl1pPr>
            <a:lvl2pPr indent="-393700" lvl="1" marL="9144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2pPr>
            <a:lvl3pPr indent="-393700" lvl="2" marL="13716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3pPr>
            <a:lvl4pPr indent="-393700" lvl="3" marL="18288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4pPr>
            <a:lvl5pPr indent="-393700" lvl="4" marL="22860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5pPr>
            <a:lvl6pPr indent="-228600" lvl="5" marL="27432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 1 1 1">
  <p:cSld name="1_Title and Content (h6c84ca069371a294_93_0)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8"/>
          <p:cNvSpPr txBox="1"/>
          <p:nvPr>
            <p:ph type="title"/>
          </p:nvPr>
        </p:nvSpPr>
        <p:spPr>
          <a:xfrm>
            <a:off x="457200" y="198882"/>
            <a:ext cx="82296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457199" y="800100"/>
            <a:ext cx="8229600" cy="35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 sz="2600"/>
            </a:lvl1pPr>
            <a:lvl2pPr indent="-393700" lvl="1" marL="9144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2pPr>
            <a:lvl3pPr indent="-393700" lvl="2" marL="13716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3pPr>
            <a:lvl4pPr indent="-393700" lvl="3" marL="18288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4pPr>
            <a:lvl5pPr indent="-393700" lvl="4" marL="22860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5pPr>
            <a:lvl6pPr indent="-228600" lvl="5" marL="27432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 1 1 1 1">
  <p:cSld name="1_Title and Content (h6c84ca069371a294_85_0)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 txBox="1"/>
          <p:nvPr>
            <p:ph type="title"/>
          </p:nvPr>
        </p:nvSpPr>
        <p:spPr>
          <a:xfrm>
            <a:off x="457200" y="198882"/>
            <a:ext cx="82296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" type="body"/>
          </p:nvPr>
        </p:nvSpPr>
        <p:spPr>
          <a:xfrm>
            <a:off x="457199" y="800100"/>
            <a:ext cx="8229600" cy="35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 sz="2600"/>
            </a:lvl1pPr>
            <a:lvl2pPr indent="-393700" lvl="1" marL="9144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2pPr>
            <a:lvl3pPr indent="-393700" lvl="2" marL="13716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3pPr>
            <a:lvl4pPr indent="-393700" lvl="3" marL="18288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4pPr>
            <a:lvl5pPr indent="-393700" lvl="4" marL="22860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5pPr>
            <a:lvl6pPr indent="-228600" lvl="5" marL="27432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 1 1 1 1 1">
  <p:cSld name="1_Title and Content (h6c84ca069371a294_78_0)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198882"/>
            <a:ext cx="82296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>
            <a:off x="457199" y="800100"/>
            <a:ext cx="8229600" cy="35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 sz="2600"/>
            </a:lvl1pPr>
            <a:lvl2pPr indent="-393700" lvl="1" marL="9144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2pPr>
            <a:lvl3pPr indent="-393700" lvl="2" marL="13716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3pPr>
            <a:lvl4pPr indent="-393700" lvl="3" marL="18288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4pPr>
            <a:lvl5pPr indent="-393700" lvl="4" marL="22860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5pPr>
            <a:lvl6pPr indent="-228600" lvl="5" marL="27432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 1 1 1 1 1 1">
  <p:cSld name="1_Title and Content (h6c84ca069371a294_70_0)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1"/>
          <p:cNvSpPr txBox="1"/>
          <p:nvPr>
            <p:ph type="title"/>
          </p:nvPr>
        </p:nvSpPr>
        <p:spPr>
          <a:xfrm>
            <a:off x="457200" y="198882"/>
            <a:ext cx="82296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" type="body"/>
          </p:nvPr>
        </p:nvSpPr>
        <p:spPr>
          <a:xfrm>
            <a:off x="457199" y="800100"/>
            <a:ext cx="8229600" cy="35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 sz="2600"/>
            </a:lvl1pPr>
            <a:lvl2pPr indent="-393700" lvl="1" marL="9144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2pPr>
            <a:lvl3pPr indent="-393700" lvl="2" marL="13716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3pPr>
            <a:lvl4pPr indent="-393700" lvl="3" marL="18288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4pPr>
            <a:lvl5pPr indent="-393700" lvl="4" marL="22860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5pPr>
            <a:lvl6pPr indent="-228600" lvl="5" marL="27432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 1 1 1 1 1 1 1">
  <p:cSld name="1_Title and Content (h6c84ca069371a294_59_0)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>
            <a:off x="457200" y="198882"/>
            <a:ext cx="82296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>
            <a:off x="457199" y="800100"/>
            <a:ext cx="8229600" cy="35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 sz="2600"/>
            </a:lvl1pPr>
            <a:lvl2pPr indent="-393700" lvl="1" marL="9144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2pPr>
            <a:lvl3pPr indent="-393700" lvl="2" marL="13716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3pPr>
            <a:lvl4pPr indent="-393700" lvl="3" marL="18288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4pPr>
            <a:lvl5pPr indent="-393700" lvl="4" marL="22860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5pPr>
            <a:lvl6pPr indent="-228600" lvl="5" marL="27432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 1 1 1 1 1 1 1 1">
  <p:cSld name="1_Title and Content (h6c84ca069371a294_52_0)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3"/>
          <p:cNvSpPr txBox="1"/>
          <p:nvPr>
            <p:ph type="title"/>
          </p:nvPr>
        </p:nvSpPr>
        <p:spPr>
          <a:xfrm>
            <a:off x="457200" y="198882"/>
            <a:ext cx="82296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" type="body"/>
          </p:nvPr>
        </p:nvSpPr>
        <p:spPr>
          <a:xfrm>
            <a:off x="457199" y="800100"/>
            <a:ext cx="8229600" cy="35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 sz="2600"/>
            </a:lvl1pPr>
            <a:lvl2pPr indent="-393700" lvl="1" marL="9144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2pPr>
            <a:lvl3pPr indent="-393700" lvl="2" marL="13716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3pPr>
            <a:lvl4pPr indent="-393700" lvl="3" marL="18288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4pPr>
            <a:lvl5pPr indent="-393700" lvl="4" marL="22860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5pPr>
            <a:lvl6pPr indent="-228600" lvl="5" marL="27432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 1 1 1 1 1 1 1 1 1">
  <p:cSld name="1_Title and Content (h6c84ca069371a294_44_0)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4"/>
          <p:cNvSpPr txBox="1"/>
          <p:nvPr>
            <p:ph type="title"/>
          </p:nvPr>
        </p:nvSpPr>
        <p:spPr>
          <a:xfrm>
            <a:off x="457200" y="198882"/>
            <a:ext cx="82296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4"/>
          <p:cNvSpPr txBox="1"/>
          <p:nvPr>
            <p:ph idx="1" type="body"/>
          </p:nvPr>
        </p:nvSpPr>
        <p:spPr>
          <a:xfrm>
            <a:off x="457199" y="800100"/>
            <a:ext cx="8229600" cy="35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 sz="2600"/>
            </a:lvl1pPr>
            <a:lvl2pPr indent="-393700" lvl="1" marL="9144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2pPr>
            <a:lvl3pPr indent="-393700" lvl="2" marL="13716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3pPr>
            <a:lvl4pPr indent="-393700" lvl="3" marL="18288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4pPr>
            <a:lvl5pPr indent="-393700" lvl="4" marL="22860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5pPr>
            <a:lvl6pPr indent="-228600" lvl="5" marL="27432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 1 1 1 1 1 1 1 1 1 1">
  <p:cSld name="1_Title and Content (h6c84ca069371a294_25_0)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5"/>
          <p:cNvSpPr txBox="1"/>
          <p:nvPr>
            <p:ph type="title"/>
          </p:nvPr>
        </p:nvSpPr>
        <p:spPr>
          <a:xfrm>
            <a:off x="457200" y="198882"/>
            <a:ext cx="82296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5"/>
          <p:cNvSpPr txBox="1"/>
          <p:nvPr>
            <p:ph idx="1" type="body"/>
          </p:nvPr>
        </p:nvSpPr>
        <p:spPr>
          <a:xfrm>
            <a:off x="457199" y="800100"/>
            <a:ext cx="8229600" cy="35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 sz="2600"/>
            </a:lvl1pPr>
            <a:lvl2pPr indent="-393700" lvl="1" marL="9144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2pPr>
            <a:lvl3pPr indent="-393700" lvl="2" marL="13716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3pPr>
            <a:lvl4pPr indent="-393700" lvl="3" marL="18288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4pPr>
            <a:lvl5pPr indent="-393700" lvl="4" marL="22860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5pPr>
            <a:lvl6pPr indent="-228600" lvl="5" marL="27432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 1 1 1 1 1 1 1 1 1 1 1">
  <p:cSld name="1_Title and Content (h6c84ca069371a294_15_0)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6"/>
          <p:cNvSpPr txBox="1"/>
          <p:nvPr>
            <p:ph type="title"/>
          </p:nvPr>
        </p:nvSpPr>
        <p:spPr>
          <a:xfrm>
            <a:off x="457200" y="198882"/>
            <a:ext cx="82296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6"/>
          <p:cNvSpPr txBox="1"/>
          <p:nvPr>
            <p:ph idx="1" type="body"/>
          </p:nvPr>
        </p:nvSpPr>
        <p:spPr>
          <a:xfrm>
            <a:off x="457199" y="800100"/>
            <a:ext cx="8229600" cy="35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 sz="2600"/>
            </a:lvl1pPr>
            <a:lvl2pPr indent="-393700" lvl="1" marL="9144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2pPr>
            <a:lvl3pPr indent="-393700" lvl="2" marL="13716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3pPr>
            <a:lvl4pPr indent="-393700" lvl="3" marL="18288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4pPr>
            <a:lvl5pPr indent="-393700" lvl="4" marL="22860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5pPr>
            <a:lvl6pPr indent="-228600" lvl="5" marL="27432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 1 1 1 1 1 1 1 1 1 1 1 1">
  <p:cSld name="1_Title and Content (h6c84ca069371a294_7_0)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7"/>
          <p:cNvSpPr txBox="1"/>
          <p:nvPr>
            <p:ph type="title"/>
          </p:nvPr>
        </p:nvSpPr>
        <p:spPr>
          <a:xfrm>
            <a:off x="457200" y="198882"/>
            <a:ext cx="82296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7"/>
          <p:cNvSpPr txBox="1"/>
          <p:nvPr>
            <p:ph idx="1" type="body"/>
          </p:nvPr>
        </p:nvSpPr>
        <p:spPr>
          <a:xfrm>
            <a:off x="457199" y="800100"/>
            <a:ext cx="8229600" cy="35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 sz="2600"/>
            </a:lvl1pPr>
            <a:lvl2pPr indent="-393700" lvl="1" marL="9144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2pPr>
            <a:lvl3pPr indent="-393700" lvl="2" marL="13716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3pPr>
            <a:lvl4pPr indent="-393700" lvl="3" marL="18288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4pPr>
            <a:lvl5pPr indent="-393700" lvl="4" marL="22860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5pPr>
            <a:lvl6pPr indent="-228600" lvl="5" marL="27432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 1 1 1 1 1 1 1 1 1 1 1 1 1">
  <p:cSld name="1_Title and Content (h6a5df1e0bea5b7f6_129_0)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8"/>
          <p:cNvSpPr txBox="1"/>
          <p:nvPr>
            <p:ph type="title"/>
          </p:nvPr>
        </p:nvSpPr>
        <p:spPr>
          <a:xfrm>
            <a:off x="457200" y="198882"/>
            <a:ext cx="82296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8"/>
          <p:cNvSpPr txBox="1"/>
          <p:nvPr>
            <p:ph idx="1" type="body"/>
          </p:nvPr>
        </p:nvSpPr>
        <p:spPr>
          <a:xfrm>
            <a:off x="457199" y="800100"/>
            <a:ext cx="8229600" cy="35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 sz="2600"/>
            </a:lvl1pPr>
            <a:lvl2pPr indent="-393700" lvl="1" marL="9144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2pPr>
            <a:lvl3pPr indent="-393700" lvl="2" marL="13716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3pPr>
            <a:lvl4pPr indent="-393700" lvl="3" marL="18288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4pPr>
            <a:lvl5pPr indent="-393700" lvl="4" marL="22860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5pPr>
            <a:lvl6pPr indent="-228600" lvl="5" marL="27432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 1 1 1 1 1 1 1 1 1 1 1 1 1 1">
  <p:cSld name="1_Title and Content (h6a5df1e0bea5b7f6_116_0)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9"/>
          <p:cNvSpPr txBox="1"/>
          <p:nvPr>
            <p:ph type="title"/>
          </p:nvPr>
        </p:nvSpPr>
        <p:spPr>
          <a:xfrm>
            <a:off x="457200" y="198882"/>
            <a:ext cx="82296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9"/>
          <p:cNvSpPr txBox="1"/>
          <p:nvPr>
            <p:ph idx="1" type="body"/>
          </p:nvPr>
        </p:nvSpPr>
        <p:spPr>
          <a:xfrm>
            <a:off x="457199" y="800100"/>
            <a:ext cx="8229600" cy="35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 sz="2600"/>
            </a:lvl1pPr>
            <a:lvl2pPr indent="-393700" lvl="1" marL="9144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2pPr>
            <a:lvl3pPr indent="-393700" lvl="2" marL="13716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3pPr>
            <a:lvl4pPr indent="-393700" lvl="3" marL="18288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4pPr>
            <a:lvl5pPr indent="-393700" lvl="4" marL="22860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5pPr>
            <a:lvl6pPr indent="-228600" lvl="5" marL="27432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 1 1 1 1 1 1 1 1 1 1 1 1 1 1 1">
  <p:cSld name="1_Title and Content (h6a5df1e0bea5b7f6_92_0)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0"/>
          <p:cNvSpPr txBox="1"/>
          <p:nvPr>
            <p:ph type="title"/>
          </p:nvPr>
        </p:nvSpPr>
        <p:spPr>
          <a:xfrm>
            <a:off x="457200" y="198882"/>
            <a:ext cx="82296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30"/>
          <p:cNvSpPr txBox="1"/>
          <p:nvPr>
            <p:ph idx="1" type="body"/>
          </p:nvPr>
        </p:nvSpPr>
        <p:spPr>
          <a:xfrm>
            <a:off x="457199" y="800100"/>
            <a:ext cx="8229600" cy="35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 sz="2600"/>
            </a:lvl1pPr>
            <a:lvl2pPr indent="-393700" lvl="1" marL="9144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2pPr>
            <a:lvl3pPr indent="-393700" lvl="2" marL="13716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3pPr>
            <a:lvl4pPr indent="-393700" lvl="3" marL="18288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4pPr>
            <a:lvl5pPr indent="-393700" lvl="4" marL="22860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5pPr>
            <a:lvl6pPr indent="-228600" lvl="5" marL="27432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 1 1 1 1 1 1 1 1 1 1 1 1 1 1 1 1">
  <p:cSld name="1_Title and Content (h6a5df1e0bea5b7f6_85_0)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1"/>
          <p:cNvSpPr txBox="1"/>
          <p:nvPr>
            <p:ph type="title"/>
          </p:nvPr>
        </p:nvSpPr>
        <p:spPr>
          <a:xfrm>
            <a:off x="457200" y="198882"/>
            <a:ext cx="82296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31"/>
          <p:cNvSpPr txBox="1"/>
          <p:nvPr>
            <p:ph idx="1" type="body"/>
          </p:nvPr>
        </p:nvSpPr>
        <p:spPr>
          <a:xfrm>
            <a:off x="457199" y="800100"/>
            <a:ext cx="8229600" cy="35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 sz="2600"/>
            </a:lvl1pPr>
            <a:lvl2pPr indent="-393700" lvl="1" marL="9144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2pPr>
            <a:lvl3pPr indent="-393700" lvl="2" marL="13716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3pPr>
            <a:lvl4pPr indent="-393700" lvl="3" marL="18288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4pPr>
            <a:lvl5pPr indent="-393700" lvl="4" marL="22860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5pPr>
            <a:lvl6pPr indent="-228600" lvl="5" marL="27432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 1 1 1 1 1 1 1 1 1 1 1 1 1 1 1 1 1">
  <p:cSld name="1_Title and Content (h6a5df1e0bea5b7f6_77_0)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2"/>
          <p:cNvSpPr txBox="1"/>
          <p:nvPr>
            <p:ph type="title"/>
          </p:nvPr>
        </p:nvSpPr>
        <p:spPr>
          <a:xfrm>
            <a:off x="457200" y="198882"/>
            <a:ext cx="82296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32"/>
          <p:cNvSpPr txBox="1"/>
          <p:nvPr>
            <p:ph idx="1" type="body"/>
          </p:nvPr>
        </p:nvSpPr>
        <p:spPr>
          <a:xfrm>
            <a:off x="457199" y="800100"/>
            <a:ext cx="8229600" cy="35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 sz="2600"/>
            </a:lvl1pPr>
            <a:lvl2pPr indent="-393700" lvl="1" marL="9144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2pPr>
            <a:lvl3pPr indent="-393700" lvl="2" marL="13716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3pPr>
            <a:lvl4pPr indent="-393700" lvl="3" marL="18288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4pPr>
            <a:lvl5pPr indent="-393700" lvl="4" marL="22860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5pPr>
            <a:lvl6pPr indent="-228600" lvl="5" marL="27432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 1 1 1 1 1 1 1 1 1 1 1 1 1 1 1 1 1 1">
  <p:cSld name="1_Title and Content (h6a5df1e0bea5b7f6_68_0)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3"/>
          <p:cNvSpPr txBox="1"/>
          <p:nvPr>
            <p:ph type="title"/>
          </p:nvPr>
        </p:nvSpPr>
        <p:spPr>
          <a:xfrm>
            <a:off x="457200" y="198882"/>
            <a:ext cx="82296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33"/>
          <p:cNvSpPr txBox="1"/>
          <p:nvPr>
            <p:ph idx="1" type="body"/>
          </p:nvPr>
        </p:nvSpPr>
        <p:spPr>
          <a:xfrm>
            <a:off x="457199" y="800100"/>
            <a:ext cx="8229600" cy="35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 sz="2600"/>
            </a:lvl1pPr>
            <a:lvl2pPr indent="-393700" lvl="1" marL="9144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2pPr>
            <a:lvl3pPr indent="-393700" lvl="2" marL="13716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3pPr>
            <a:lvl4pPr indent="-393700" lvl="3" marL="18288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4pPr>
            <a:lvl5pPr indent="-393700" lvl="4" marL="22860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5pPr>
            <a:lvl6pPr indent="-228600" lvl="5" marL="27432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 1 1 1 1 1 1 1 1 1 1 1 1 1 1 1 1 1 1 1">
  <p:cSld name="1_Title and Content (h6a5df1e0bea5b7f6_61_0)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4"/>
          <p:cNvSpPr txBox="1"/>
          <p:nvPr>
            <p:ph type="title"/>
          </p:nvPr>
        </p:nvSpPr>
        <p:spPr>
          <a:xfrm>
            <a:off x="457200" y="198882"/>
            <a:ext cx="82296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34"/>
          <p:cNvSpPr txBox="1"/>
          <p:nvPr>
            <p:ph idx="1" type="body"/>
          </p:nvPr>
        </p:nvSpPr>
        <p:spPr>
          <a:xfrm>
            <a:off x="457199" y="800100"/>
            <a:ext cx="8229600" cy="35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 sz="2600"/>
            </a:lvl1pPr>
            <a:lvl2pPr indent="-393700" lvl="1" marL="9144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2pPr>
            <a:lvl3pPr indent="-393700" lvl="2" marL="13716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3pPr>
            <a:lvl4pPr indent="-393700" lvl="3" marL="18288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4pPr>
            <a:lvl5pPr indent="-393700" lvl="4" marL="22860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5pPr>
            <a:lvl6pPr indent="-228600" lvl="5" marL="27432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 1 1 1 1 1 1 1 1 1 1 1 1 1 1 1 1 1 1 1 1">
  <p:cSld name="1_Title and Content (h6a5df1e0bea5b7f6_53_0)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5"/>
          <p:cNvSpPr txBox="1"/>
          <p:nvPr>
            <p:ph type="title"/>
          </p:nvPr>
        </p:nvSpPr>
        <p:spPr>
          <a:xfrm>
            <a:off x="457200" y="198882"/>
            <a:ext cx="82296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35"/>
          <p:cNvSpPr txBox="1"/>
          <p:nvPr>
            <p:ph idx="1" type="body"/>
          </p:nvPr>
        </p:nvSpPr>
        <p:spPr>
          <a:xfrm>
            <a:off x="457199" y="800100"/>
            <a:ext cx="8229600" cy="35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 sz="2600"/>
            </a:lvl1pPr>
            <a:lvl2pPr indent="-393700" lvl="1" marL="9144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2pPr>
            <a:lvl3pPr indent="-393700" lvl="2" marL="13716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3pPr>
            <a:lvl4pPr indent="-393700" lvl="3" marL="18288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4pPr>
            <a:lvl5pPr indent="-393700" lvl="4" marL="22860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5pPr>
            <a:lvl6pPr indent="-228600" lvl="5" marL="27432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 1 1 1 1 1 1 1 1 1 1 1 1 1 1 1 1 1 1 1 1 1">
  <p:cSld name="1_Title and Content (h6a5df1e0bea5b7f6_46_0)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6"/>
          <p:cNvSpPr txBox="1"/>
          <p:nvPr>
            <p:ph type="title"/>
          </p:nvPr>
        </p:nvSpPr>
        <p:spPr>
          <a:xfrm>
            <a:off x="457200" y="198882"/>
            <a:ext cx="82296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36"/>
          <p:cNvSpPr txBox="1"/>
          <p:nvPr>
            <p:ph idx="1" type="body"/>
          </p:nvPr>
        </p:nvSpPr>
        <p:spPr>
          <a:xfrm>
            <a:off x="457199" y="800100"/>
            <a:ext cx="8229600" cy="35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 sz="2600"/>
            </a:lvl1pPr>
            <a:lvl2pPr indent="-393700" lvl="1" marL="9144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2pPr>
            <a:lvl3pPr indent="-393700" lvl="2" marL="13716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3pPr>
            <a:lvl4pPr indent="-393700" lvl="3" marL="18288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4pPr>
            <a:lvl5pPr indent="-393700" lvl="4" marL="22860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5pPr>
            <a:lvl6pPr indent="-228600" lvl="5" marL="27432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 1 1 1 1 1 1 1 1 1 1 1 1 1 1 1 1 1 1 1 1 1 1">
  <p:cSld name="1_Title and Content (h6a5df1e0bea5b7f6_31_0)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7"/>
          <p:cNvSpPr txBox="1"/>
          <p:nvPr>
            <p:ph type="title"/>
          </p:nvPr>
        </p:nvSpPr>
        <p:spPr>
          <a:xfrm>
            <a:off x="457200" y="198882"/>
            <a:ext cx="82296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37"/>
          <p:cNvSpPr txBox="1"/>
          <p:nvPr>
            <p:ph idx="1" type="body"/>
          </p:nvPr>
        </p:nvSpPr>
        <p:spPr>
          <a:xfrm>
            <a:off x="457199" y="800100"/>
            <a:ext cx="8229600" cy="35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 sz="2600"/>
            </a:lvl1pPr>
            <a:lvl2pPr indent="-393700" lvl="1" marL="9144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2pPr>
            <a:lvl3pPr indent="-393700" lvl="2" marL="13716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3pPr>
            <a:lvl4pPr indent="-393700" lvl="3" marL="18288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4pPr>
            <a:lvl5pPr indent="-393700" lvl="4" marL="22860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5pPr>
            <a:lvl6pPr indent="-228600" lvl="5" marL="27432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 1 1 1 1 1 1 1 1 1 1 1 1 1 1 1 1 1 1 1 1 1 1 1">
  <p:cSld name="1_Title and Content (h6a5df1e0bea5b7f6_24_0)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8"/>
          <p:cNvSpPr txBox="1"/>
          <p:nvPr>
            <p:ph type="title"/>
          </p:nvPr>
        </p:nvSpPr>
        <p:spPr>
          <a:xfrm>
            <a:off x="457200" y="198882"/>
            <a:ext cx="82296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38"/>
          <p:cNvSpPr txBox="1"/>
          <p:nvPr>
            <p:ph idx="1" type="body"/>
          </p:nvPr>
        </p:nvSpPr>
        <p:spPr>
          <a:xfrm>
            <a:off x="457199" y="800100"/>
            <a:ext cx="8229600" cy="35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 sz="2600"/>
            </a:lvl1pPr>
            <a:lvl2pPr indent="-393700" lvl="1" marL="9144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2pPr>
            <a:lvl3pPr indent="-393700" lvl="2" marL="13716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3pPr>
            <a:lvl4pPr indent="-393700" lvl="3" marL="18288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4pPr>
            <a:lvl5pPr indent="-393700" lvl="4" marL="2286000" algn="just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/>
            </a:lvl5pPr>
            <a:lvl6pPr indent="-228600" lvl="5" marL="27432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Slide 1">
  <p:cSld name="3_Title Slide (h6a5df1e0bea5b7f6_12_0)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9"/>
          <p:cNvSpPr txBox="1"/>
          <p:nvPr>
            <p:ph type="ctrTitle"/>
          </p:nvPr>
        </p:nvSpPr>
        <p:spPr>
          <a:xfrm>
            <a:off x="457200" y="872491"/>
            <a:ext cx="8229600" cy="8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39"/>
          <p:cNvSpPr txBox="1"/>
          <p:nvPr>
            <p:ph idx="1" type="subTitle"/>
          </p:nvPr>
        </p:nvSpPr>
        <p:spPr>
          <a:xfrm>
            <a:off x="457200" y="1804511"/>
            <a:ext cx="6400800" cy="8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Arial"/>
              <a:buNone/>
              <a:defRPr/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None/>
              <a:defRPr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28.xml"/><Relationship Id="rId21" Type="http://schemas.openxmlformats.org/officeDocument/2006/relationships/slideLayout" Target="../slideLayouts/slideLayout27.xml"/><Relationship Id="rId24" Type="http://schemas.openxmlformats.org/officeDocument/2006/relationships/slideLayout" Target="../slideLayouts/slideLayout30.xml"/><Relationship Id="rId23" Type="http://schemas.openxmlformats.org/officeDocument/2006/relationships/slideLayout" Target="../slideLayouts/slideLayout29.xml"/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26" Type="http://schemas.openxmlformats.org/officeDocument/2006/relationships/slideLayout" Target="../slideLayouts/slideLayout32.xml"/><Relationship Id="rId25" Type="http://schemas.openxmlformats.org/officeDocument/2006/relationships/slideLayout" Target="../slideLayouts/slideLayout31.xml"/><Relationship Id="rId28" Type="http://schemas.openxmlformats.org/officeDocument/2006/relationships/slideLayout" Target="../slideLayouts/slideLayout34.xml"/><Relationship Id="rId27" Type="http://schemas.openxmlformats.org/officeDocument/2006/relationships/slideLayout" Target="../slideLayouts/slideLayout33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29" Type="http://schemas.openxmlformats.org/officeDocument/2006/relationships/slideLayout" Target="../slideLayouts/slideLayout35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Relationship Id="rId31" Type="http://schemas.openxmlformats.org/officeDocument/2006/relationships/slideLayout" Target="../slideLayouts/slideLayout37.xml"/><Relationship Id="rId30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6.xml"/><Relationship Id="rId32" Type="http://schemas.openxmlformats.org/officeDocument/2006/relationships/theme" Target="../theme/theme3.xml"/><Relationship Id="rId13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914400" y="14287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381000" y="685800"/>
            <a:ext cx="8305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idx="1" type="body"/>
          </p:nvPr>
        </p:nvSpPr>
        <p:spPr>
          <a:xfrm>
            <a:off x="914400" y="14287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8"/>
          <p:cNvSpPr txBox="1"/>
          <p:nvPr>
            <p:ph type="title"/>
          </p:nvPr>
        </p:nvSpPr>
        <p:spPr>
          <a:xfrm>
            <a:off x="381000" y="685800"/>
            <a:ext cx="8305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7" r:id="rId14"/>
    <p:sldLayoutId id="2147483668" r:id="rId15"/>
    <p:sldLayoutId id="2147483669" r:id="rId16"/>
    <p:sldLayoutId id="2147483670" r:id="rId17"/>
    <p:sldLayoutId id="2147483671" r:id="rId18"/>
    <p:sldLayoutId id="2147483672" r:id="rId19"/>
    <p:sldLayoutId id="2147483673" r:id="rId20"/>
    <p:sldLayoutId id="2147483674" r:id="rId21"/>
    <p:sldLayoutId id="2147483675" r:id="rId22"/>
    <p:sldLayoutId id="2147483676" r:id="rId23"/>
    <p:sldLayoutId id="2147483677" r:id="rId24"/>
    <p:sldLayoutId id="2147483678" r:id="rId25"/>
    <p:sldLayoutId id="2147483679" r:id="rId26"/>
    <p:sldLayoutId id="2147483680" r:id="rId27"/>
    <p:sldLayoutId id="2147483681" r:id="rId28"/>
    <p:sldLayoutId id="2147483682" r:id="rId29"/>
    <p:sldLayoutId id="2147483683" r:id="rId30"/>
    <p:sldLayoutId id="2147483684" r:id="rId3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hyperlink" Target="https://hpc-docs.chicagobooth.edu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hyperlink" Target="https://hpc-docs.chicagobooth.edu/vulcan/index.html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hyperlink" Target="http://jupyter.chicagobooth.edu" TargetMode="External"/><Relationship Id="rId5" Type="http://schemas.openxmlformats.org/officeDocument/2006/relationships/hyperlink" Target="http://rstudio-research.chicagobooth.edu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hyperlink" Target="https://it.chicagobooth.edu/TDClient/30/Portal/Requests/Service/3835/Shared-Folder-Additional-Storage-Permission-Request" TargetMode="External"/><Relationship Id="rId5" Type="http://schemas.openxmlformats.org/officeDocument/2006/relationships/hyperlink" Target="http://git.chicagobooth.edu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hyperlink" Target="mailto:rsupport@chicagobooth.edu" TargetMode="External"/><Relationship Id="rId5" Type="http://schemas.openxmlformats.org/officeDocument/2006/relationships/image" Target="../media/image13.png"/><Relationship Id="rId6" Type="http://schemas.openxmlformats.org/officeDocument/2006/relationships/image" Target="../media/image16.png"/><Relationship Id="rId7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hyperlink" Target="http://mercury-ondemand.chicagobooth.edu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Relationship Id="rId4" Type="http://schemas.openxmlformats.org/officeDocument/2006/relationships/hyperlink" Target="about:blank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Relationship Id="rId4" Type="http://schemas.openxmlformats.org/officeDocument/2006/relationships/hyperlink" Target="about:blank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Relationship Id="rId4" Type="http://schemas.openxmlformats.org/officeDocument/2006/relationships/hyperlink" Target="https://slurm.schedmd.com/" TargetMode="External"/><Relationship Id="rId5" Type="http://schemas.openxmlformats.org/officeDocument/2006/relationships/hyperlink" Target="https://intranet.chicagobooth.edu/secure/staff/booth-it/research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oogle Shape;132;p40"/>
          <p:cNvGrpSpPr/>
          <p:nvPr/>
        </p:nvGrpSpPr>
        <p:grpSpPr>
          <a:xfrm>
            <a:off x="476250" y="381000"/>
            <a:ext cx="8191500" cy="1133625"/>
            <a:chOff x="0" y="0"/>
            <a:chExt cx="8191500" cy="1133625"/>
          </a:xfrm>
        </p:grpSpPr>
        <p:sp>
          <p:nvSpPr>
            <p:cNvPr id="133" name="Google Shape;133;p40"/>
            <p:cNvSpPr/>
            <p:nvPr/>
          </p:nvSpPr>
          <p:spPr>
            <a:xfrm>
              <a:off x="0" y="0"/>
              <a:ext cx="8191500" cy="38100"/>
            </a:xfrm>
            <a:prstGeom prst="roundRect">
              <a:avLst>
                <a:gd fmla="val 50000" name="adj"/>
              </a:avLst>
            </a:prstGeom>
            <a:solidFill>
              <a:srgbClr val="82000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40"/>
            <p:cNvSpPr txBox="1"/>
            <p:nvPr/>
          </p:nvSpPr>
          <p:spPr>
            <a:xfrm>
              <a:off x="0" y="190500"/>
              <a:ext cx="819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200">
                  <a:solidFill>
                    <a:srgbClr val="820009"/>
                  </a:solidFill>
                  <a:latin typeface="Arial"/>
                  <a:ea typeface="Arial"/>
                  <a:cs typeface="Arial"/>
                  <a:sym typeface="Arial"/>
                </a:rPr>
                <a:t>INTRO to Mercury HTC Computing</a:t>
              </a:r>
              <a:endParaRPr b="1" sz="3200">
                <a:solidFill>
                  <a:srgbClr val="82000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40"/>
            <p:cNvSpPr/>
            <p:nvPr/>
          </p:nvSpPr>
          <p:spPr>
            <a:xfrm>
              <a:off x="0" y="809625"/>
              <a:ext cx="4381500" cy="324000"/>
            </a:xfrm>
            <a:prstGeom prst="roundRect">
              <a:avLst>
                <a:gd fmla="val 50000" name="adj"/>
              </a:avLst>
            </a:prstGeom>
            <a:solidFill>
              <a:srgbClr val="820009">
                <a:alpha val="8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40"/>
            <p:cNvSpPr txBox="1"/>
            <p:nvPr/>
          </p:nvSpPr>
          <p:spPr>
            <a:xfrm>
              <a:off x="142875" y="809625"/>
              <a:ext cx="40959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820009"/>
                  </a:solidFill>
                  <a:latin typeface="Arial"/>
                  <a:ea typeface="Arial"/>
                  <a:cs typeface="Arial"/>
                  <a:sym typeface="Arial"/>
                </a:rPr>
                <a:t>Audience: PhDs, Research Professionals, Booth Staff</a:t>
              </a:r>
              <a:endParaRPr b="1" sz="1200">
                <a:solidFill>
                  <a:srgbClr val="82000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7" name="Google Shape;137;p40"/>
          <p:cNvGrpSpPr/>
          <p:nvPr/>
        </p:nvGrpSpPr>
        <p:grpSpPr>
          <a:xfrm>
            <a:off x="476250" y="1666875"/>
            <a:ext cx="3619500" cy="1905000"/>
            <a:chOff x="0" y="0"/>
            <a:chExt cx="3619500" cy="1905000"/>
          </a:xfrm>
        </p:grpSpPr>
        <p:sp>
          <p:nvSpPr>
            <p:cNvPr id="138" name="Google Shape;138;p40"/>
            <p:cNvSpPr/>
            <p:nvPr/>
          </p:nvSpPr>
          <p:spPr>
            <a:xfrm>
              <a:off x="0" y="0"/>
              <a:ext cx="3619500" cy="19050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40"/>
            <p:cNvSpPr/>
            <p:nvPr/>
          </p:nvSpPr>
          <p:spPr>
            <a:xfrm>
              <a:off x="0" y="0"/>
              <a:ext cx="3619500" cy="76200"/>
            </a:xfrm>
            <a:prstGeom prst="roundRect">
              <a:avLst>
                <a:gd fmla="val 50000" name="adj"/>
              </a:avLst>
            </a:prstGeom>
            <a:solidFill>
              <a:srgbClr val="82000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40"/>
            <p:cNvSpPr txBox="1"/>
            <p:nvPr/>
          </p:nvSpPr>
          <p:spPr>
            <a:xfrm>
              <a:off x="228600" y="228600"/>
              <a:ext cx="3162300" cy="14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820009"/>
                  </a:solidFill>
                  <a:latin typeface="Arial"/>
                  <a:ea typeface="Arial"/>
                  <a:cs typeface="Arial"/>
                  <a:sym typeface="Arial"/>
                </a:rPr>
                <a:t>Session Schedule</a:t>
              </a:r>
              <a:endParaRPr b="1" sz="1300">
                <a:solidFill>
                  <a:srgbClr val="82000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DATE</a:t>
              </a:r>
              <a:endParaRPr b="1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October 12th, 2026</a:t>
              </a:r>
              <a:endParaRPr b="1" sz="16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TIME</a:t>
              </a:r>
              <a:endParaRPr b="1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11:00 AM – 12:00 PM</a:t>
              </a:r>
              <a:endParaRPr b="1" sz="16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1" name="Google Shape;141;p40"/>
          <p:cNvGrpSpPr/>
          <p:nvPr/>
        </p:nvGrpSpPr>
        <p:grpSpPr>
          <a:xfrm>
            <a:off x="4286250" y="1666875"/>
            <a:ext cx="4381500" cy="1905000"/>
            <a:chOff x="0" y="0"/>
            <a:chExt cx="4381500" cy="1905000"/>
          </a:xfrm>
        </p:grpSpPr>
        <p:sp>
          <p:nvSpPr>
            <p:cNvPr id="142" name="Google Shape;142;p40"/>
            <p:cNvSpPr/>
            <p:nvPr/>
          </p:nvSpPr>
          <p:spPr>
            <a:xfrm>
              <a:off x="0" y="0"/>
              <a:ext cx="4381500" cy="19050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40"/>
            <p:cNvSpPr/>
            <p:nvPr/>
          </p:nvSpPr>
          <p:spPr>
            <a:xfrm>
              <a:off x="0" y="0"/>
              <a:ext cx="4381500" cy="76200"/>
            </a:xfrm>
            <a:prstGeom prst="roundRect">
              <a:avLst>
                <a:gd fmla="val 50000" name="adj"/>
              </a:avLst>
            </a:prstGeom>
            <a:solidFill>
              <a:srgbClr val="82000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40"/>
            <p:cNvSpPr txBox="1"/>
            <p:nvPr/>
          </p:nvSpPr>
          <p:spPr>
            <a:xfrm>
              <a:off x="228600" y="228600"/>
              <a:ext cx="3924300" cy="14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820009"/>
                  </a:solidFill>
                  <a:latin typeface="Arial"/>
                  <a:ea typeface="Arial"/>
                  <a:cs typeface="Arial"/>
                  <a:sym typeface="Arial"/>
                </a:rPr>
                <a:t>Access Information</a:t>
              </a:r>
              <a:endParaRPr b="1" sz="1300">
                <a:solidFill>
                  <a:srgbClr val="82000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Zoom Meeting Link</a:t>
              </a:r>
              <a:endParaRPr b="1" sz="12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820009"/>
                  </a:solidFill>
                </a:rPr>
                <a:t>https://uchicago.zoom.us/j/95877502731?pwd=GnnTtdlZTfacLRJcXBLPbY2Y2bmP2H.1</a:t>
              </a:r>
              <a:endParaRPr sz="1000">
                <a:solidFill>
                  <a:srgbClr val="820009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820009"/>
                  </a:solidFill>
                </a:rPr>
                <a:t> </a:t>
              </a:r>
              <a:endParaRPr sz="1000">
                <a:solidFill>
                  <a:srgbClr val="820009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820009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000">
                  <a:solidFill>
                    <a:srgbClr val="475569"/>
                  </a:solidFill>
                  <a:highlight>
                    <a:srgbClr val="F1F5F9"/>
                  </a:highlight>
                  <a:latin typeface="Arial"/>
                  <a:ea typeface="Arial"/>
                  <a:cs typeface="Arial"/>
                  <a:sym typeface="Arial"/>
                </a:rPr>
                <a:t>Note: This session is being recorded and will be shared later.</a:t>
              </a:r>
              <a:endParaRPr i="1" sz="1000">
                <a:solidFill>
                  <a:srgbClr val="475569"/>
                </a:solidFill>
                <a:highlight>
                  <a:srgbClr val="F1F5F9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45" name="Google Shape;145;p40"/>
          <p:cNvCxnSpPr/>
          <p:nvPr/>
        </p:nvCxnSpPr>
        <p:spPr>
          <a:xfrm>
            <a:off x="476250" y="4286250"/>
            <a:ext cx="81915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46" name="Google Shape;146;p40"/>
          <p:cNvPicPr preferRelativeResize="0"/>
          <p:nvPr/>
        </p:nvPicPr>
        <p:blipFill rotWithShape="1">
          <a:blip r:embed="rId4">
            <a:alphaModFix/>
          </a:blip>
          <a:srcRect b="446" l="0" r="0" t="456"/>
          <a:stretch/>
        </p:blipFill>
        <p:spPr>
          <a:xfrm>
            <a:off x="6477000" y="4400550"/>
            <a:ext cx="2190900" cy="6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2" name="Google Shape;152;p41"/>
          <p:cNvCxnSpPr/>
          <p:nvPr/>
        </p:nvCxnSpPr>
        <p:spPr>
          <a:xfrm>
            <a:off x="0" y="4457700"/>
            <a:ext cx="9144000" cy="1200"/>
          </a:xfrm>
          <a:prstGeom prst="straightConnector1">
            <a:avLst/>
          </a:prstGeom>
          <a:noFill/>
          <a:ln cap="flat" cmpd="sng" w="9525">
            <a:solidFill>
              <a:srgbClr val="6E0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PT-Large-Logo-with-Tag-Pos.png" id="153" name="Google Shape;153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91263" y="4552950"/>
            <a:ext cx="1796653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41"/>
          <p:cNvSpPr txBox="1"/>
          <p:nvPr/>
        </p:nvSpPr>
        <p:spPr>
          <a:xfrm>
            <a:off x="549442" y="4662101"/>
            <a:ext cx="466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41"/>
          <p:cNvSpPr txBox="1"/>
          <p:nvPr>
            <p:ph type="title"/>
          </p:nvPr>
        </p:nvSpPr>
        <p:spPr>
          <a:xfrm>
            <a:off x="476250" y="190500"/>
            <a:ext cx="81915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200">
                <a:solidFill>
                  <a:srgbClr val="820009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 b="1" i="0" sz="3200">
              <a:solidFill>
                <a:srgbClr val="82000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41"/>
          <p:cNvSpPr txBox="1"/>
          <p:nvPr>
            <p:ph idx="1" type="body"/>
          </p:nvPr>
        </p:nvSpPr>
        <p:spPr>
          <a:xfrm>
            <a:off x="476250" y="809625"/>
            <a:ext cx="3905400" cy="3429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" sz="1500">
                <a:solidFill>
                  <a:srgbClr val="820009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b="1" i="0" sz="1500">
              <a:solidFill>
                <a:srgbClr val="82000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rtl="0" algn="l"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Support Team</a:t>
            </a:r>
            <a:endParaRPr b="0" i="0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i="0" lang="en" sz="1500">
                <a:solidFill>
                  <a:srgbClr val="820009"/>
                </a:solidFill>
                <a:latin typeface="Arial"/>
                <a:ea typeface="Arial"/>
                <a:cs typeface="Arial"/>
                <a:sym typeface="Arial"/>
              </a:rPr>
              <a:t>Overview of Research Computing Resources</a:t>
            </a:r>
            <a:endParaRPr b="1" i="0" sz="1500">
              <a:solidFill>
                <a:srgbClr val="82000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rtl="0" algn="l"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Clusters</a:t>
            </a:r>
            <a:endParaRPr b="0" i="0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b="0" i="0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Mercury</a:t>
            </a:r>
            <a:endParaRPr b="0" i="0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b="0" i="0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Vulcan for Spark applications</a:t>
            </a:r>
            <a:endParaRPr b="0" i="0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b="0" i="0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Small servers for prototyping</a:t>
            </a:r>
            <a:endParaRPr b="0" i="0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rtl="0" algn="l"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Storage</a:t>
            </a:r>
            <a:endParaRPr b="0" i="0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41"/>
          <p:cNvSpPr txBox="1"/>
          <p:nvPr/>
        </p:nvSpPr>
        <p:spPr>
          <a:xfrm>
            <a:off x="4667250" y="809625"/>
            <a:ext cx="4000500" cy="3429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>
                <a:solidFill>
                  <a:srgbClr val="820009"/>
                </a:solidFill>
                <a:latin typeface="Arial"/>
                <a:ea typeface="Arial"/>
                <a:cs typeface="Arial"/>
                <a:sym typeface="Arial"/>
              </a:rPr>
              <a:t>Using Mercury</a:t>
            </a:r>
            <a:endParaRPr b="1" i="0" sz="1500">
              <a:solidFill>
                <a:srgbClr val="82000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0" i="0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Getting access</a:t>
            </a:r>
            <a:endParaRPr b="0" i="0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0" i="0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 On Demand for Mercury</a:t>
            </a:r>
            <a:endParaRPr b="0" i="0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0" i="0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Submitting jobs</a:t>
            </a:r>
            <a:endParaRPr b="0" i="0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0" i="0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Managing files and storage</a:t>
            </a:r>
            <a:endParaRPr b="0" i="0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0" i="0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Environment modules</a:t>
            </a:r>
            <a:endParaRPr b="0" i="0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i="0" lang="en" sz="1500">
                <a:solidFill>
                  <a:srgbClr val="820009"/>
                </a:solidFill>
                <a:latin typeface="Arial"/>
                <a:ea typeface="Arial"/>
                <a:cs typeface="Arial"/>
                <a:sym typeface="Arial"/>
              </a:rPr>
              <a:t>Getting help and documentation</a:t>
            </a:r>
            <a:endParaRPr b="1" i="0" sz="1500">
              <a:solidFill>
                <a:srgbClr val="82000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" sz="1500">
                <a:solidFill>
                  <a:srgbClr val="820009"/>
                </a:solidFill>
                <a:latin typeface="Arial"/>
                <a:ea typeface="Arial"/>
                <a:cs typeface="Arial"/>
                <a:sym typeface="Arial"/>
              </a:rPr>
              <a:t>Q / A</a:t>
            </a:r>
            <a:endParaRPr b="1" i="0" sz="1500">
              <a:solidFill>
                <a:srgbClr val="82000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2" name="Google Shape;162;p42"/>
          <p:cNvCxnSpPr/>
          <p:nvPr/>
        </p:nvCxnSpPr>
        <p:spPr>
          <a:xfrm>
            <a:off x="0" y="4457700"/>
            <a:ext cx="9144000" cy="1200"/>
          </a:xfrm>
          <a:prstGeom prst="straightConnector1">
            <a:avLst/>
          </a:prstGeom>
          <a:noFill/>
          <a:ln cap="flat" cmpd="sng" w="9525">
            <a:solidFill>
              <a:srgbClr val="6E0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PT-Large-Logo-with-Tag-Pos.png" id="163" name="Google Shape;16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91263" y="4552950"/>
            <a:ext cx="1796653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42"/>
          <p:cNvSpPr txBox="1"/>
          <p:nvPr/>
        </p:nvSpPr>
        <p:spPr>
          <a:xfrm>
            <a:off x="549442" y="4662101"/>
            <a:ext cx="466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5" name="Google Shape;165;p42"/>
          <p:cNvGrpSpPr/>
          <p:nvPr/>
        </p:nvGrpSpPr>
        <p:grpSpPr>
          <a:xfrm>
            <a:off x="476250" y="381000"/>
            <a:ext cx="8191500" cy="647850"/>
            <a:chOff x="0" y="0"/>
            <a:chExt cx="8191500" cy="647850"/>
          </a:xfrm>
        </p:grpSpPr>
        <p:sp>
          <p:nvSpPr>
            <p:cNvPr id="166" name="Google Shape;166;p42"/>
            <p:cNvSpPr/>
            <p:nvPr/>
          </p:nvSpPr>
          <p:spPr>
            <a:xfrm>
              <a:off x="0" y="0"/>
              <a:ext cx="8191500" cy="38100"/>
            </a:xfrm>
            <a:prstGeom prst="roundRect">
              <a:avLst>
                <a:gd fmla="val 50000" name="adj"/>
              </a:avLst>
            </a:prstGeom>
            <a:solidFill>
              <a:srgbClr val="82000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42"/>
            <p:cNvSpPr txBox="1"/>
            <p:nvPr/>
          </p:nvSpPr>
          <p:spPr>
            <a:xfrm>
              <a:off x="0" y="171450"/>
              <a:ext cx="8191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960">
                  <a:solidFill>
                    <a:srgbClr val="820009"/>
                  </a:solidFill>
                  <a:latin typeface="Arial"/>
                  <a:ea typeface="Arial"/>
                  <a:cs typeface="Arial"/>
                  <a:sym typeface="Arial"/>
                </a:rPr>
                <a:t>Our Team</a:t>
              </a:r>
              <a:endParaRPr b="1" sz="2960">
                <a:solidFill>
                  <a:srgbClr val="82000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8" name="Google Shape;168;p42"/>
          <p:cNvGrpSpPr/>
          <p:nvPr/>
        </p:nvGrpSpPr>
        <p:grpSpPr>
          <a:xfrm>
            <a:off x="476250" y="1285875"/>
            <a:ext cx="3952800" cy="1666800"/>
            <a:chOff x="0" y="0"/>
            <a:chExt cx="3952800" cy="1666800"/>
          </a:xfrm>
        </p:grpSpPr>
        <p:sp>
          <p:nvSpPr>
            <p:cNvPr id="169" name="Google Shape;169;p42"/>
            <p:cNvSpPr/>
            <p:nvPr/>
          </p:nvSpPr>
          <p:spPr>
            <a:xfrm>
              <a:off x="0" y="0"/>
              <a:ext cx="3952800" cy="1666800"/>
            </a:xfrm>
            <a:prstGeom prst="roundRect">
              <a:avLst>
                <a:gd fmla="val 685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42"/>
            <p:cNvSpPr/>
            <p:nvPr/>
          </p:nvSpPr>
          <p:spPr>
            <a:xfrm>
              <a:off x="0" y="0"/>
              <a:ext cx="3952800" cy="76200"/>
            </a:xfrm>
            <a:prstGeom prst="roundRect">
              <a:avLst>
                <a:gd fmla="val 50000" name="adj"/>
              </a:avLst>
            </a:prstGeom>
            <a:solidFill>
              <a:srgbClr val="82000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42"/>
            <p:cNvSpPr txBox="1"/>
            <p:nvPr/>
          </p:nvSpPr>
          <p:spPr>
            <a:xfrm>
              <a:off x="228600" y="228600"/>
              <a:ext cx="3495600" cy="12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TEAM MEMBER</a:t>
              </a:r>
              <a:endParaRPr b="1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Ernesto Vargas</a:t>
              </a:r>
              <a:endParaRPr b="1" sz="2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820009"/>
                  </a:solidFill>
                  <a:latin typeface="Arial"/>
                  <a:ea typeface="Arial"/>
                  <a:cs typeface="Arial"/>
                  <a:sym typeface="Arial"/>
                </a:rPr>
                <a:t>Sr Data Scientist</a:t>
              </a:r>
              <a:endParaRPr b="0" sz="1400">
                <a:solidFill>
                  <a:srgbClr val="82000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2" name="Google Shape;172;p42"/>
          <p:cNvGrpSpPr/>
          <p:nvPr/>
        </p:nvGrpSpPr>
        <p:grpSpPr>
          <a:xfrm>
            <a:off x="4714875" y="1285875"/>
            <a:ext cx="3952800" cy="1666800"/>
            <a:chOff x="0" y="0"/>
            <a:chExt cx="3952800" cy="1666800"/>
          </a:xfrm>
        </p:grpSpPr>
        <p:sp>
          <p:nvSpPr>
            <p:cNvPr id="173" name="Google Shape;173;p42"/>
            <p:cNvSpPr/>
            <p:nvPr/>
          </p:nvSpPr>
          <p:spPr>
            <a:xfrm>
              <a:off x="0" y="0"/>
              <a:ext cx="3952800" cy="1666800"/>
            </a:xfrm>
            <a:prstGeom prst="roundRect">
              <a:avLst>
                <a:gd fmla="val 685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42"/>
            <p:cNvSpPr/>
            <p:nvPr/>
          </p:nvSpPr>
          <p:spPr>
            <a:xfrm>
              <a:off x="0" y="0"/>
              <a:ext cx="3952800" cy="76200"/>
            </a:xfrm>
            <a:prstGeom prst="roundRect">
              <a:avLst>
                <a:gd fmla="val 50000" name="adj"/>
              </a:avLst>
            </a:prstGeom>
            <a:solidFill>
              <a:srgbClr val="82000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42"/>
            <p:cNvSpPr txBox="1"/>
            <p:nvPr/>
          </p:nvSpPr>
          <p:spPr>
            <a:xfrm>
              <a:off x="228600" y="228600"/>
              <a:ext cx="3495600" cy="12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TEAM MEMBER</a:t>
              </a:r>
              <a:endParaRPr b="1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Fritz Ratnasamy</a:t>
              </a:r>
              <a:endParaRPr b="1" sz="2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820009"/>
                  </a:solidFill>
                  <a:latin typeface="Arial"/>
                  <a:ea typeface="Arial"/>
                  <a:cs typeface="Arial"/>
                  <a:sym typeface="Arial"/>
                </a:rPr>
                <a:t>Data Scientist</a:t>
              </a:r>
              <a:endParaRPr b="0" sz="1400">
                <a:solidFill>
                  <a:srgbClr val="82000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6" name="Google Shape;176;p42"/>
          <p:cNvGrpSpPr/>
          <p:nvPr/>
        </p:nvGrpSpPr>
        <p:grpSpPr>
          <a:xfrm>
            <a:off x="476250" y="3190875"/>
            <a:ext cx="8191500" cy="952500"/>
            <a:chOff x="0" y="0"/>
            <a:chExt cx="8191500" cy="952500"/>
          </a:xfrm>
        </p:grpSpPr>
        <p:sp>
          <p:nvSpPr>
            <p:cNvPr id="177" name="Google Shape;177;p42"/>
            <p:cNvSpPr/>
            <p:nvPr/>
          </p:nvSpPr>
          <p:spPr>
            <a:xfrm>
              <a:off x="0" y="0"/>
              <a:ext cx="8191500" cy="952500"/>
            </a:xfrm>
            <a:prstGeom prst="roundRect">
              <a:avLst>
                <a:gd fmla="val 1200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42"/>
            <p:cNvSpPr txBox="1"/>
            <p:nvPr/>
          </p:nvSpPr>
          <p:spPr>
            <a:xfrm>
              <a:off x="266700" y="0"/>
              <a:ext cx="76581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CONTACT &amp; SUPPORT</a:t>
              </a:r>
              <a:endParaRPr b="1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820009"/>
                  </a:solidFill>
                  <a:latin typeface="Arial"/>
                  <a:ea typeface="Arial"/>
                  <a:cs typeface="Arial"/>
                  <a:sym typeface="Arial"/>
                </a:rPr>
                <a:t>research.support@chicagobooth.edu</a:t>
              </a:r>
              <a:endParaRPr b="1" sz="1800">
                <a:solidFill>
                  <a:srgbClr val="82000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43"/>
          <p:cNvPicPr preferRelativeResize="0"/>
          <p:nvPr/>
        </p:nvPicPr>
        <p:blipFill rotWithShape="1">
          <a:blip r:embed="rId3">
            <a:alphaModFix/>
          </a:blip>
          <a:srcRect b="7440" l="0" r="0" t="7440"/>
          <a:stretch/>
        </p:blipFill>
        <p:spPr>
          <a:xfrm>
            <a:off x="5810250" y="904875"/>
            <a:ext cx="2857500" cy="1619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4" name="Google Shape;184;p43"/>
          <p:cNvGrpSpPr/>
          <p:nvPr/>
        </p:nvGrpSpPr>
        <p:grpSpPr>
          <a:xfrm>
            <a:off x="476250" y="266700"/>
            <a:ext cx="8191500" cy="543000"/>
            <a:chOff x="0" y="0"/>
            <a:chExt cx="8191500" cy="543000"/>
          </a:xfrm>
        </p:grpSpPr>
        <p:sp>
          <p:nvSpPr>
            <p:cNvPr id="185" name="Google Shape;185;p43"/>
            <p:cNvSpPr/>
            <p:nvPr/>
          </p:nvSpPr>
          <p:spPr>
            <a:xfrm>
              <a:off x="0" y="0"/>
              <a:ext cx="8191500" cy="38100"/>
            </a:xfrm>
            <a:prstGeom prst="roundRect">
              <a:avLst>
                <a:gd fmla="val 50000" name="adj"/>
              </a:avLst>
            </a:prstGeom>
            <a:solidFill>
              <a:srgbClr val="82000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43"/>
            <p:cNvSpPr txBox="1"/>
            <p:nvPr/>
          </p:nvSpPr>
          <p:spPr>
            <a:xfrm>
              <a:off x="0" y="114300"/>
              <a:ext cx="8191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600">
                  <a:solidFill>
                    <a:srgbClr val="820009"/>
                  </a:solidFill>
                  <a:latin typeface="Arial"/>
                  <a:ea typeface="Arial"/>
                  <a:cs typeface="Arial"/>
                  <a:sym typeface="Arial"/>
                </a:rPr>
                <a:t>Booth HTC Resources</a:t>
              </a:r>
              <a:endParaRPr b="1" sz="2600">
                <a:solidFill>
                  <a:srgbClr val="82000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7" name="Google Shape;187;p43"/>
          <p:cNvGrpSpPr/>
          <p:nvPr/>
        </p:nvGrpSpPr>
        <p:grpSpPr>
          <a:xfrm>
            <a:off x="476250" y="904875"/>
            <a:ext cx="5143500" cy="1619100"/>
            <a:chOff x="0" y="0"/>
            <a:chExt cx="5143500" cy="1619100"/>
          </a:xfrm>
        </p:grpSpPr>
        <p:sp>
          <p:nvSpPr>
            <p:cNvPr id="188" name="Google Shape;188;p43"/>
            <p:cNvSpPr/>
            <p:nvPr/>
          </p:nvSpPr>
          <p:spPr>
            <a:xfrm>
              <a:off x="0" y="0"/>
              <a:ext cx="5143500" cy="1619100"/>
            </a:xfrm>
            <a:prstGeom prst="roundRect">
              <a:avLst>
                <a:gd fmla="val 7058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43"/>
            <p:cNvSpPr/>
            <p:nvPr/>
          </p:nvSpPr>
          <p:spPr>
            <a:xfrm>
              <a:off x="0" y="0"/>
              <a:ext cx="5143500" cy="57300"/>
            </a:xfrm>
            <a:prstGeom prst="roundRect">
              <a:avLst>
                <a:gd fmla="val 50000" name="adj"/>
              </a:avLst>
            </a:prstGeom>
            <a:solidFill>
              <a:srgbClr val="82000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43"/>
            <p:cNvSpPr txBox="1"/>
            <p:nvPr/>
          </p:nvSpPr>
          <p:spPr>
            <a:xfrm>
              <a:off x="228600" y="190500"/>
              <a:ext cx="46863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RESOURCE</a:t>
              </a:r>
              <a:endParaRPr b="1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Mercury High Throughput Computing (HTC) Cluster</a:t>
              </a:r>
              <a:endParaRPr b="1" sz="18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Documentation &amp; Guides: </a:t>
              </a:r>
              <a:r>
                <a:rPr b="1" lang="en" sz="1200" u="sng">
                  <a:solidFill>
                    <a:srgbClr val="820009"/>
                  </a:solidFill>
                  <a:latin typeface="Arial"/>
                  <a:ea typeface="Arial"/>
                  <a:cs typeface="Arial"/>
                  <a:sym typeface="Arial"/>
                  <a:hlinkClick r:id="rId4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https://hpc-docs.chicagobooth.edu/</a:t>
              </a:r>
              <a:endParaRPr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1" name="Google Shape;191;p43"/>
          <p:cNvGrpSpPr/>
          <p:nvPr/>
        </p:nvGrpSpPr>
        <p:grpSpPr>
          <a:xfrm>
            <a:off x="476250" y="2714625"/>
            <a:ext cx="3905400" cy="1476300"/>
            <a:chOff x="0" y="0"/>
            <a:chExt cx="3905400" cy="1476300"/>
          </a:xfrm>
        </p:grpSpPr>
        <p:sp>
          <p:nvSpPr>
            <p:cNvPr id="192" name="Google Shape;192;p43"/>
            <p:cNvSpPr/>
            <p:nvPr/>
          </p:nvSpPr>
          <p:spPr>
            <a:xfrm>
              <a:off x="0" y="0"/>
              <a:ext cx="3905400" cy="1476300"/>
            </a:xfrm>
            <a:prstGeom prst="roundRect">
              <a:avLst>
                <a:gd fmla="val 7741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43"/>
            <p:cNvSpPr txBox="1"/>
            <p:nvPr/>
          </p:nvSpPr>
          <p:spPr>
            <a:xfrm>
              <a:off x="228600" y="190500"/>
              <a:ext cx="34482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NETWORK ACCESS</a:t>
              </a:r>
              <a:endParaRPr b="1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820009"/>
                  </a:solidFill>
                  <a:latin typeface="Arial"/>
                  <a:ea typeface="Arial"/>
                  <a:cs typeface="Arial"/>
                  <a:sym typeface="Arial"/>
                </a:rPr>
                <a:t>Booth VPN Required</a:t>
              </a:r>
              <a:endParaRPr b="1" sz="1500">
                <a:solidFill>
                  <a:srgbClr val="82000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Mercury requires connection to Booth VPN (</a:t>
              </a:r>
              <a:r>
                <a:rPr b="1" lang="en" sz="11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vpn.chicagobooth.edu</a:t>
              </a:r>
              <a:r>
                <a:rPr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) when using an off-campus internet connection.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4" name="Google Shape;194;p43"/>
          <p:cNvGrpSpPr/>
          <p:nvPr/>
        </p:nvGrpSpPr>
        <p:grpSpPr>
          <a:xfrm>
            <a:off x="4572000" y="2714625"/>
            <a:ext cx="4095900" cy="1476300"/>
            <a:chOff x="0" y="0"/>
            <a:chExt cx="4095900" cy="1476300"/>
          </a:xfrm>
        </p:grpSpPr>
        <p:sp>
          <p:nvSpPr>
            <p:cNvPr id="195" name="Google Shape;195;p43"/>
            <p:cNvSpPr/>
            <p:nvPr/>
          </p:nvSpPr>
          <p:spPr>
            <a:xfrm>
              <a:off x="0" y="0"/>
              <a:ext cx="4095900" cy="1476300"/>
            </a:xfrm>
            <a:prstGeom prst="roundRect">
              <a:avLst>
                <a:gd fmla="val 7741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43"/>
            <p:cNvSpPr txBox="1"/>
            <p:nvPr/>
          </p:nvSpPr>
          <p:spPr>
            <a:xfrm>
              <a:off x="228600" y="190500"/>
              <a:ext cx="36387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AUTHENTICATION</a:t>
              </a:r>
              <a:endParaRPr b="1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820009"/>
                  </a:solidFill>
                  <a:latin typeface="Arial"/>
                  <a:ea typeface="Arial"/>
                  <a:cs typeface="Arial"/>
                  <a:sym typeface="Arial"/>
                </a:rPr>
                <a:t>BoothID Credentials</a:t>
              </a:r>
              <a:endParaRPr b="1" sz="1500">
                <a:solidFill>
                  <a:srgbClr val="82000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All services use </a:t>
              </a:r>
              <a:r>
                <a:rPr b="1" lang="en" sz="11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BoothID credentials</a:t>
              </a:r>
              <a:r>
                <a:rPr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for access (most likely different than your CNET credentials).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2" name="Google Shape;202;p44"/>
          <p:cNvCxnSpPr/>
          <p:nvPr/>
        </p:nvCxnSpPr>
        <p:spPr>
          <a:xfrm>
            <a:off x="0" y="4457700"/>
            <a:ext cx="9144000" cy="1200"/>
          </a:xfrm>
          <a:prstGeom prst="straightConnector1">
            <a:avLst/>
          </a:prstGeom>
          <a:noFill/>
          <a:ln cap="flat" cmpd="sng" w="9525">
            <a:solidFill>
              <a:srgbClr val="6E0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PT-Large-Logo-with-Tag-Pos.png" id="203" name="Google Shape;203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91263" y="4552950"/>
            <a:ext cx="1796653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44"/>
          <p:cNvSpPr txBox="1"/>
          <p:nvPr/>
        </p:nvSpPr>
        <p:spPr>
          <a:xfrm>
            <a:off x="549442" y="4662101"/>
            <a:ext cx="466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5" name="Google Shape;205;p44"/>
          <p:cNvGrpSpPr/>
          <p:nvPr/>
        </p:nvGrpSpPr>
        <p:grpSpPr>
          <a:xfrm>
            <a:off x="476250" y="266700"/>
            <a:ext cx="8191500" cy="543000"/>
            <a:chOff x="0" y="0"/>
            <a:chExt cx="8191500" cy="543000"/>
          </a:xfrm>
        </p:grpSpPr>
        <p:sp>
          <p:nvSpPr>
            <p:cNvPr id="206" name="Google Shape;206;p44"/>
            <p:cNvSpPr/>
            <p:nvPr/>
          </p:nvSpPr>
          <p:spPr>
            <a:xfrm>
              <a:off x="0" y="0"/>
              <a:ext cx="8191500" cy="38100"/>
            </a:xfrm>
            <a:prstGeom prst="roundRect">
              <a:avLst>
                <a:gd fmla="val 50000" name="adj"/>
              </a:avLst>
            </a:prstGeom>
            <a:solidFill>
              <a:srgbClr val="82000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44"/>
            <p:cNvSpPr txBox="1"/>
            <p:nvPr/>
          </p:nvSpPr>
          <p:spPr>
            <a:xfrm>
              <a:off x="0" y="114300"/>
              <a:ext cx="8191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600">
                  <a:solidFill>
                    <a:srgbClr val="820009"/>
                  </a:solidFill>
                  <a:latin typeface="Arial"/>
                  <a:ea typeface="Arial"/>
                  <a:cs typeface="Arial"/>
                  <a:sym typeface="Arial"/>
                </a:rPr>
                <a:t>Mercury Computing Cluster - What is it?</a:t>
              </a:r>
              <a:endParaRPr b="1" sz="2600">
                <a:solidFill>
                  <a:srgbClr val="82000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8" name="Google Shape;208;p44"/>
          <p:cNvGrpSpPr/>
          <p:nvPr/>
        </p:nvGrpSpPr>
        <p:grpSpPr>
          <a:xfrm>
            <a:off x="476250" y="809625"/>
            <a:ext cx="8191500" cy="1238400"/>
            <a:chOff x="0" y="0"/>
            <a:chExt cx="8191500" cy="1238400"/>
          </a:xfrm>
        </p:grpSpPr>
        <p:sp>
          <p:nvSpPr>
            <p:cNvPr id="209" name="Google Shape;209;p44"/>
            <p:cNvSpPr/>
            <p:nvPr/>
          </p:nvSpPr>
          <p:spPr>
            <a:xfrm>
              <a:off x="0" y="0"/>
              <a:ext cx="8191500" cy="1238400"/>
            </a:xfrm>
            <a:prstGeom prst="roundRect">
              <a:avLst>
                <a:gd fmla="val 923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44"/>
            <p:cNvSpPr/>
            <p:nvPr/>
          </p:nvSpPr>
          <p:spPr>
            <a:xfrm>
              <a:off x="0" y="0"/>
              <a:ext cx="8191500" cy="57300"/>
            </a:xfrm>
            <a:prstGeom prst="roundRect">
              <a:avLst>
                <a:gd fmla="val 50000" name="adj"/>
              </a:avLst>
            </a:prstGeom>
            <a:solidFill>
              <a:srgbClr val="82000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44"/>
            <p:cNvSpPr txBox="1"/>
            <p:nvPr/>
          </p:nvSpPr>
          <p:spPr>
            <a:xfrm>
              <a:off x="228600" y="152400"/>
              <a:ext cx="77343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OVERVIEW &amp; ACCESS</a:t>
              </a:r>
              <a:endParaRPr b="1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A Shared Linux Compute Cluster</a:t>
              </a:r>
              <a:endParaRPr b="1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Managed by Booth IT • Available to all Booth faculty, staff, collaborators, and students</a:t>
              </a:r>
              <a:endParaRPr b="0"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820009"/>
                  </a:solidFill>
                  <a:latin typeface="Arial"/>
                  <a:ea typeface="Arial"/>
                  <a:cs typeface="Arial"/>
                  <a:sym typeface="Arial"/>
                </a:rPr>
                <a:t>Common Applications:</a:t>
              </a:r>
              <a:r>
                <a:rPr b="0" lang="en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Python, R, Matlab, LLM containers, Stata, Apptainer, Knitro, etc.</a:t>
              </a:r>
              <a:endParaRPr b="0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2" name="Google Shape;212;p44"/>
          <p:cNvGrpSpPr/>
          <p:nvPr/>
        </p:nvGrpSpPr>
        <p:grpSpPr>
          <a:xfrm>
            <a:off x="476250" y="2190750"/>
            <a:ext cx="2600400" cy="2095500"/>
            <a:chOff x="0" y="0"/>
            <a:chExt cx="2600400" cy="2095500"/>
          </a:xfrm>
        </p:grpSpPr>
        <p:sp>
          <p:nvSpPr>
            <p:cNvPr id="213" name="Google Shape;213;p44"/>
            <p:cNvSpPr/>
            <p:nvPr/>
          </p:nvSpPr>
          <p:spPr>
            <a:xfrm>
              <a:off x="0" y="0"/>
              <a:ext cx="2600400" cy="2095500"/>
            </a:xfrm>
            <a:prstGeom prst="roundRect">
              <a:avLst>
                <a:gd fmla="val 5454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44"/>
            <p:cNvSpPr txBox="1"/>
            <p:nvPr/>
          </p:nvSpPr>
          <p:spPr>
            <a:xfrm>
              <a:off x="190500" y="190500"/>
              <a:ext cx="22194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STANDARD NODES</a:t>
              </a:r>
              <a:endParaRPr b="1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820009"/>
                  </a:solidFill>
                  <a:latin typeface="Arial"/>
                  <a:ea typeface="Arial"/>
                  <a:cs typeface="Arial"/>
                  <a:sym typeface="Arial"/>
                </a:rPr>
                <a:t>25</a:t>
              </a:r>
              <a:r>
                <a:rPr b="1" lang="en" sz="10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lang="en" sz="14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Nodes</a:t>
              </a:r>
              <a:endParaRPr b="1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Arial"/>
                <a:buChar char="●"/>
              </a:pPr>
              <a:r>
                <a:rPr b="0"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Physical servers</a:t>
              </a:r>
              <a:endParaRPr b="0"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5275" lvl="0" marL="457200" rtl="0" algn="l">
                <a:spcBef>
                  <a:spcPts val="40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Arial"/>
                <a:buChar char="●"/>
              </a:pPr>
              <a:r>
                <a:rPr b="0"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64 CPUs per node on most nodes</a:t>
              </a:r>
              <a:endParaRPr b="0"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5275" lvl="0" marL="457200" rtl="0" algn="l">
                <a:spcBef>
                  <a:spcPts val="40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Arial"/>
                <a:buChar char="●"/>
              </a:pPr>
              <a:r>
                <a:rPr b="0"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1 TB RAM memory on most nodes</a:t>
              </a:r>
              <a:endParaRPr b="0"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5" name="Google Shape;215;p44"/>
          <p:cNvGrpSpPr/>
          <p:nvPr/>
        </p:nvGrpSpPr>
        <p:grpSpPr>
          <a:xfrm>
            <a:off x="3267075" y="2190750"/>
            <a:ext cx="2600400" cy="2095500"/>
            <a:chOff x="0" y="0"/>
            <a:chExt cx="2600400" cy="2095500"/>
          </a:xfrm>
        </p:grpSpPr>
        <p:sp>
          <p:nvSpPr>
            <p:cNvPr id="216" name="Google Shape;216;p44"/>
            <p:cNvSpPr/>
            <p:nvPr/>
          </p:nvSpPr>
          <p:spPr>
            <a:xfrm>
              <a:off x="0" y="0"/>
              <a:ext cx="2600400" cy="2095500"/>
            </a:xfrm>
            <a:prstGeom prst="roundRect">
              <a:avLst>
                <a:gd fmla="val 5454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44"/>
            <p:cNvSpPr txBox="1"/>
            <p:nvPr/>
          </p:nvSpPr>
          <p:spPr>
            <a:xfrm>
              <a:off x="190500" y="190500"/>
              <a:ext cx="22194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HIGH-MEMORY NODES</a:t>
              </a:r>
              <a:endParaRPr b="1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820009"/>
                  </a:solidFill>
                  <a:latin typeface="Arial"/>
                  <a:ea typeface="Arial"/>
                  <a:cs typeface="Arial"/>
                  <a:sym typeface="Arial"/>
                </a:rPr>
                <a:t>18</a:t>
              </a:r>
              <a:r>
                <a:rPr b="1" lang="en" sz="10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lang="en" sz="14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Nodes</a:t>
              </a:r>
              <a:endParaRPr b="1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Arial"/>
                <a:buChar char="●"/>
              </a:pPr>
              <a:r>
                <a:rPr b="0"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High-memory compute capacity</a:t>
              </a:r>
              <a:endParaRPr b="0"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5275" lvl="0" marL="457200" rtl="0" algn="l">
                <a:spcBef>
                  <a:spcPts val="40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Arial"/>
                <a:buChar char="●"/>
              </a:pPr>
              <a:r>
                <a:rPr b="0"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Up to 1.5 TB RAM memory</a:t>
              </a:r>
              <a:endParaRPr b="0"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8" name="Google Shape;218;p44"/>
          <p:cNvGrpSpPr/>
          <p:nvPr/>
        </p:nvGrpSpPr>
        <p:grpSpPr>
          <a:xfrm>
            <a:off x="6057900" y="2190750"/>
            <a:ext cx="2610000" cy="2095500"/>
            <a:chOff x="0" y="0"/>
            <a:chExt cx="2610000" cy="2095500"/>
          </a:xfrm>
        </p:grpSpPr>
        <p:sp>
          <p:nvSpPr>
            <p:cNvPr id="219" name="Google Shape;219;p44"/>
            <p:cNvSpPr/>
            <p:nvPr/>
          </p:nvSpPr>
          <p:spPr>
            <a:xfrm>
              <a:off x="0" y="0"/>
              <a:ext cx="2610000" cy="2095500"/>
            </a:xfrm>
            <a:prstGeom prst="roundRect">
              <a:avLst>
                <a:gd fmla="val 5454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44"/>
            <p:cNvSpPr txBox="1"/>
            <p:nvPr/>
          </p:nvSpPr>
          <p:spPr>
            <a:xfrm>
              <a:off x="190500" y="190500"/>
              <a:ext cx="22290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GPU ACCELERATED</a:t>
              </a:r>
              <a:endParaRPr b="1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820009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r>
                <a:rPr b="1" lang="en" sz="10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lang="en" sz="14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Nodes</a:t>
              </a:r>
              <a:endParaRPr b="1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Arial"/>
                <a:buChar char="●"/>
              </a:pPr>
              <a:r>
                <a:rPr b="0"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GPU-equipped compute nodes</a:t>
              </a:r>
              <a:endParaRPr b="0"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5275" lvl="0" marL="457200" rtl="0" algn="l">
                <a:spcBef>
                  <a:spcPts val="40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Arial"/>
                <a:buChar char="●"/>
              </a:pPr>
              <a:r>
                <a:rPr b="0"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4 NVIDIA H100 GPUs per node</a:t>
              </a:r>
              <a:endParaRPr b="0"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6" name="Google Shape;226;p45"/>
          <p:cNvCxnSpPr/>
          <p:nvPr/>
        </p:nvCxnSpPr>
        <p:spPr>
          <a:xfrm>
            <a:off x="0" y="4457700"/>
            <a:ext cx="9144000" cy="1200"/>
          </a:xfrm>
          <a:prstGeom prst="straightConnector1">
            <a:avLst/>
          </a:prstGeom>
          <a:noFill/>
          <a:ln cap="flat" cmpd="sng" w="9525">
            <a:solidFill>
              <a:srgbClr val="6E0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PT-Large-Logo-with-Tag-Pos.png" id="227" name="Google Shape;227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91263" y="4552950"/>
            <a:ext cx="1796653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45"/>
          <p:cNvSpPr txBox="1"/>
          <p:nvPr/>
        </p:nvSpPr>
        <p:spPr>
          <a:xfrm>
            <a:off x="549442" y="4662101"/>
            <a:ext cx="466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9" name="Google Shape;229;p45"/>
          <p:cNvGrpSpPr/>
          <p:nvPr/>
        </p:nvGrpSpPr>
        <p:grpSpPr>
          <a:xfrm>
            <a:off x="476250" y="266700"/>
            <a:ext cx="8191500" cy="543000"/>
            <a:chOff x="0" y="0"/>
            <a:chExt cx="8191500" cy="543000"/>
          </a:xfrm>
        </p:grpSpPr>
        <p:sp>
          <p:nvSpPr>
            <p:cNvPr id="230" name="Google Shape;230;p45"/>
            <p:cNvSpPr/>
            <p:nvPr/>
          </p:nvSpPr>
          <p:spPr>
            <a:xfrm>
              <a:off x="0" y="0"/>
              <a:ext cx="8191500" cy="38100"/>
            </a:xfrm>
            <a:prstGeom prst="roundRect">
              <a:avLst>
                <a:gd fmla="val 50000" name="adj"/>
              </a:avLst>
            </a:prstGeom>
            <a:solidFill>
              <a:srgbClr val="82000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45"/>
            <p:cNvSpPr txBox="1"/>
            <p:nvPr/>
          </p:nvSpPr>
          <p:spPr>
            <a:xfrm>
              <a:off x="0" y="114300"/>
              <a:ext cx="8191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600">
                  <a:solidFill>
                    <a:srgbClr val="820009"/>
                  </a:solidFill>
                  <a:latin typeface="Arial"/>
                  <a:ea typeface="Arial"/>
                  <a:cs typeface="Arial"/>
                  <a:sym typeface="Arial"/>
                </a:rPr>
                <a:t>Vulcan Computing Cluster - What is it?</a:t>
              </a:r>
              <a:endParaRPr b="1" sz="2600">
                <a:solidFill>
                  <a:srgbClr val="82000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2" name="Google Shape;232;p45"/>
          <p:cNvGrpSpPr/>
          <p:nvPr/>
        </p:nvGrpSpPr>
        <p:grpSpPr>
          <a:xfrm>
            <a:off x="476250" y="809625"/>
            <a:ext cx="8191500" cy="1285800"/>
            <a:chOff x="0" y="0"/>
            <a:chExt cx="8191500" cy="1285800"/>
          </a:xfrm>
        </p:grpSpPr>
        <p:sp>
          <p:nvSpPr>
            <p:cNvPr id="233" name="Google Shape;233;p45"/>
            <p:cNvSpPr/>
            <p:nvPr/>
          </p:nvSpPr>
          <p:spPr>
            <a:xfrm>
              <a:off x="0" y="0"/>
              <a:ext cx="8191500" cy="1285800"/>
            </a:xfrm>
            <a:prstGeom prst="roundRect">
              <a:avLst>
                <a:gd fmla="val 8888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45"/>
            <p:cNvSpPr/>
            <p:nvPr/>
          </p:nvSpPr>
          <p:spPr>
            <a:xfrm>
              <a:off x="0" y="0"/>
              <a:ext cx="8191500" cy="57300"/>
            </a:xfrm>
            <a:prstGeom prst="roundRect">
              <a:avLst>
                <a:gd fmla="val 50000" name="adj"/>
              </a:avLst>
            </a:prstGeom>
            <a:solidFill>
              <a:srgbClr val="82000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45"/>
            <p:cNvSpPr txBox="1"/>
            <p:nvPr/>
          </p:nvSpPr>
          <p:spPr>
            <a:xfrm>
              <a:off x="228600" y="152400"/>
              <a:ext cx="77343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OVERVIEW &amp; CAPABILITIES</a:t>
              </a:r>
              <a:endParaRPr b="1" sz="8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136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A Shared Linux Compute Cluster</a:t>
              </a:r>
              <a:endParaRPr b="1" sz="8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935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Available to all Booth faculty, staff, collaborators, and students</a:t>
              </a:r>
              <a:endParaRPr b="1" sz="8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820009"/>
                  </a:solidFill>
                  <a:latin typeface="Arial"/>
                  <a:ea typeface="Arial"/>
                  <a:cs typeface="Arial"/>
                  <a:sym typeface="Arial"/>
                </a:rPr>
                <a:t>Key Features: </a:t>
              </a:r>
              <a:r>
                <a:rPr b="0" lang="en" sz="8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Big data processing with Spark (PySpark, SparkR) • Loads giant datasets in memory (e.g. TransUnion, CE)</a:t>
              </a:r>
              <a:endParaRPr b="1" sz="8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820009"/>
                  </a:solidFill>
                  <a:latin typeface="Arial"/>
                  <a:ea typeface="Arial"/>
                  <a:cs typeface="Arial"/>
                  <a:sym typeface="Arial"/>
                </a:rPr>
                <a:t>Documentation: </a:t>
              </a:r>
              <a:r>
                <a:rPr b="1" lang="en" sz="850" u="sng">
                  <a:solidFill>
                    <a:srgbClr val="820009"/>
                  </a:solidFill>
                  <a:latin typeface="Arial"/>
                  <a:ea typeface="Arial"/>
                  <a:cs typeface="Arial"/>
                  <a:sym typeface="Arial"/>
                  <a:hlinkClick r:id="rId4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https://hpc-docs.chicagobooth.edu/vulcan/index.html</a:t>
              </a:r>
              <a:endParaRPr b="1" sz="8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6" name="Google Shape;236;p45"/>
          <p:cNvGrpSpPr/>
          <p:nvPr/>
        </p:nvGrpSpPr>
        <p:grpSpPr>
          <a:xfrm>
            <a:off x="476250" y="2238375"/>
            <a:ext cx="2600400" cy="2047800"/>
            <a:chOff x="0" y="0"/>
            <a:chExt cx="2600400" cy="2047800"/>
          </a:xfrm>
        </p:grpSpPr>
        <p:sp>
          <p:nvSpPr>
            <p:cNvPr id="237" name="Google Shape;237;p45"/>
            <p:cNvSpPr/>
            <p:nvPr/>
          </p:nvSpPr>
          <p:spPr>
            <a:xfrm>
              <a:off x="0" y="0"/>
              <a:ext cx="2600400" cy="2047800"/>
            </a:xfrm>
            <a:prstGeom prst="roundRect">
              <a:avLst>
                <a:gd fmla="val 5581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45"/>
            <p:cNvSpPr txBox="1"/>
            <p:nvPr/>
          </p:nvSpPr>
          <p:spPr>
            <a:xfrm>
              <a:off x="190500" y="190500"/>
              <a:ext cx="2219400" cy="16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CLIENT NODE</a:t>
              </a:r>
              <a:endParaRPr b="1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820009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b="1" lang="en" sz="10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lang="en" sz="14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Node</a:t>
              </a:r>
              <a:endParaRPr b="1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1000"/>
                </a:spcBef>
                <a:spcAft>
                  <a:spcPts val="0"/>
                </a:spcAft>
                <a:buClr>
                  <a:srgbClr val="64748B"/>
                </a:buClr>
                <a:buSzPts val="1000"/>
                <a:buFont typeface="Arial"/>
                <a:buChar char="●"/>
              </a:pPr>
              <a:r>
                <a:rPr b="0"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Primary client access point</a:t>
              </a:r>
              <a:endParaRPr b="1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600"/>
                </a:spcAft>
                <a:buClr>
                  <a:srgbClr val="64748B"/>
                </a:buClr>
                <a:buSzPts val="1000"/>
                <a:buFont typeface="Arial"/>
                <a:buChar char="●"/>
              </a:pPr>
              <a:r>
                <a:rPr b="0"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Submits jobs to the cluster</a:t>
              </a:r>
              <a:endParaRPr b="1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9" name="Google Shape;239;p45"/>
          <p:cNvGrpSpPr/>
          <p:nvPr/>
        </p:nvGrpSpPr>
        <p:grpSpPr>
          <a:xfrm>
            <a:off x="3267075" y="2238375"/>
            <a:ext cx="2600400" cy="2047800"/>
            <a:chOff x="0" y="0"/>
            <a:chExt cx="2600400" cy="2047800"/>
          </a:xfrm>
        </p:grpSpPr>
        <p:sp>
          <p:nvSpPr>
            <p:cNvPr id="240" name="Google Shape;240;p45"/>
            <p:cNvSpPr/>
            <p:nvPr/>
          </p:nvSpPr>
          <p:spPr>
            <a:xfrm>
              <a:off x="0" y="0"/>
              <a:ext cx="2600400" cy="2047800"/>
            </a:xfrm>
            <a:prstGeom prst="roundRect">
              <a:avLst>
                <a:gd fmla="val 5581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45"/>
            <p:cNvSpPr txBox="1"/>
            <p:nvPr/>
          </p:nvSpPr>
          <p:spPr>
            <a:xfrm>
              <a:off x="190500" y="190500"/>
              <a:ext cx="2219400" cy="16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NAME NODES</a:t>
              </a:r>
              <a:endParaRPr b="1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820009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r>
                <a:rPr b="1" lang="en" sz="10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lang="en" sz="14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Nodes</a:t>
              </a:r>
              <a:endParaRPr b="1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1000"/>
                </a:spcBef>
                <a:spcAft>
                  <a:spcPts val="0"/>
                </a:spcAft>
                <a:buClr>
                  <a:srgbClr val="64748B"/>
                </a:buClr>
                <a:buSzPts val="1000"/>
                <a:buFont typeface="Arial"/>
                <a:buChar char="●"/>
              </a:pPr>
              <a:r>
                <a:rPr b="0"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Cluster management nodes</a:t>
              </a:r>
              <a:endParaRPr b="1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600"/>
                </a:spcAft>
                <a:buClr>
                  <a:srgbClr val="64748B"/>
                </a:buClr>
                <a:buSzPts val="1000"/>
                <a:buFont typeface="Arial"/>
                <a:buChar char="●"/>
              </a:pPr>
              <a:r>
                <a:rPr b="0"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Handles metadata and coordination</a:t>
              </a:r>
              <a:endParaRPr b="1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2" name="Google Shape;242;p45"/>
          <p:cNvGrpSpPr/>
          <p:nvPr/>
        </p:nvGrpSpPr>
        <p:grpSpPr>
          <a:xfrm>
            <a:off x="6057900" y="2238375"/>
            <a:ext cx="2610000" cy="2047800"/>
            <a:chOff x="0" y="0"/>
            <a:chExt cx="2610000" cy="2047800"/>
          </a:xfrm>
        </p:grpSpPr>
        <p:sp>
          <p:nvSpPr>
            <p:cNvPr id="243" name="Google Shape;243;p45"/>
            <p:cNvSpPr/>
            <p:nvPr/>
          </p:nvSpPr>
          <p:spPr>
            <a:xfrm>
              <a:off x="0" y="0"/>
              <a:ext cx="2610000" cy="2047800"/>
            </a:xfrm>
            <a:prstGeom prst="roundRect">
              <a:avLst>
                <a:gd fmla="val 5581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45"/>
            <p:cNvSpPr txBox="1"/>
            <p:nvPr/>
          </p:nvSpPr>
          <p:spPr>
            <a:xfrm>
              <a:off x="190500" y="190500"/>
              <a:ext cx="2229000" cy="16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WORKER NODES</a:t>
              </a:r>
              <a:endParaRPr b="1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820009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r>
                <a:rPr b="1" lang="en" sz="10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lang="en" sz="14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Nodes</a:t>
              </a:r>
              <a:endParaRPr b="1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1000"/>
                </a:spcBef>
                <a:spcAft>
                  <a:spcPts val="0"/>
                </a:spcAft>
                <a:buClr>
                  <a:srgbClr val="64748B"/>
                </a:buClr>
                <a:buSzPts val="1000"/>
                <a:buFont typeface="Arial"/>
                <a:buChar char="●"/>
              </a:pPr>
              <a:r>
                <a:rPr b="0"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Executes computation tasks</a:t>
              </a:r>
              <a:endParaRPr b="1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600"/>
                </a:spcAft>
                <a:buClr>
                  <a:srgbClr val="64748B"/>
                </a:buClr>
                <a:buSzPts val="1000"/>
                <a:buFont typeface="Arial"/>
                <a:buChar char="●"/>
              </a:pPr>
              <a:r>
                <a:rPr b="0"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Processes big data in parallel</a:t>
              </a:r>
              <a:endParaRPr b="1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9" name="Google Shape;249;p46"/>
          <p:cNvCxnSpPr/>
          <p:nvPr/>
        </p:nvCxnSpPr>
        <p:spPr>
          <a:xfrm>
            <a:off x="0" y="4457700"/>
            <a:ext cx="9144000" cy="1200"/>
          </a:xfrm>
          <a:prstGeom prst="straightConnector1">
            <a:avLst/>
          </a:prstGeom>
          <a:noFill/>
          <a:ln cap="flat" cmpd="sng" w="9525">
            <a:solidFill>
              <a:srgbClr val="6E0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PT-Large-Logo-with-Tag-Pos.png" id="250" name="Google Shape;250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91263" y="4552950"/>
            <a:ext cx="1796653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46"/>
          <p:cNvSpPr txBox="1"/>
          <p:nvPr/>
        </p:nvSpPr>
        <p:spPr>
          <a:xfrm>
            <a:off x="549442" y="4662101"/>
            <a:ext cx="466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2" name="Google Shape;252;p46"/>
          <p:cNvGrpSpPr/>
          <p:nvPr/>
        </p:nvGrpSpPr>
        <p:grpSpPr>
          <a:xfrm>
            <a:off x="476250" y="266700"/>
            <a:ext cx="8191500" cy="543000"/>
            <a:chOff x="0" y="0"/>
            <a:chExt cx="8191500" cy="543000"/>
          </a:xfrm>
        </p:grpSpPr>
        <p:sp>
          <p:nvSpPr>
            <p:cNvPr id="253" name="Google Shape;253;p46"/>
            <p:cNvSpPr/>
            <p:nvPr/>
          </p:nvSpPr>
          <p:spPr>
            <a:xfrm>
              <a:off x="0" y="0"/>
              <a:ext cx="8191500" cy="38100"/>
            </a:xfrm>
            <a:prstGeom prst="roundRect">
              <a:avLst>
                <a:gd fmla="val 50000" name="adj"/>
              </a:avLst>
            </a:prstGeom>
            <a:solidFill>
              <a:srgbClr val="82000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46"/>
            <p:cNvSpPr txBox="1"/>
            <p:nvPr/>
          </p:nvSpPr>
          <p:spPr>
            <a:xfrm>
              <a:off x="0" y="114300"/>
              <a:ext cx="8191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600">
                  <a:solidFill>
                    <a:srgbClr val="820009"/>
                  </a:solidFill>
                  <a:latin typeface="Arial"/>
                  <a:ea typeface="Arial"/>
                  <a:cs typeface="Arial"/>
                  <a:sym typeface="Arial"/>
                </a:rPr>
                <a:t>Mercury Cluster – Why use it?</a:t>
              </a:r>
              <a:endParaRPr b="1" sz="2600">
                <a:solidFill>
                  <a:srgbClr val="82000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5" name="Google Shape;255;p46"/>
          <p:cNvGrpSpPr/>
          <p:nvPr/>
        </p:nvGrpSpPr>
        <p:grpSpPr>
          <a:xfrm>
            <a:off x="476250" y="809625"/>
            <a:ext cx="8191500" cy="762000"/>
            <a:chOff x="0" y="0"/>
            <a:chExt cx="8191500" cy="762000"/>
          </a:xfrm>
        </p:grpSpPr>
        <p:sp>
          <p:nvSpPr>
            <p:cNvPr id="256" name="Google Shape;256;p46"/>
            <p:cNvSpPr/>
            <p:nvPr/>
          </p:nvSpPr>
          <p:spPr>
            <a:xfrm>
              <a:off x="0" y="0"/>
              <a:ext cx="8191500" cy="762000"/>
            </a:xfrm>
            <a:prstGeom prst="roundRect">
              <a:avLst>
                <a:gd fmla="val 150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46"/>
            <p:cNvSpPr/>
            <p:nvPr/>
          </p:nvSpPr>
          <p:spPr>
            <a:xfrm>
              <a:off x="0" y="0"/>
              <a:ext cx="8191500" cy="57300"/>
            </a:xfrm>
            <a:prstGeom prst="roundRect">
              <a:avLst>
                <a:gd fmla="val 50000" name="adj"/>
              </a:avLst>
            </a:prstGeom>
            <a:solidFill>
              <a:srgbClr val="82000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46"/>
            <p:cNvSpPr txBox="1"/>
            <p:nvPr/>
          </p:nvSpPr>
          <p:spPr>
            <a:xfrm>
              <a:off x="228600" y="133350"/>
              <a:ext cx="77343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OVERVIEW &amp; VALUE PROPOSITION</a:t>
              </a:r>
              <a:endParaRPr b="1" sz="9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Scalable High-Performance Computing for Booth Researchers</a:t>
              </a:r>
              <a:endParaRPr b="1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9" name="Google Shape;259;p46"/>
          <p:cNvGrpSpPr/>
          <p:nvPr/>
        </p:nvGrpSpPr>
        <p:grpSpPr>
          <a:xfrm>
            <a:off x="476250" y="1733550"/>
            <a:ext cx="2600400" cy="2552700"/>
            <a:chOff x="0" y="0"/>
            <a:chExt cx="2600400" cy="2552700"/>
          </a:xfrm>
        </p:grpSpPr>
        <p:sp>
          <p:nvSpPr>
            <p:cNvPr id="260" name="Google Shape;260;p46"/>
            <p:cNvSpPr/>
            <p:nvPr/>
          </p:nvSpPr>
          <p:spPr>
            <a:xfrm>
              <a:off x="0" y="0"/>
              <a:ext cx="2600400" cy="2552700"/>
            </a:xfrm>
            <a:prstGeom prst="roundRect">
              <a:avLst>
                <a:gd fmla="val 4477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46"/>
            <p:cNvSpPr txBox="1"/>
            <p:nvPr/>
          </p:nvSpPr>
          <p:spPr>
            <a:xfrm>
              <a:off x="190500" y="190500"/>
              <a:ext cx="2219400" cy="217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COST &amp; ACCESS</a:t>
              </a:r>
              <a:endParaRPr b="1" sz="9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820009"/>
                  </a:solidFill>
                  <a:latin typeface="Arial"/>
                  <a:ea typeface="Arial"/>
                  <a:cs typeface="Arial"/>
                  <a:sym typeface="Arial"/>
                </a:rPr>
                <a:t>Zero Cost Access</a:t>
              </a:r>
              <a:endParaRPr b="1" sz="2000">
                <a:solidFill>
                  <a:srgbClr val="82000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5275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Arial"/>
                <a:buChar char="●"/>
              </a:pPr>
              <a:r>
                <a:rPr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No up-front cost to gain access to compute capacity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5275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Arial"/>
                <a:buChar char="●"/>
              </a:pPr>
              <a:r>
                <a:rPr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No ongoing software license costs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5275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Arial"/>
                <a:buChar char="●"/>
              </a:pPr>
              <a:r>
                <a:rPr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Available to all Booth researchers for research projects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2" name="Google Shape;262;p46"/>
          <p:cNvGrpSpPr/>
          <p:nvPr/>
        </p:nvGrpSpPr>
        <p:grpSpPr>
          <a:xfrm>
            <a:off x="3267075" y="1733550"/>
            <a:ext cx="2600400" cy="2552700"/>
            <a:chOff x="0" y="0"/>
            <a:chExt cx="2600400" cy="2552700"/>
          </a:xfrm>
        </p:grpSpPr>
        <p:sp>
          <p:nvSpPr>
            <p:cNvPr id="263" name="Google Shape;263;p46"/>
            <p:cNvSpPr/>
            <p:nvPr/>
          </p:nvSpPr>
          <p:spPr>
            <a:xfrm>
              <a:off x="0" y="0"/>
              <a:ext cx="2600400" cy="2552700"/>
            </a:xfrm>
            <a:prstGeom prst="roundRect">
              <a:avLst>
                <a:gd fmla="val 4477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46"/>
            <p:cNvSpPr txBox="1"/>
            <p:nvPr/>
          </p:nvSpPr>
          <p:spPr>
            <a:xfrm>
              <a:off x="190500" y="190500"/>
              <a:ext cx="2219400" cy="217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PERFORMANCE</a:t>
              </a:r>
              <a:endParaRPr b="1" sz="9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820009"/>
                  </a:solidFill>
                  <a:latin typeface="Arial"/>
                  <a:ea typeface="Arial"/>
                  <a:cs typeface="Arial"/>
                  <a:sym typeface="Arial"/>
                </a:rPr>
                <a:t>Speed &amp; Scale</a:t>
              </a:r>
              <a:endParaRPr b="1" sz="2000">
                <a:solidFill>
                  <a:srgbClr val="82000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5275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Arial"/>
                <a:buChar char="●"/>
              </a:pPr>
              <a:r>
                <a:rPr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Significantly faster than local laptops or desktops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5275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Arial"/>
                <a:buChar char="●"/>
              </a:pPr>
              <a:r>
                <a:rPr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Access to multicores for parallel processing workflows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5275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Arial"/>
                <a:buChar char="●"/>
              </a:pPr>
              <a:r>
                <a:rPr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Built to efficiently handle large-scale computation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5" name="Google Shape;265;p46"/>
          <p:cNvGrpSpPr/>
          <p:nvPr/>
        </p:nvGrpSpPr>
        <p:grpSpPr>
          <a:xfrm>
            <a:off x="6057900" y="1733550"/>
            <a:ext cx="2610000" cy="2552700"/>
            <a:chOff x="0" y="0"/>
            <a:chExt cx="2610000" cy="2552700"/>
          </a:xfrm>
        </p:grpSpPr>
        <p:sp>
          <p:nvSpPr>
            <p:cNvPr id="266" name="Google Shape;266;p46"/>
            <p:cNvSpPr/>
            <p:nvPr/>
          </p:nvSpPr>
          <p:spPr>
            <a:xfrm>
              <a:off x="0" y="0"/>
              <a:ext cx="2610000" cy="2552700"/>
            </a:xfrm>
            <a:prstGeom prst="roundRect">
              <a:avLst>
                <a:gd fmla="val 4477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46"/>
            <p:cNvSpPr txBox="1"/>
            <p:nvPr/>
          </p:nvSpPr>
          <p:spPr>
            <a:xfrm>
              <a:off x="190500" y="190500"/>
              <a:ext cx="2229000" cy="236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WORKFLOW</a:t>
              </a:r>
              <a:endParaRPr b="1" sz="9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820009"/>
                  </a:solidFill>
                  <a:latin typeface="Arial"/>
                  <a:ea typeface="Arial"/>
                  <a:cs typeface="Arial"/>
                  <a:sym typeface="Arial"/>
                </a:rPr>
                <a:t>Fire &amp; Forget</a:t>
              </a:r>
              <a:endParaRPr b="1" sz="2000">
                <a:solidFill>
                  <a:srgbClr val="82000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5275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Arial"/>
                <a:buChar char="●"/>
              </a:pPr>
              <a:r>
                <a:rPr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Run background jobs without tying up local machines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5275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Arial"/>
                <a:buChar char="●"/>
              </a:pPr>
              <a:r>
                <a:rPr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Output automatically saved to home or project directory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5275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Arial"/>
                <a:buChar char="●"/>
              </a:pPr>
              <a:r>
                <a:rPr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Ideal for executing replication code smoothly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50">
                <a:solidFill>
                  <a:srgbClr val="334155"/>
                </a:solidFill>
              </a:endParaRPr>
            </a:p>
            <a:p>
              <a:pPr indent="-295275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Arial"/>
                <a:buChar char="●"/>
              </a:pPr>
              <a:r>
                <a:rPr lang="en" sz="1050">
                  <a:solidFill>
                    <a:srgbClr val="334155"/>
                  </a:solidFill>
                </a:rPr>
                <a:t>No dependent on internet connection</a:t>
              </a:r>
              <a:endParaRPr sz="1050">
                <a:solidFill>
                  <a:srgbClr val="334155"/>
                </a:solidFill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2" name="Google Shape;272;p47"/>
          <p:cNvCxnSpPr/>
          <p:nvPr/>
        </p:nvCxnSpPr>
        <p:spPr>
          <a:xfrm>
            <a:off x="0" y="4457700"/>
            <a:ext cx="9144000" cy="1200"/>
          </a:xfrm>
          <a:prstGeom prst="straightConnector1">
            <a:avLst/>
          </a:prstGeom>
          <a:noFill/>
          <a:ln cap="flat" cmpd="sng" w="9525">
            <a:solidFill>
              <a:srgbClr val="6E0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PT-Large-Logo-with-Tag-Pos.png" id="273" name="Google Shape;273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91263" y="4552950"/>
            <a:ext cx="1796653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47"/>
          <p:cNvSpPr txBox="1"/>
          <p:nvPr/>
        </p:nvSpPr>
        <p:spPr>
          <a:xfrm>
            <a:off x="549442" y="4662101"/>
            <a:ext cx="466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5" name="Google Shape;275;p47"/>
          <p:cNvGrpSpPr/>
          <p:nvPr/>
        </p:nvGrpSpPr>
        <p:grpSpPr>
          <a:xfrm>
            <a:off x="476250" y="266700"/>
            <a:ext cx="8191500" cy="543000"/>
            <a:chOff x="0" y="0"/>
            <a:chExt cx="8191500" cy="543000"/>
          </a:xfrm>
        </p:grpSpPr>
        <p:sp>
          <p:nvSpPr>
            <p:cNvPr id="276" name="Google Shape;276;p47"/>
            <p:cNvSpPr/>
            <p:nvPr/>
          </p:nvSpPr>
          <p:spPr>
            <a:xfrm>
              <a:off x="0" y="0"/>
              <a:ext cx="8191500" cy="38100"/>
            </a:xfrm>
            <a:prstGeom prst="roundRect">
              <a:avLst>
                <a:gd fmla="val 50000" name="adj"/>
              </a:avLst>
            </a:prstGeom>
            <a:solidFill>
              <a:srgbClr val="82000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77" name="Google Shape;277;p47"/>
            <p:cNvGrpSpPr/>
            <p:nvPr/>
          </p:nvGrpSpPr>
          <p:grpSpPr>
            <a:xfrm>
              <a:off x="0" y="114300"/>
              <a:ext cx="8191500" cy="428700"/>
              <a:chOff x="0" y="0"/>
              <a:chExt cx="8191500" cy="428700"/>
            </a:xfrm>
          </p:grpSpPr>
          <p:sp>
            <p:nvSpPr>
              <p:cNvPr id="278" name="Google Shape;278;p47"/>
              <p:cNvSpPr/>
              <p:nvPr/>
            </p:nvSpPr>
            <p:spPr>
              <a:xfrm>
                <a:off x="0" y="0"/>
                <a:ext cx="8191500" cy="428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p47"/>
              <p:cNvSpPr txBox="1"/>
              <p:nvPr/>
            </p:nvSpPr>
            <p:spPr>
              <a:xfrm>
                <a:off x="0" y="0"/>
                <a:ext cx="81915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2400">
                    <a:solidFill>
                      <a:srgbClr val="820009"/>
                    </a:solidFill>
                    <a:latin typeface="Arial"/>
                    <a:ea typeface="Arial"/>
                    <a:cs typeface="Arial"/>
                    <a:sym typeface="Arial"/>
                  </a:rPr>
                  <a:t>Lightweight Servers for Prototyping</a:t>
                </a:r>
                <a:endParaRPr b="1" sz="2400">
                  <a:solidFill>
                    <a:srgbClr val="82000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80" name="Google Shape;280;p47"/>
          <p:cNvGrpSpPr/>
          <p:nvPr/>
        </p:nvGrpSpPr>
        <p:grpSpPr>
          <a:xfrm>
            <a:off x="476250" y="809625"/>
            <a:ext cx="8191500" cy="762000"/>
            <a:chOff x="0" y="0"/>
            <a:chExt cx="8191500" cy="762000"/>
          </a:xfrm>
        </p:grpSpPr>
        <p:sp>
          <p:nvSpPr>
            <p:cNvPr id="281" name="Google Shape;281;p47"/>
            <p:cNvSpPr/>
            <p:nvPr/>
          </p:nvSpPr>
          <p:spPr>
            <a:xfrm>
              <a:off x="0" y="0"/>
              <a:ext cx="8191500" cy="762000"/>
            </a:xfrm>
            <a:prstGeom prst="roundRect">
              <a:avLst>
                <a:gd fmla="val 150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47"/>
            <p:cNvSpPr/>
            <p:nvPr/>
          </p:nvSpPr>
          <p:spPr>
            <a:xfrm>
              <a:off x="0" y="0"/>
              <a:ext cx="8191500" cy="57300"/>
            </a:xfrm>
            <a:prstGeom prst="roundRect">
              <a:avLst>
                <a:gd fmla="val 50000" name="adj"/>
              </a:avLst>
            </a:prstGeom>
            <a:solidFill>
              <a:srgbClr val="82000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83" name="Google Shape;283;p47"/>
            <p:cNvGrpSpPr/>
            <p:nvPr/>
          </p:nvGrpSpPr>
          <p:grpSpPr>
            <a:xfrm>
              <a:off x="228600" y="133350"/>
              <a:ext cx="7734300" cy="533400"/>
              <a:chOff x="0" y="0"/>
              <a:chExt cx="7734300" cy="533400"/>
            </a:xfrm>
          </p:grpSpPr>
          <p:sp>
            <p:nvSpPr>
              <p:cNvPr id="284" name="Google Shape;284;p47"/>
              <p:cNvSpPr/>
              <p:nvPr/>
            </p:nvSpPr>
            <p:spPr>
              <a:xfrm>
                <a:off x="0" y="0"/>
                <a:ext cx="7734300" cy="5334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" name="Google Shape;285;p47"/>
              <p:cNvSpPr txBox="1"/>
              <p:nvPr/>
            </p:nvSpPr>
            <p:spPr>
              <a:xfrm>
                <a:off x="0" y="0"/>
                <a:ext cx="77343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64748B"/>
                    </a:solidFill>
                    <a:latin typeface="Arial"/>
                    <a:ea typeface="Arial"/>
                    <a:cs typeface="Arial"/>
                    <a:sym typeface="Arial"/>
                  </a:rPr>
                  <a:t>ENVIRONMENT OVERVIEW</a:t>
                </a:r>
                <a:endParaRPr b="1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1" lang="en" sz="1500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rPr>
                  <a:t>Python / R / Julia Environment for Light Tasks</a:t>
                </a:r>
                <a:r>
                  <a:rPr b="1" lang="en">
                    <a:solidFill>
                      <a:srgbClr val="64748B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b="0" lang="en">
                    <a:solidFill>
                      <a:srgbClr val="820009"/>
                    </a:solidFill>
                    <a:latin typeface="Arial"/>
                    <a:ea typeface="Arial"/>
                    <a:cs typeface="Arial"/>
                    <a:sym typeface="Arial"/>
                  </a:rPr>
                  <a:t>(Retiring soon in favor of Open on Demand)</a:t>
                </a:r>
                <a:endParaRPr b="1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86" name="Google Shape;286;p47"/>
          <p:cNvGrpSpPr/>
          <p:nvPr/>
        </p:nvGrpSpPr>
        <p:grpSpPr>
          <a:xfrm>
            <a:off x="476250" y="1733550"/>
            <a:ext cx="2600400" cy="2552700"/>
            <a:chOff x="0" y="0"/>
            <a:chExt cx="2600400" cy="2552700"/>
          </a:xfrm>
        </p:grpSpPr>
        <p:sp>
          <p:nvSpPr>
            <p:cNvPr id="287" name="Google Shape;287;p47"/>
            <p:cNvSpPr/>
            <p:nvPr/>
          </p:nvSpPr>
          <p:spPr>
            <a:xfrm>
              <a:off x="0" y="0"/>
              <a:ext cx="2600400" cy="2552700"/>
            </a:xfrm>
            <a:prstGeom prst="roundRect">
              <a:avLst>
                <a:gd fmla="val 4477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88" name="Google Shape;288;p47"/>
            <p:cNvGrpSpPr/>
            <p:nvPr/>
          </p:nvGrpSpPr>
          <p:grpSpPr>
            <a:xfrm>
              <a:off x="190500" y="190500"/>
              <a:ext cx="2219400" cy="2171700"/>
              <a:chOff x="0" y="0"/>
              <a:chExt cx="2219400" cy="2171700"/>
            </a:xfrm>
          </p:grpSpPr>
          <p:sp>
            <p:nvSpPr>
              <p:cNvPr id="289" name="Google Shape;289;p47"/>
              <p:cNvSpPr/>
              <p:nvPr/>
            </p:nvSpPr>
            <p:spPr>
              <a:xfrm>
                <a:off x="0" y="0"/>
                <a:ext cx="2219400" cy="2171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" name="Google Shape;290;p47"/>
              <p:cNvSpPr txBox="1"/>
              <p:nvPr/>
            </p:nvSpPr>
            <p:spPr>
              <a:xfrm>
                <a:off x="0" y="0"/>
                <a:ext cx="2219400" cy="217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64748B"/>
                    </a:solidFill>
                    <a:latin typeface="Arial"/>
                    <a:ea typeface="Arial"/>
                    <a:cs typeface="Arial"/>
                    <a:sym typeface="Arial"/>
                  </a:rPr>
                  <a:t>LIMITATIONS</a:t>
                </a:r>
                <a:endParaRPr b="1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1" lang="en" sz="2000">
                    <a:solidFill>
                      <a:srgbClr val="820009"/>
                    </a:solidFill>
                    <a:latin typeface="Arial"/>
                    <a:ea typeface="Arial"/>
                    <a:cs typeface="Arial"/>
                    <a:sym typeface="Arial"/>
                  </a:rPr>
                  <a:t>Light Workloads</a:t>
                </a:r>
                <a:endParaRPr b="1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-288925" lvl="0" marL="457200" rtl="0" algn="l">
                  <a:spcBef>
                    <a:spcPts val="1200"/>
                  </a:spcBef>
                  <a:spcAft>
                    <a:spcPts val="0"/>
                  </a:spcAft>
                  <a:buClr>
                    <a:srgbClr val="64748B"/>
                  </a:buClr>
                  <a:buSzPts val="950"/>
                  <a:buFont typeface="Arial"/>
                  <a:buChar char="●"/>
                </a:pPr>
                <a:r>
                  <a:rPr b="0" lang="en" sz="1050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rPr>
                  <a:t>Not suitable for CPU or RAM intensive jobs</a:t>
                </a:r>
                <a:endParaRPr b="1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-288925" lvl="0" marL="457200" rtl="0" algn="l">
                  <a:spcBef>
                    <a:spcPts val="1000"/>
                  </a:spcBef>
                  <a:spcAft>
                    <a:spcPts val="0"/>
                  </a:spcAft>
                  <a:buClr>
                    <a:srgbClr val="64748B"/>
                  </a:buClr>
                  <a:buSzPts val="950"/>
                  <a:buFont typeface="Arial"/>
                  <a:buChar char="●"/>
                </a:pPr>
                <a:r>
                  <a:rPr b="0" lang="en" sz="1050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rPr>
                  <a:t>Not suitable for parallel computing workflows</a:t>
                </a:r>
                <a:endParaRPr b="1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91" name="Google Shape;291;p47"/>
          <p:cNvGrpSpPr/>
          <p:nvPr/>
        </p:nvGrpSpPr>
        <p:grpSpPr>
          <a:xfrm>
            <a:off x="3267075" y="1733550"/>
            <a:ext cx="2600400" cy="2552700"/>
            <a:chOff x="0" y="0"/>
            <a:chExt cx="2600400" cy="2552700"/>
          </a:xfrm>
        </p:grpSpPr>
        <p:sp>
          <p:nvSpPr>
            <p:cNvPr id="292" name="Google Shape;292;p47"/>
            <p:cNvSpPr/>
            <p:nvPr/>
          </p:nvSpPr>
          <p:spPr>
            <a:xfrm>
              <a:off x="0" y="0"/>
              <a:ext cx="2600400" cy="2552700"/>
            </a:xfrm>
            <a:prstGeom prst="roundRect">
              <a:avLst>
                <a:gd fmla="val 4477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93" name="Google Shape;293;p47"/>
            <p:cNvGrpSpPr/>
            <p:nvPr/>
          </p:nvGrpSpPr>
          <p:grpSpPr>
            <a:xfrm>
              <a:off x="190500" y="190500"/>
              <a:ext cx="2219400" cy="2171700"/>
              <a:chOff x="0" y="0"/>
              <a:chExt cx="2219400" cy="2171700"/>
            </a:xfrm>
          </p:grpSpPr>
          <p:sp>
            <p:nvSpPr>
              <p:cNvPr id="294" name="Google Shape;294;p47"/>
              <p:cNvSpPr/>
              <p:nvPr/>
            </p:nvSpPr>
            <p:spPr>
              <a:xfrm>
                <a:off x="0" y="0"/>
                <a:ext cx="2219400" cy="2171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" name="Google Shape;295;p47"/>
              <p:cNvSpPr txBox="1"/>
              <p:nvPr/>
            </p:nvSpPr>
            <p:spPr>
              <a:xfrm>
                <a:off x="0" y="0"/>
                <a:ext cx="2219400" cy="217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64748B"/>
                    </a:solidFill>
                    <a:latin typeface="Arial"/>
                    <a:ea typeface="Arial"/>
                    <a:cs typeface="Arial"/>
                    <a:sym typeface="Arial"/>
                  </a:rPr>
                  <a:t>FEATURES &amp; ACCESS</a:t>
                </a:r>
                <a:endParaRPr b="1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1" lang="en" sz="2000">
                    <a:solidFill>
                      <a:srgbClr val="820009"/>
                    </a:solidFill>
                    <a:latin typeface="Arial"/>
                    <a:ea typeface="Arial"/>
                    <a:cs typeface="Arial"/>
                    <a:sym typeface="Arial"/>
                  </a:rPr>
                  <a:t>Managed Setup</a:t>
                </a:r>
                <a:endParaRPr b="1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-288925" lvl="0" marL="457200" rtl="0" algn="l">
                  <a:spcBef>
                    <a:spcPts val="1200"/>
                  </a:spcBef>
                  <a:spcAft>
                    <a:spcPts val="0"/>
                  </a:spcAft>
                  <a:buClr>
                    <a:srgbClr val="64748B"/>
                  </a:buClr>
                  <a:buSzPts val="950"/>
                  <a:buFont typeface="Arial"/>
                  <a:buChar char="●"/>
                </a:pPr>
                <a:r>
                  <a:rPr b="0" lang="en" sz="1000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rPr>
                  <a:t>Password controlled access via BoothID</a:t>
                </a:r>
                <a:endParaRPr b="1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-288925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64748B"/>
                  </a:buClr>
                  <a:buSzPts val="950"/>
                  <a:buFont typeface="Arial"/>
                  <a:buChar char="●"/>
                </a:pPr>
                <a:r>
                  <a:rPr b="0" lang="en" sz="1000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rPr>
                  <a:t>Administered with common packages</a:t>
                </a:r>
                <a:endParaRPr b="1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-288925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64748B"/>
                  </a:buClr>
                  <a:buSzPts val="950"/>
                  <a:buFont typeface="Arial"/>
                  <a:buChar char="●"/>
                </a:pPr>
                <a:r>
                  <a:rPr b="0" lang="en" sz="1000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rPr>
                  <a:t>Accessible with any browser (except IE)</a:t>
                </a:r>
                <a:endParaRPr b="1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-288925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64748B"/>
                  </a:buClr>
                  <a:buSzPts val="950"/>
                  <a:buFont typeface="Arial"/>
                  <a:buChar char="●"/>
                </a:pPr>
                <a:r>
                  <a:rPr b="0" lang="en" sz="1000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rPr>
                  <a:t>Booth home directory is auto-mounted</a:t>
                </a:r>
                <a:endParaRPr b="1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96" name="Google Shape;296;p47"/>
          <p:cNvGrpSpPr/>
          <p:nvPr/>
        </p:nvGrpSpPr>
        <p:grpSpPr>
          <a:xfrm>
            <a:off x="6057900" y="1733550"/>
            <a:ext cx="2610000" cy="2552700"/>
            <a:chOff x="0" y="0"/>
            <a:chExt cx="2610000" cy="2552700"/>
          </a:xfrm>
        </p:grpSpPr>
        <p:sp>
          <p:nvSpPr>
            <p:cNvPr id="297" name="Google Shape;297;p47"/>
            <p:cNvSpPr/>
            <p:nvPr/>
          </p:nvSpPr>
          <p:spPr>
            <a:xfrm>
              <a:off x="0" y="0"/>
              <a:ext cx="2610000" cy="2552700"/>
            </a:xfrm>
            <a:prstGeom prst="roundRect">
              <a:avLst>
                <a:gd fmla="val 4477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98" name="Google Shape;298;p47"/>
            <p:cNvGrpSpPr/>
            <p:nvPr/>
          </p:nvGrpSpPr>
          <p:grpSpPr>
            <a:xfrm>
              <a:off x="190500" y="190500"/>
              <a:ext cx="2229000" cy="2171700"/>
              <a:chOff x="0" y="0"/>
              <a:chExt cx="2229000" cy="2171700"/>
            </a:xfrm>
          </p:grpSpPr>
          <p:sp>
            <p:nvSpPr>
              <p:cNvPr id="299" name="Google Shape;299;p47"/>
              <p:cNvSpPr/>
              <p:nvPr/>
            </p:nvSpPr>
            <p:spPr>
              <a:xfrm>
                <a:off x="0" y="0"/>
                <a:ext cx="2229000" cy="2171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" name="Google Shape;300;p47"/>
              <p:cNvSpPr txBox="1"/>
              <p:nvPr/>
            </p:nvSpPr>
            <p:spPr>
              <a:xfrm>
                <a:off x="0" y="0"/>
                <a:ext cx="2229000" cy="217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64748B"/>
                    </a:solidFill>
                    <a:latin typeface="Arial"/>
                    <a:ea typeface="Arial"/>
                    <a:cs typeface="Arial"/>
                    <a:sym typeface="Arial"/>
                  </a:rPr>
                  <a:t>SERVER ACCESS</a:t>
                </a:r>
                <a:endParaRPr b="1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1" lang="en" sz="2000">
                    <a:solidFill>
                      <a:srgbClr val="820009"/>
                    </a:solidFill>
                    <a:latin typeface="Arial"/>
                    <a:ea typeface="Arial"/>
                    <a:cs typeface="Arial"/>
                    <a:sym typeface="Arial"/>
                  </a:rPr>
                  <a:t>Web URLs</a:t>
                </a:r>
                <a:endParaRPr b="1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rPr>
                  <a:t>Jupyter (Python, Julia):</a:t>
                </a:r>
                <a:endParaRPr b="1" sz="1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lang="en" sz="950" u="sng">
                    <a:solidFill>
                      <a:schemeClr val="hlink"/>
                    </a:solidFill>
                    <a:hlinkClick r:id="rId4"/>
                  </a:rPr>
                  <a:t>jupyter.chicagobooth.edu</a:t>
                </a:r>
                <a:endParaRPr b="1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rPr>
                  <a:t>RStudio (R/RStudio):</a:t>
                </a:r>
                <a:endParaRPr b="1" sz="1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lang="en" sz="950" u="sng">
                    <a:solidFill>
                      <a:schemeClr val="hlink"/>
                    </a:solidFill>
                    <a:hlinkClick r:id="rId5"/>
                  </a:rPr>
                  <a:t>rstudio-research.chicagobooth.edu</a:t>
                </a:r>
                <a:endParaRPr b="1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6" name="Google Shape;306;p48"/>
          <p:cNvCxnSpPr/>
          <p:nvPr/>
        </p:nvCxnSpPr>
        <p:spPr>
          <a:xfrm>
            <a:off x="0" y="4457700"/>
            <a:ext cx="9144000" cy="1200"/>
          </a:xfrm>
          <a:prstGeom prst="straightConnector1">
            <a:avLst/>
          </a:prstGeom>
          <a:noFill/>
          <a:ln cap="flat" cmpd="sng" w="9525">
            <a:solidFill>
              <a:srgbClr val="6E0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PT-Large-Logo-with-Tag-Pos.png" id="307" name="Google Shape;307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91263" y="4552950"/>
            <a:ext cx="1796653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48"/>
          <p:cNvSpPr txBox="1"/>
          <p:nvPr/>
        </p:nvSpPr>
        <p:spPr>
          <a:xfrm>
            <a:off x="549442" y="4662101"/>
            <a:ext cx="466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9" name="Google Shape;309;p48"/>
          <p:cNvGrpSpPr/>
          <p:nvPr/>
        </p:nvGrpSpPr>
        <p:grpSpPr>
          <a:xfrm>
            <a:off x="476250" y="266700"/>
            <a:ext cx="8191500" cy="543000"/>
            <a:chOff x="0" y="0"/>
            <a:chExt cx="8191500" cy="543000"/>
          </a:xfrm>
        </p:grpSpPr>
        <p:sp>
          <p:nvSpPr>
            <p:cNvPr id="310" name="Google Shape;310;p48"/>
            <p:cNvSpPr/>
            <p:nvPr/>
          </p:nvSpPr>
          <p:spPr>
            <a:xfrm>
              <a:off x="0" y="0"/>
              <a:ext cx="8191500" cy="38100"/>
            </a:xfrm>
            <a:prstGeom prst="roundRect">
              <a:avLst>
                <a:gd fmla="val 50000" name="adj"/>
              </a:avLst>
            </a:prstGeom>
            <a:solidFill>
              <a:srgbClr val="82000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48"/>
            <p:cNvSpPr txBox="1"/>
            <p:nvPr/>
          </p:nvSpPr>
          <p:spPr>
            <a:xfrm>
              <a:off x="0" y="114300"/>
              <a:ext cx="8191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600">
                  <a:solidFill>
                    <a:srgbClr val="820009"/>
                  </a:solidFill>
                  <a:latin typeface="Arial"/>
                  <a:ea typeface="Arial"/>
                  <a:cs typeface="Arial"/>
                  <a:sym typeface="Arial"/>
                </a:rPr>
                <a:t>Storage Overview</a:t>
              </a:r>
              <a:endParaRPr b="1" sz="2600">
                <a:solidFill>
                  <a:srgbClr val="82000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2" name="Google Shape;312;p48"/>
          <p:cNvGrpSpPr/>
          <p:nvPr/>
        </p:nvGrpSpPr>
        <p:grpSpPr>
          <a:xfrm>
            <a:off x="476250" y="809625"/>
            <a:ext cx="8191500" cy="762000"/>
            <a:chOff x="0" y="0"/>
            <a:chExt cx="8191500" cy="762000"/>
          </a:xfrm>
        </p:grpSpPr>
        <p:sp>
          <p:nvSpPr>
            <p:cNvPr id="313" name="Google Shape;313;p48"/>
            <p:cNvSpPr/>
            <p:nvPr/>
          </p:nvSpPr>
          <p:spPr>
            <a:xfrm>
              <a:off x="0" y="0"/>
              <a:ext cx="8191500" cy="762000"/>
            </a:xfrm>
            <a:prstGeom prst="roundRect">
              <a:avLst>
                <a:gd fmla="val 150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48"/>
            <p:cNvSpPr/>
            <p:nvPr/>
          </p:nvSpPr>
          <p:spPr>
            <a:xfrm>
              <a:off x="0" y="0"/>
              <a:ext cx="8191500" cy="57300"/>
            </a:xfrm>
            <a:prstGeom prst="roundRect">
              <a:avLst>
                <a:gd fmla="val 50000" name="adj"/>
              </a:avLst>
            </a:prstGeom>
            <a:solidFill>
              <a:srgbClr val="82000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48"/>
            <p:cNvSpPr txBox="1"/>
            <p:nvPr/>
          </p:nvSpPr>
          <p:spPr>
            <a:xfrm>
              <a:off x="228600" y="133350"/>
              <a:ext cx="77343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CENTRALIZED STORAGE ARCHITECTURE</a:t>
              </a:r>
              <a:endParaRPr b="1" sz="9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Comparison of Available Storage Systems, Locations &amp; Quotas</a:t>
              </a:r>
              <a:endParaRPr b="1" sz="15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6" name="Google Shape;316;p48"/>
          <p:cNvGrpSpPr/>
          <p:nvPr/>
        </p:nvGrpSpPr>
        <p:grpSpPr>
          <a:xfrm>
            <a:off x="476250" y="1733550"/>
            <a:ext cx="2600400" cy="2552700"/>
            <a:chOff x="0" y="0"/>
            <a:chExt cx="2600400" cy="2552700"/>
          </a:xfrm>
        </p:grpSpPr>
        <p:sp>
          <p:nvSpPr>
            <p:cNvPr id="317" name="Google Shape;317;p48"/>
            <p:cNvSpPr/>
            <p:nvPr/>
          </p:nvSpPr>
          <p:spPr>
            <a:xfrm>
              <a:off x="0" y="0"/>
              <a:ext cx="2600400" cy="2552700"/>
            </a:xfrm>
            <a:prstGeom prst="roundRect">
              <a:avLst>
                <a:gd fmla="val 4477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48"/>
            <p:cNvSpPr txBox="1"/>
            <p:nvPr/>
          </p:nvSpPr>
          <p:spPr>
            <a:xfrm>
              <a:off x="190500" y="190500"/>
              <a:ext cx="2219400" cy="217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PERSONAL STORAGE</a:t>
              </a:r>
              <a:endParaRPr b="1" sz="9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820009"/>
                  </a:solidFill>
                  <a:latin typeface="Arial"/>
                  <a:ea typeface="Arial"/>
                  <a:cs typeface="Arial"/>
                  <a:sym typeface="Arial"/>
                </a:rPr>
                <a:t>NFS Homedir</a:t>
              </a:r>
              <a:endParaRPr b="1" sz="2000">
                <a:solidFill>
                  <a:srgbClr val="82000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Location:</a:t>
              </a:r>
              <a:r>
                <a:rPr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" sz="950">
                  <a:solidFill>
                    <a:srgbClr val="820009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/home/&lt;boothID&gt;/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Size:</a:t>
              </a:r>
              <a:r>
                <a:rPr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14GB for Staff</a:t>
              </a:r>
              <a:r>
                <a:rPr lang="en" sz="1050">
                  <a:solidFill>
                    <a:srgbClr val="334155"/>
                  </a:solidFill>
                </a:rPr>
                <a:t> and 1</a:t>
              </a:r>
              <a:r>
                <a:rPr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00GB for PhD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Duration:</a:t>
              </a:r>
              <a:r>
                <a:rPr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Long term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Quota:</a:t>
              </a:r>
              <a:r>
                <a:rPr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Yes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Auto-mounted:</a:t>
              </a:r>
              <a:r>
                <a:rPr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Yes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50">
                <a:solidFill>
                  <a:srgbClr val="334155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05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Mounted as P:/ drive</a:t>
              </a:r>
              <a:r>
                <a:rPr b="1" lang="en" sz="105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:</a:t>
              </a:r>
              <a:r>
                <a:rPr lang="en" sz="1050">
                  <a:solidFill>
                    <a:srgbClr val="334155"/>
                  </a:solidFill>
                </a:rPr>
                <a:t> Windows machine</a:t>
              </a:r>
              <a:endParaRPr sz="1050">
                <a:solidFill>
                  <a:srgbClr val="334155"/>
                </a:solidFill>
              </a:endParaRPr>
            </a:p>
          </p:txBody>
        </p:sp>
      </p:grpSp>
      <p:grpSp>
        <p:nvGrpSpPr>
          <p:cNvPr id="319" name="Google Shape;319;p48"/>
          <p:cNvGrpSpPr/>
          <p:nvPr/>
        </p:nvGrpSpPr>
        <p:grpSpPr>
          <a:xfrm>
            <a:off x="3267075" y="1733550"/>
            <a:ext cx="2600400" cy="2552700"/>
            <a:chOff x="0" y="0"/>
            <a:chExt cx="2600400" cy="2552700"/>
          </a:xfrm>
        </p:grpSpPr>
        <p:sp>
          <p:nvSpPr>
            <p:cNvPr id="320" name="Google Shape;320;p48"/>
            <p:cNvSpPr/>
            <p:nvPr/>
          </p:nvSpPr>
          <p:spPr>
            <a:xfrm>
              <a:off x="0" y="0"/>
              <a:ext cx="2600400" cy="2552700"/>
            </a:xfrm>
            <a:prstGeom prst="roundRect">
              <a:avLst>
                <a:gd fmla="val 4477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48"/>
            <p:cNvSpPr txBox="1"/>
            <p:nvPr/>
          </p:nvSpPr>
          <p:spPr>
            <a:xfrm>
              <a:off x="190500" y="190500"/>
              <a:ext cx="2219400" cy="236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TEAM &amp; PROJECT STORAGE</a:t>
              </a:r>
              <a:endParaRPr b="1" sz="9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820009"/>
                  </a:solidFill>
                  <a:latin typeface="Arial"/>
                  <a:ea typeface="Arial"/>
                  <a:cs typeface="Arial"/>
                  <a:sym typeface="Arial"/>
                </a:rPr>
                <a:t>NFS Project share</a:t>
              </a:r>
              <a:endParaRPr b="1" sz="2000">
                <a:solidFill>
                  <a:srgbClr val="82000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Location:</a:t>
              </a:r>
              <a:r>
                <a:rPr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" sz="950">
                  <a:solidFill>
                    <a:srgbClr val="820009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/project/&lt;projectName&gt;/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Size:</a:t>
              </a:r>
              <a:r>
                <a:rPr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At least 1TB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Duration:</a:t>
              </a:r>
              <a:r>
                <a:rPr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Long term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Quota:</a:t>
              </a:r>
              <a:r>
                <a:rPr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$1000/TB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Auto-mounted:</a:t>
              </a:r>
              <a:r>
                <a:rPr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Yes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50">
                <a:solidFill>
                  <a:srgbClr val="334155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334155"/>
                  </a:solidFill>
                </a:rPr>
                <a:t>Can be mounted on local machine: Y</a:t>
              </a:r>
              <a:r>
                <a:rPr lang="en" sz="1050">
                  <a:solidFill>
                    <a:srgbClr val="334155"/>
                  </a:solidFill>
                </a:rPr>
                <a:t>es</a:t>
              </a:r>
              <a:endParaRPr sz="1050">
                <a:solidFill>
                  <a:srgbClr val="334155"/>
                </a:solidFill>
              </a:endParaRPr>
            </a:p>
          </p:txBody>
        </p:sp>
      </p:grpSp>
      <p:grpSp>
        <p:nvGrpSpPr>
          <p:cNvPr id="322" name="Google Shape;322;p48"/>
          <p:cNvGrpSpPr/>
          <p:nvPr/>
        </p:nvGrpSpPr>
        <p:grpSpPr>
          <a:xfrm>
            <a:off x="6057900" y="1733550"/>
            <a:ext cx="2610000" cy="2552700"/>
            <a:chOff x="0" y="0"/>
            <a:chExt cx="2610000" cy="2552700"/>
          </a:xfrm>
        </p:grpSpPr>
        <p:sp>
          <p:nvSpPr>
            <p:cNvPr id="323" name="Google Shape;323;p48"/>
            <p:cNvSpPr/>
            <p:nvPr/>
          </p:nvSpPr>
          <p:spPr>
            <a:xfrm>
              <a:off x="0" y="0"/>
              <a:ext cx="2610000" cy="2552700"/>
            </a:xfrm>
            <a:prstGeom prst="roundRect">
              <a:avLst>
                <a:gd fmla="val 4477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48"/>
            <p:cNvSpPr txBox="1"/>
            <p:nvPr/>
          </p:nvSpPr>
          <p:spPr>
            <a:xfrm>
              <a:off x="190500" y="190500"/>
              <a:ext cx="2229000" cy="217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HIGH-SPEED SCRATCH</a:t>
              </a:r>
              <a:endParaRPr b="1" sz="9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820009"/>
                  </a:solidFill>
                  <a:latin typeface="Arial"/>
                  <a:ea typeface="Arial"/>
                  <a:cs typeface="Arial"/>
                  <a:sym typeface="Arial"/>
                </a:rPr>
                <a:t>Scratch NFS</a:t>
              </a:r>
              <a:endParaRPr b="1" sz="2000">
                <a:solidFill>
                  <a:srgbClr val="82000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Target:</a:t>
              </a:r>
              <a:r>
                <a:rPr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For Mercury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Location:</a:t>
              </a:r>
              <a:r>
                <a:rPr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" sz="950">
                  <a:solidFill>
                    <a:srgbClr val="820009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/scratch/&lt;boothID&gt;/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Size:</a:t>
              </a:r>
              <a:r>
                <a:rPr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6 TB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Duration:</a:t>
              </a:r>
              <a:r>
                <a:rPr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Temporary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Quota:</a:t>
              </a:r>
              <a:r>
                <a:rPr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No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9" name="Google Shape;329;p49"/>
          <p:cNvCxnSpPr/>
          <p:nvPr/>
        </p:nvCxnSpPr>
        <p:spPr>
          <a:xfrm>
            <a:off x="0" y="4457700"/>
            <a:ext cx="9144000" cy="1200"/>
          </a:xfrm>
          <a:prstGeom prst="straightConnector1">
            <a:avLst/>
          </a:prstGeom>
          <a:noFill/>
          <a:ln cap="flat" cmpd="sng" w="9525">
            <a:solidFill>
              <a:srgbClr val="6E0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PT-Large-Logo-with-Tag-Pos.png" id="330" name="Google Shape;330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91263" y="4552950"/>
            <a:ext cx="1796653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49"/>
          <p:cNvSpPr txBox="1"/>
          <p:nvPr/>
        </p:nvSpPr>
        <p:spPr>
          <a:xfrm>
            <a:off x="549442" y="4662101"/>
            <a:ext cx="466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2" name="Google Shape;332;p49"/>
          <p:cNvGrpSpPr/>
          <p:nvPr/>
        </p:nvGrpSpPr>
        <p:grpSpPr>
          <a:xfrm>
            <a:off x="476250" y="228600"/>
            <a:ext cx="8191500" cy="523950"/>
            <a:chOff x="0" y="0"/>
            <a:chExt cx="8191500" cy="523950"/>
          </a:xfrm>
        </p:grpSpPr>
        <p:sp>
          <p:nvSpPr>
            <p:cNvPr id="333" name="Google Shape;333;p49"/>
            <p:cNvSpPr/>
            <p:nvPr/>
          </p:nvSpPr>
          <p:spPr>
            <a:xfrm>
              <a:off x="0" y="0"/>
              <a:ext cx="8191500" cy="38100"/>
            </a:xfrm>
            <a:prstGeom prst="roundRect">
              <a:avLst>
                <a:gd fmla="val 50000" name="adj"/>
              </a:avLst>
            </a:prstGeom>
            <a:solidFill>
              <a:srgbClr val="82000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49"/>
            <p:cNvSpPr txBox="1"/>
            <p:nvPr/>
          </p:nvSpPr>
          <p:spPr>
            <a:xfrm>
              <a:off x="0" y="95250"/>
              <a:ext cx="8191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600">
                  <a:solidFill>
                    <a:srgbClr val="820009"/>
                  </a:solidFill>
                  <a:latin typeface="Arial"/>
                  <a:ea typeface="Arial"/>
                  <a:cs typeface="Arial"/>
                  <a:sym typeface="Arial"/>
                </a:rPr>
                <a:t>Storage: Booth Home Directories</a:t>
              </a:r>
              <a:endParaRPr b="1" sz="2600">
                <a:solidFill>
                  <a:srgbClr val="82000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5" name="Google Shape;335;p49"/>
          <p:cNvGrpSpPr/>
          <p:nvPr/>
        </p:nvGrpSpPr>
        <p:grpSpPr>
          <a:xfrm>
            <a:off x="476250" y="809625"/>
            <a:ext cx="3952800" cy="3476700"/>
            <a:chOff x="0" y="0"/>
            <a:chExt cx="3952800" cy="3476700"/>
          </a:xfrm>
        </p:grpSpPr>
        <p:sp>
          <p:nvSpPr>
            <p:cNvPr id="336" name="Google Shape;336;p49"/>
            <p:cNvSpPr/>
            <p:nvPr/>
          </p:nvSpPr>
          <p:spPr>
            <a:xfrm>
              <a:off x="0" y="0"/>
              <a:ext cx="3952800" cy="3476700"/>
            </a:xfrm>
            <a:prstGeom prst="roundRect">
              <a:avLst>
                <a:gd fmla="val 3287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49"/>
            <p:cNvSpPr txBox="1"/>
            <p:nvPr/>
          </p:nvSpPr>
          <p:spPr>
            <a:xfrm>
              <a:off x="228600" y="190500"/>
              <a:ext cx="3495600" cy="309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QUOTAS &amp; CAPACITY</a:t>
              </a:r>
              <a:endParaRPr b="1" sz="9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820009"/>
                  </a:solidFill>
                  <a:latin typeface="Arial"/>
                  <a:ea typeface="Arial"/>
                  <a:cs typeface="Arial"/>
                  <a:sym typeface="Arial"/>
                </a:rPr>
                <a:t>Storage Allocation</a:t>
              </a:r>
              <a:endParaRPr b="1" sz="2000">
                <a:solidFill>
                  <a:srgbClr val="82000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Provisioned based on affiliation:</a:t>
              </a:r>
              <a:endParaRPr b="1" sz="11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5275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Arial"/>
                <a:buChar char="●"/>
              </a:pPr>
              <a:r>
                <a:rPr b="1" lang="en" sz="105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14 GB:</a:t>
              </a:r>
              <a:r>
                <a:rPr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Staff (including RPs) and Faculty Collaborators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5275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Arial"/>
                <a:buChar char="●"/>
              </a:pPr>
              <a:r>
                <a:rPr b="1" lang="en" sz="105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100 GB:</a:t>
              </a:r>
              <a:r>
                <a:rPr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PhDs and Faculty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5275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Arial"/>
                <a:buChar char="●"/>
              </a:pPr>
              <a:r>
                <a:rPr b="1" lang="en" sz="105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Fixed Limit:</a:t>
              </a:r>
              <a:r>
                <a:rPr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Size cannot be increased (use PI project share instead)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5275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Arial"/>
                <a:buChar char="●"/>
              </a:pPr>
              <a:r>
                <a:rPr b="1" lang="en" sz="1050">
                  <a:solidFill>
                    <a:srgbClr val="820009"/>
                  </a:solidFill>
                  <a:latin typeface="Arial"/>
                  <a:ea typeface="Arial"/>
                  <a:cs typeface="Arial"/>
                  <a:sym typeface="Arial"/>
                </a:rPr>
                <a:t>Quota Warning:</a:t>
              </a:r>
              <a:r>
                <a:rPr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Keep an eye on home directory space. If full, submitted jobs will not run! Space is visible when logging into Mercury.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8" name="Google Shape;338;p49"/>
          <p:cNvGrpSpPr/>
          <p:nvPr/>
        </p:nvGrpSpPr>
        <p:grpSpPr>
          <a:xfrm>
            <a:off x="4714875" y="809625"/>
            <a:ext cx="3952800" cy="3476700"/>
            <a:chOff x="0" y="0"/>
            <a:chExt cx="3952800" cy="3476700"/>
          </a:xfrm>
        </p:grpSpPr>
        <p:sp>
          <p:nvSpPr>
            <p:cNvPr id="339" name="Google Shape;339;p49"/>
            <p:cNvSpPr/>
            <p:nvPr/>
          </p:nvSpPr>
          <p:spPr>
            <a:xfrm>
              <a:off x="0" y="0"/>
              <a:ext cx="3952800" cy="3476700"/>
            </a:xfrm>
            <a:prstGeom prst="roundRect">
              <a:avLst>
                <a:gd fmla="val 3287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49"/>
            <p:cNvSpPr txBox="1"/>
            <p:nvPr/>
          </p:nvSpPr>
          <p:spPr>
            <a:xfrm>
              <a:off x="228600" y="190500"/>
              <a:ext cx="3495600" cy="309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DIRECTORY FEATURES</a:t>
              </a:r>
              <a:endParaRPr b="1" sz="9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820009"/>
                  </a:solidFill>
                  <a:latin typeface="Arial"/>
                  <a:ea typeface="Arial"/>
                  <a:cs typeface="Arial"/>
                  <a:sym typeface="Arial"/>
                </a:rPr>
                <a:t>Access &amp; Security</a:t>
              </a:r>
              <a:endParaRPr b="1" sz="2000">
                <a:solidFill>
                  <a:srgbClr val="82000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Key attributes of your home directory:</a:t>
              </a:r>
              <a:endParaRPr b="1" sz="11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5275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Arial"/>
                <a:buChar char="●"/>
              </a:pPr>
              <a:r>
                <a:rPr b="1" lang="en" sz="105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Secured:</a:t>
              </a:r>
              <a:r>
                <a:rPr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Access is strictly restricted so that ONLY you can access it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5275" lvl="0" marL="457200" rtl="0" algn="l">
                <a:spcBef>
                  <a:spcPts val="100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Arial"/>
                <a:buChar char="●"/>
              </a:pPr>
              <a:r>
                <a:rPr b="1" lang="en" sz="105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Auto-Mounted:</a:t>
              </a:r>
              <a:r>
                <a:rPr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Automatically mounted to any Booth Linux resource you access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5275" lvl="0" marL="457200" rtl="0" algn="l">
                <a:spcBef>
                  <a:spcPts val="100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Arial"/>
                <a:buChar char="●"/>
              </a:pPr>
              <a:r>
                <a:rPr b="1" lang="en" sz="105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Backed Up:</a:t>
              </a:r>
              <a:r>
                <a:rPr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Automatically backed up with 30 days of daily snapshots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5275" lvl="0" marL="457200" rtl="0" algn="l">
                <a:spcBef>
                  <a:spcPts val="100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Arial"/>
                <a:buChar char="●"/>
              </a:pPr>
              <a:r>
                <a:rPr b="1" lang="en" sz="105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Desktop Drive:</a:t>
              </a:r>
              <a:r>
                <a:rPr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Commonly mounted as P:/ drive on Window</a:t>
              </a:r>
              <a:r>
                <a:rPr lang="en" sz="1050">
                  <a:solidFill>
                    <a:srgbClr val="334155"/>
                  </a:solidFill>
                </a:rPr>
                <a:t>s </a:t>
              </a:r>
              <a:r>
                <a:rPr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laptops for Staff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5" name="Google Shape;345;p50"/>
          <p:cNvCxnSpPr/>
          <p:nvPr/>
        </p:nvCxnSpPr>
        <p:spPr>
          <a:xfrm>
            <a:off x="0" y="4457700"/>
            <a:ext cx="9144000" cy="1200"/>
          </a:xfrm>
          <a:prstGeom prst="straightConnector1">
            <a:avLst/>
          </a:prstGeom>
          <a:noFill/>
          <a:ln cap="flat" cmpd="sng" w="9525">
            <a:solidFill>
              <a:srgbClr val="6E0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PT-Large-Logo-with-Tag-Pos.png" id="346" name="Google Shape;346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91263" y="4552950"/>
            <a:ext cx="1796653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50"/>
          <p:cNvSpPr txBox="1"/>
          <p:nvPr/>
        </p:nvSpPr>
        <p:spPr>
          <a:xfrm>
            <a:off x="549442" y="4662101"/>
            <a:ext cx="466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8" name="Google Shape;348;p50"/>
          <p:cNvGrpSpPr/>
          <p:nvPr/>
        </p:nvGrpSpPr>
        <p:grpSpPr>
          <a:xfrm>
            <a:off x="476250" y="228600"/>
            <a:ext cx="8191500" cy="523950"/>
            <a:chOff x="0" y="0"/>
            <a:chExt cx="8191500" cy="523950"/>
          </a:xfrm>
        </p:grpSpPr>
        <p:sp>
          <p:nvSpPr>
            <p:cNvPr id="349" name="Google Shape;349;p50"/>
            <p:cNvSpPr/>
            <p:nvPr/>
          </p:nvSpPr>
          <p:spPr>
            <a:xfrm>
              <a:off x="0" y="0"/>
              <a:ext cx="8191500" cy="38100"/>
            </a:xfrm>
            <a:prstGeom prst="roundRect">
              <a:avLst>
                <a:gd fmla="val 50000" name="adj"/>
              </a:avLst>
            </a:prstGeom>
            <a:solidFill>
              <a:srgbClr val="82000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50" name="Google Shape;350;p50"/>
            <p:cNvGrpSpPr/>
            <p:nvPr/>
          </p:nvGrpSpPr>
          <p:grpSpPr>
            <a:xfrm>
              <a:off x="0" y="95250"/>
              <a:ext cx="8191500" cy="428700"/>
              <a:chOff x="0" y="0"/>
              <a:chExt cx="8191500" cy="428700"/>
            </a:xfrm>
          </p:grpSpPr>
          <p:sp>
            <p:nvSpPr>
              <p:cNvPr id="351" name="Google Shape;351;p50"/>
              <p:cNvSpPr/>
              <p:nvPr/>
            </p:nvSpPr>
            <p:spPr>
              <a:xfrm>
                <a:off x="0" y="0"/>
                <a:ext cx="8191500" cy="428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" name="Google Shape;352;p50"/>
              <p:cNvSpPr txBox="1"/>
              <p:nvPr/>
            </p:nvSpPr>
            <p:spPr>
              <a:xfrm>
                <a:off x="0" y="0"/>
                <a:ext cx="81915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2600">
                    <a:solidFill>
                      <a:srgbClr val="820009"/>
                    </a:solidFill>
                    <a:latin typeface="Arial"/>
                    <a:ea typeface="Arial"/>
                    <a:cs typeface="Arial"/>
                    <a:sym typeface="Arial"/>
                  </a:rPr>
                  <a:t>Storage: Project Shares</a:t>
                </a:r>
                <a:endParaRPr b="1" sz="2600">
                  <a:solidFill>
                    <a:srgbClr val="82000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53" name="Google Shape;353;p50"/>
          <p:cNvGrpSpPr/>
          <p:nvPr/>
        </p:nvGrpSpPr>
        <p:grpSpPr>
          <a:xfrm>
            <a:off x="476250" y="809625"/>
            <a:ext cx="3952800" cy="3476700"/>
            <a:chOff x="0" y="0"/>
            <a:chExt cx="3952800" cy="3476700"/>
          </a:xfrm>
        </p:grpSpPr>
        <p:sp>
          <p:nvSpPr>
            <p:cNvPr id="354" name="Google Shape;354;p50"/>
            <p:cNvSpPr/>
            <p:nvPr/>
          </p:nvSpPr>
          <p:spPr>
            <a:xfrm>
              <a:off x="0" y="0"/>
              <a:ext cx="3952800" cy="3476700"/>
            </a:xfrm>
            <a:prstGeom prst="roundRect">
              <a:avLst>
                <a:gd fmla="val 3287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55" name="Google Shape;355;p50"/>
            <p:cNvGrpSpPr/>
            <p:nvPr/>
          </p:nvGrpSpPr>
          <p:grpSpPr>
            <a:xfrm>
              <a:off x="228600" y="190500"/>
              <a:ext cx="3495600" cy="3095700"/>
              <a:chOff x="0" y="0"/>
              <a:chExt cx="3495600" cy="3095700"/>
            </a:xfrm>
          </p:grpSpPr>
          <p:sp>
            <p:nvSpPr>
              <p:cNvPr id="356" name="Google Shape;356;p50"/>
              <p:cNvSpPr/>
              <p:nvPr/>
            </p:nvSpPr>
            <p:spPr>
              <a:xfrm>
                <a:off x="0" y="0"/>
                <a:ext cx="3495600" cy="3095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" name="Google Shape;357;p50"/>
              <p:cNvSpPr txBox="1"/>
              <p:nvPr/>
            </p:nvSpPr>
            <p:spPr>
              <a:xfrm>
                <a:off x="0" y="0"/>
                <a:ext cx="3495600" cy="309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64748B"/>
                    </a:solidFill>
                    <a:latin typeface="Arial"/>
                    <a:ea typeface="Arial"/>
                    <a:cs typeface="Arial"/>
                    <a:sym typeface="Arial"/>
                  </a:rPr>
                  <a:t>CAPACITY &amp; ACCESS</a:t>
                </a:r>
                <a:endParaRPr b="1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1" lang="en" sz="2000">
                    <a:solidFill>
                      <a:srgbClr val="820009"/>
                    </a:solidFill>
                    <a:latin typeface="Arial"/>
                    <a:ea typeface="Arial"/>
                    <a:cs typeface="Arial"/>
                    <a:sym typeface="Arial"/>
                  </a:rPr>
                  <a:t>Project Shares</a:t>
                </a:r>
                <a:endParaRPr b="1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100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rPr>
                  <a:t>Shared multi-user research storage:</a:t>
                </a:r>
                <a:endParaRPr b="1" sz="11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-288925" lvl="0" marL="457200" rtl="0" algn="l">
                  <a:spcBef>
                    <a:spcPts val="800"/>
                  </a:spcBef>
                  <a:spcAft>
                    <a:spcPts val="0"/>
                  </a:spcAft>
                  <a:buClr>
                    <a:srgbClr val="64748B"/>
                  </a:buClr>
                  <a:buSzPts val="950"/>
                  <a:buFont typeface="Arial"/>
                  <a:buChar char="●"/>
                </a:pPr>
                <a:r>
                  <a:rPr b="1" lang="en" sz="1000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rPr>
                  <a:t>Capacity:</a:t>
                </a:r>
                <a:r>
                  <a:rPr b="1" lang="en" sz="950">
                    <a:solidFill>
                      <a:srgbClr val="64748B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b="0" lang="en" sz="1000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rPr>
                  <a:t>Shared storage (at least 1 TB) for research teams.</a:t>
                </a:r>
                <a:endParaRPr b="1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-288925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64748B"/>
                  </a:buClr>
                  <a:buSzPts val="950"/>
                  <a:buFont typeface="Arial"/>
                  <a:buChar char="●"/>
                </a:pPr>
                <a:r>
                  <a:rPr b="1" lang="en" sz="1000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rPr>
                  <a:t>Approval:</a:t>
                </a:r>
                <a:r>
                  <a:rPr b="1" lang="en" sz="950">
                    <a:solidFill>
                      <a:srgbClr val="64748B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b="0" lang="en" sz="1000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rPr>
                  <a:t>Requires PI or Booth center approval.</a:t>
                </a:r>
                <a:endParaRPr b="1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-288925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64748B"/>
                  </a:buClr>
                  <a:buSzPts val="950"/>
                  <a:buFont typeface="Arial"/>
                  <a:buChar char="●"/>
                </a:pPr>
                <a:r>
                  <a:rPr b="1" lang="en" sz="1000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rPr>
                  <a:t>Compatibility:</a:t>
                </a:r>
                <a:r>
                  <a:rPr b="1" lang="en" sz="950">
                    <a:solidFill>
                      <a:srgbClr val="64748B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b="0" lang="en" sz="1000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rPr>
                  <a:t>Windows, Mac &amp; Linux using Booth credentials.</a:t>
                </a:r>
                <a:endParaRPr b="1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-288925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64748B"/>
                  </a:buClr>
                  <a:buSzPts val="950"/>
                  <a:buFont typeface="Arial"/>
                  <a:buChar char="●"/>
                </a:pPr>
                <a:r>
                  <a:rPr b="1" lang="en" sz="1000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rPr>
                  <a:t>Mount Points:</a:t>
                </a:r>
                <a:r>
                  <a:rPr b="1" lang="en" sz="950">
                    <a:solidFill>
                      <a:srgbClr val="64748B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b="0" lang="en" sz="1000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rPr>
                  <a:t>Available on Mercury</a:t>
                </a:r>
                <a:r>
                  <a:rPr lang="en" sz="1000">
                    <a:solidFill>
                      <a:srgbClr val="334155"/>
                    </a:solidFill>
                  </a:rPr>
                  <a:t> </a:t>
                </a:r>
                <a:r>
                  <a:rPr b="0" lang="en" sz="1000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rPr>
                  <a:t> and Vulcan.</a:t>
                </a:r>
                <a:endParaRPr b="1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-288925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64748B"/>
                  </a:buClr>
                  <a:buSzPts val="950"/>
                  <a:buFont typeface="Arial"/>
                  <a:buChar char="●"/>
                </a:pPr>
                <a:r>
                  <a:rPr b="1" lang="en" sz="1000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rPr>
                  <a:t>Backups:</a:t>
                </a:r>
                <a:r>
                  <a:rPr b="1" lang="en" sz="950">
                    <a:solidFill>
                      <a:srgbClr val="64748B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b="0" lang="en" sz="900">
                    <a:solidFill>
                      <a:srgbClr val="820009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cd /project/&lt;project_name&gt;/.snapshot</a:t>
                </a:r>
                <a:endParaRPr b="1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80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rPr>
                  <a:t>Request Access (PI Request):</a:t>
                </a:r>
                <a:endParaRPr b="1" sz="95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0" lang="en" sz="850" u="sng">
                    <a:solidFill>
                      <a:srgbClr val="820009"/>
                    </a:solidFill>
                    <a:latin typeface="Arial"/>
                    <a:ea typeface="Arial"/>
                    <a:cs typeface="Arial"/>
                    <a:sym typeface="Arial"/>
                    <a:hlinkClick r:id="rId4">
                      <a:extLst>
                        <a:ext uri="{A12FA001-AC4F-418D-AE19-62706E023703}">
                          <ahyp:hlinkClr val="tx"/>
                        </a:ext>
                      </a:extLst>
                    </a:hlinkClick>
                  </a:rPr>
                  <a:t>Request Additional Storage &amp; Access</a:t>
                </a:r>
                <a:endParaRPr b="1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58" name="Google Shape;358;p50"/>
          <p:cNvGrpSpPr/>
          <p:nvPr/>
        </p:nvGrpSpPr>
        <p:grpSpPr>
          <a:xfrm>
            <a:off x="4714875" y="809625"/>
            <a:ext cx="3952800" cy="3476700"/>
            <a:chOff x="0" y="0"/>
            <a:chExt cx="3952800" cy="3476700"/>
          </a:xfrm>
        </p:grpSpPr>
        <p:sp>
          <p:nvSpPr>
            <p:cNvPr id="359" name="Google Shape;359;p50"/>
            <p:cNvSpPr/>
            <p:nvPr/>
          </p:nvSpPr>
          <p:spPr>
            <a:xfrm>
              <a:off x="0" y="0"/>
              <a:ext cx="3952800" cy="3476700"/>
            </a:xfrm>
            <a:prstGeom prst="roundRect">
              <a:avLst>
                <a:gd fmla="val 3287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60" name="Google Shape;360;p50"/>
            <p:cNvGrpSpPr/>
            <p:nvPr/>
          </p:nvGrpSpPr>
          <p:grpSpPr>
            <a:xfrm>
              <a:off x="228600" y="190500"/>
              <a:ext cx="3495600" cy="3095700"/>
              <a:chOff x="0" y="0"/>
              <a:chExt cx="3495600" cy="3095700"/>
            </a:xfrm>
          </p:grpSpPr>
          <p:sp>
            <p:nvSpPr>
              <p:cNvPr id="361" name="Google Shape;361;p50"/>
              <p:cNvSpPr/>
              <p:nvPr/>
            </p:nvSpPr>
            <p:spPr>
              <a:xfrm>
                <a:off x="0" y="0"/>
                <a:ext cx="3495600" cy="3095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" name="Google Shape;362;p50"/>
              <p:cNvSpPr txBox="1"/>
              <p:nvPr/>
            </p:nvSpPr>
            <p:spPr>
              <a:xfrm>
                <a:off x="0" y="0"/>
                <a:ext cx="3495600" cy="309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64748B"/>
                    </a:solidFill>
                    <a:latin typeface="Arial"/>
                    <a:ea typeface="Arial"/>
                    <a:cs typeface="Arial"/>
                    <a:sym typeface="Arial"/>
                  </a:rPr>
                  <a:t>CODE MANAGEMENT</a:t>
                </a:r>
                <a:endParaRPr b="1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1" lang="en" sz="2000">
                    <a:solidFill>
                      <a:srgbClr val="820009"/>
                    </a:solidFill>
                    <a:latin typeface="Arial"/>
                    <a:ea typeface="Arial"/>
                    <a:cs typeface="Arial"/>
                    <a:sym typeface="Arial"/>
                  </a:rPr>
                  <a:t>Git Repository</a:t>
                </a:r>
                <a:endParaRPr b="1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100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rPr>
                  <a:t>Collaborative version control:</a:t>
                </a:r>
                <a:endParaRPr b="1" sz="11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-288925" lvl="0" marL="457200" rtl="0" algn="l">
                  <a:spcBef>
                    <a:spcPts val="800"/>
                  </a:spcBef>
                  <a:spcAft>
                    <a:spcPts val="0"/>
                  </a:spcAft>
                  <a:buClr>
                    <a:srgbClr val="64748B"/>
                  </a:buClr>
                  <a:buSzPts val="950"/>
                  <a:buFont typeface="Arial"/>
                  <a:buChar char="●"/>
                </a:pPr>
                <a:r>
                  <a:rPr b="1" lang="en" sz="1050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rPr>
                  <a:t>Code Sharing:</a:t>
                </a:r>
                <a:r>
                  <a:rPr b="1" lang="en" sz="950">
                    <a:solidFill>
                      <a:srgbClr val="64748B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b="0" lang="en" sz="1050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rPr>
                  <a:t>Dedicated repository to share code among researchers and faculty.</a:t>
                </a:r>
                <a:endParaRPr b="1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-288925" lvl="0" marL="457200" rtl="0" algn="l">
                  <a:spcBef>
                    <a:spcPts val="1000"/>
                  </a:spcBef>
                  <a:spcAft>
                    <a:spcPts val="0"/>
                  </a:spcAft>
                  <a:buClr>
                    <a:srgbClr val="64748B"/>
                  </a:buClr>
                  <a:buSzPts val="950"/>
                  <a:buFont typeface="Arial"/>
                  <a:buChar char="●"/>
                </a:pPr>
                <a:r>
                  <a:rPr b="1" lang="en" sz="1050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rPr>
                  <a:t>Network Access:</a:t>
                </a:r>
                <a:r>
                  <a:rPr b="1" lang="en" sz="950">
                    <a:solidFill>
                      <a:srgbClr val="64748B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b="0" lang="en" sz="1050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rPr>
                  <a:t>Accessible securely via Booth VPN.</a:t>
                </a:r>
                <a:endParaRPr b="1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-288925" lvl="0" marL="457200" rtl="0" algn="l">
                  <a:spcBef>
                    <a:spcPts val="1000"/>
                  </a:spcBef>
                  <a:spcAft>
                    <a:spcPts val="0"/>
                  </a:spcAft>
                  <a:buClr>
                    <a:srgbClr val="64748B"/>
                  </a:buClr>
                  <a:buSzPts val="950"/>
                  <a:buFont typeface="Arial"/>
                  <a:buChar char="●"/>
                </a:pPr>
                <a:r>
                  <a:rPr b="1" lang="en" sz="1050">
                    <a:solidFill>
                      <a:srgbClr val="820009"/>
                    </a:solidFill>
                    <a:latin typeface="Arial"/>
                    <a:ea typeface="Arial"/>
                    <a:cs typeface="Arial"/>
                    <a:sym typeface="Arial"/>
                  </a:rPr>
                  <a:t>Important Policy:</a:t>
                </a:r>
                <a:r>
                  <a:rPr b="1" lang="en" sz="950">
                    <a:solidFill>
                      <a:srgbClr val="64748B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b="0" lang="en" sz="1050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rPr>
                  <a:t>Git repositories must </a:t>
                </a:r>
                <a:r>
                  <a:rPr b="1" lang="en" sz="1050">
                    <a:solidFill>
                      <a:srgbClr val="820009"/>
                    </a:solidFill>
                    <a:latin typeface="Arial"/>
                    <a:ea typeface="Arial"/>
                    <a:cs typeface="Arial"/>
                    <a:sym typeface="Arial"/>
                  </a:rPr>
                  <a:t>NOT</a:t>
                </a:r>
                <a:r>
                  <a:rPr b="0" lang="en" sz="1050">
                    <a:solidFill>
                      <a:srgbClr val="334155"/>
                    </a:solidFill>
                    <a:latin typeface="Arial"/>
                    <a:ea typeface="Arial"/>
                    <a:cs typeface="Arial"/>
                    <a:sym typeface="Arial"/>
                  </a:rPr>
                  <a:t> contain any dataset.</a:t>
                </a:r>
                <a:endParaRPr b="1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rPr>
                  <a:t>Git Portal URL:</a:t>
                </a:r>
                <a:endParaRPr b="1" sz="1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lang="en" sz="1100" u="sng">
                    <a:solidFill>
                      <a:schemeClr val="hlink"/>
                    </a:solidFill>
                    <a:latin typeface="Roboto Mono"/>
                    <a:ea typeface="Roboto Mono"/>
                    <a:cs typeface="Roboto Mono"/>
                    <a:sym typeface="Roboto Mono"/>
                    <a:hlinkClick r:id="rId5"/>
                  </a:rPr>
                  <a:t>git.chicagobooth.edu</a:t>
                </a:r>
                <a:endParaRPr b="1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" name="Google Shape;3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51"/>
          <p:cNvSpPr/>
          <p:nvPr/>
        </p:nvSpPr>
        <p:spPr>
          <a:xfrm>
            <a:off x="476250" y="190500"/>
            <a:ext cx="8191500" cy="38100"/>
          </a:xfrm>
          <a:prstGeom prst="roundRect">
            <a:avLst>
              <a:gd fmla="val 50000" name="adj"/>
            </a:avLst>
          </a:prstGeom>
          <a:solidFill>
            <a:srgbClr val="82000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51"/>
          <p:cNvSpPr txBox="1"/>
          <p:nvPr/>
        </p:nvSpPr>
        <p:spPr>
          <a:xfrm>
            <a:off x="476250" y="285750"/>
            <a:ext cx="8191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820009"/>
                </a:solidFill>
                <a:latin typeface="Arial"/>
                <a:ea typeface="Arial"/>
                <a:cs typeface="Arial"/>
                <a:sym typeface="Arial"/>
              </a:rPr>
              <a:t>HTC Cluster Architecture (Using Mercury)</a:t>
            </a:r>
            <a:endParaRPr b="1" sz="2400">
              <a:solidFill>
                <a:srgbClr val="82000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0" name="Google Shape;370;p51"/>
          <p:cNvGrpSpPr/>
          <p:nvPr/>
        </p:nvGrpSpPr>
        <p:grpSpPr>
          <a:xfrm>
            <a:off x="476250" y="714375"/>
            <a:ext cx="2667000" cy="1714500"/>
            <a:chOff x="0" y="0"/>
            <a:chExt cx="2667000" cy="1714500"/>
          </a:xfrm>
        </p:grpSpPr>
        <p:sp>
          <p:nvSpPr>
            <p:cNvPr id="371" name="Google Shape;371;p51"/>
            <p:cNvSpPr/>
            <p:nvPr/>
          </p:nvSpPr>
          <p:spPr>
            <a:xfrm>
              <a:off x="0" y="0"/>
              <a:ext cx="2667000" cy="1714500"/>
            </a:xfrm>
            <a:prstGeom prst="roundRect">
              <a:avLst>
                <a:gd fmla="val 4444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51"/>
            <p:cNvSpPr txBox="1"/>
            <p:nvPr/>
          </p:nvSpPr>
          <p:spPr>
            <a:xfrm>
              <a:off x="152400" y="133350"/>
              <a:ext cx="2362200" cy="14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1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Access &amp; Entry Nodes</a:t>
              </a:r>
              <a:endParaRPr b="1" sz="111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833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Front End (Login) Nodes:</a:t>
              </a:r>
              <a:br>
                <a:rPr b="0" lang="en" sz="833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lang="en" sz="850">
                  <a:solidFill>
                    <a:srgbClr val="820009"/>
                  </a:solidFill>
                  <a:latin typeface="Consolas"/>
                  <a:ea typeface="Consolas"/>
                  <a:cs typeface="Consolas"/>
                  <a:sym typeface="Consolas"/>
                </a:rPr>
                <a:t>mfe01</a:t>
              </a:r>
              <a:r>
                <a:rPr b="0" lang="en" sz="833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or </a:t>
              </a:r>
              <a:r>
                <a:rPr b="0" lang="en" sz="850">
                  <a:solidFill>
                    <a:srgbClr val="820009"/>
                  </a:solidFill>
                  <a:latin typeface="Consolas"/>
                  <a:ea typeface="Consolas"/>
                  <a:cs typeface="Consolas"/>
                  <a:sym typeface="Consolas"/>
                </a:rPr>
                <a:t>mfe02</a:t>
              </a:r>
              <a:endParaRPr b="0" sz="833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833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SSH Login Command:</a:t>
              </a:r>
              <a:br>
                <a:rPr b="0" lang="en" sz="833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lang="en" sz="850">
                  <a:solidFill>
                    <a:srgbClr val="820009"/>
                  </a:solidFill>
                  <a:latin typeface="Consolas"/>
                  <a:ea typeface="Consolas"/>
                  <a:cs typeface="Consolas"/>
                  <a:sym typeface="Consolas"/>
                </a:rPr>
                <a:t>ssh &lt;boothID&gt;@mercury.chicagobooth.edu</a:t>
              </a:r>
              <a:endParaRPr b="0" sz="833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Primary gateway for authentication, job submission, and </a:t>
              </a:r>
              <a:r>
                <a:rPr lang="en" sz="850">
                  <a:solidFill>
                    <a:srgbClr val="64748B"/>
                  </a:solidFill>
                </a:rPr>
                <a:t>data transfer</a:t>
              </a:r>
              <a:endParaRPr b="0" sz="8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3" name="Google Shape;373;p51"/>
          <p:cNvGrpSpPr/>
          <p:nvPr/>
        </p:nvGrpSpPr>
        <p:grpSpPr>
          <a:xfrm>
            <a:off x="476250" y="2571750"/>
            <a:ext cx="2667000" cy="1714500"/>
            <a:chOff x="0" y="0"/>
            <a:chExt cx="2667000" cy="1714500"/>
          </a:xfrm>
        </p:grpSpPr>
        <p:sp>
          <p:nvSpPr>
            <p:cNvPr id="374" name="Google Shape;374;p51"/>
            <p:cNvSpPr/>
            <p:nvPr/>
          </p:nvSpPr>
          <p:spPr>
            <a:xfrm>
              <a:off x="0" y="0"/>
              <a:ext cx="2667000" cy="1714500"/>
            </a:xfrm>
            <a:prstGeom prst="roundRect">
              <a:avLst>
                <a:gd fmla="val 4444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51"/>
            <p:cNvSpPr txBox="1"/>
            <p:nvPr/>
          </p:nvSpPr>
          <p:spPr>
            <a:xfrm>
              <a:off x="152400" y="133350"/>
              <a:ext cx="2362200" cy="14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1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Compute Nodes &amp; Storage</a:t>
              </a:r>
              <a:endParaRPr b="1" sz="111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833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Access Request:</a:t>
              </a:r>
              <a:br>
                <a:rPr b="0" lang="en" sz="833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lang="en" sz="833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Email </a:t>
              </a:r>
              <a:r>
                <a:rPr b="0" lang="en" sz="833" u="sng">
                  <a:solidFill>
                    <a:srgbClr val="820009"/>
                  </a:solidFill>
                  <a:latin typeface="Arial"/>
                  <a:ea typeface="Arial"/>
                  <a:cs typeface="Arial"/>
                  <a:sym typeface="Arial"/>
                  <a:hlinkClick r:id="rId4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rsupport@chicagobooth.edu</a:t>
              </a:r>
              <a:r>
                <a:rPr b="0" lang="en" sz="833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with your PI name for RP access.</a:t>
              </a:r>
              <a:endParaRPr b="0" sz="833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833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Available Resources:</a:t>
              </a:r>
              <a:endParaRPr b="0" sz="833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1464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334155"/>
                </a:buClr>
                <a:buSzPts val="833"/>
                <a:buFont typeface="Arial"/>
                <a:buChar char="●"/>
              </a:pPr>
              <a:r>
                <a:rPr b="1" lang="en" sz="833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Software Modules:</a:t>
              </a:r>
              <a:r>
                <a:rPr b="0" lang="en" sz="833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Pre-configured toolsets</a:t>
              </a:r>
              <a:endParaRPr b="0" sz="833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1464" lvl="0" marL="457200" rtl="0" algn="l">
                <a:spcBef>
                  <a:spcPts val="300"/>
                </a:spcBef>
                <a:spcAft>
                  <a:spcPts val="300"/>
                </a:spcAft>
                <a:buClr>
                  <a:srgbClr val="334155"/>
                </a:buClr>
                <a:buSzPts val="833"/>
                <a:buFont typeface="Arial"/>
                <a:buChar char="●"/>
              </a:pPr>
              <a:r>
                <a:rPr b="1" lang="en" sz="833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Scratch Directory:</a:t>
              </a:r>
              <a:r>
                <a:rPr b="0" lang="en" sz="833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" sz="833">
                  <a:solidFill>
                    <a:srgbClr val="334155"/>
                  </a:solidFill>
                </a:rPr>
                <a:t>temporary storage, files gets deleted after job completion</a:t>
              </a:r>
              <a:endParaRPr b="0" sz="833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6" name="Google Shape;376;p51"/>
          <p:cNvGrpSpPr/>
          <p:nvPr/>
        </p:nvGrpSpPr>
        <p:grpSpPr>
          <a:xfrm>
            <a:off x="3429000" y="714375"/>
            <a:ext cx="5238900" cy="3571800"/>
            <a:chOff x="0" y="0"/>
            <a:chExt cx="5238900" cy="3571800"/>
          </a:xfrm>
        </p:grpSpPr>
        <p:sp>
          <p:nvSpPr>
            <p:cNvPr id="377" name="Google Shape;377;p51"/>
            <p:cNvSpPr/>
            <p:nvPr/>
          </p:nvSpPr>
          <p:spPr>
            <a:xfrm>
              <a:off x="0" y="0"/>
              <a:ext cx="5238900" cy="3571800"/>
            </a:xfrm>
            <a:prstGeom prst="roundRect">
              <a:avLst>
                <a:gd fmla="val 3200" name="adj"/>
              </a:avLst>
            </a:prstGeom>
            <a:solidFill>
              <a:srgbClr val="F0F9FF"/>
            </a:solidFill>
            <a:ln cap="flat" cmpd="sng" w="14300">
              <a:solidFill>
                <a:srgbClr val="BAE6F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51"/>
            <p:cNvSpPr txBox="1"/>
            <p:nvPr/>
          </p:nvSpPr>
          <p:spPr>
            <a:xfrm>
              <a:off x="1630451" y="213360"/>
              <a:ext cx="19779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33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Mercury Environment Overview</a:t>
              </a:r>
              <a:endParaRPr b="1" sz="833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9" name="Google Shape;379;p51"/>
            <p:cNvGrpSpPr/>
            <p:nvPr/>
          </p:nvGrpSpPr>
          <p:grpSpPr>
            <a:xfrm>
              <a:off x="285750" y="1428750"/>
              <a:ext cx="1047900" cy="1143000"/>
              <a:chOff x="0" y="0"/>
              <a:chExt cx="1047900" cy="1143000"/>
            </a:xfrm>
          </p:grpSpPr>
          <p:sp>
            <p:nvSpPr>
              <p:cNvPr id="380" name="Google Shape;380;p51"/>
              <p:cNvSpPr/>
              <p:nvPr/>
            </p:nvSpPr>
            <p:spPr>
              <a:xfrm>
                <a:off x="0" y="0"/>
                <a:ext cx="1047900" cy="1143000"/>
              </a:xfrm>
              <a:prstGeom prst="roundRect">
                <a:avLst>
                  <a:gd fmla="val 5454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51"/>
              <p:cNvSpPr txBox="1"/>
              <p:nvPr/>
            </p:nvSpPr>
            <p:spPr>
              <a:xfrm>
                <a:off x="288417" y="209550"/>
                <a:ext cx="471000" cy="154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750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Personal</a:t>
                </a:r>
                <a:endParaRPr b="1" sz="75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" name="Google Shape;382;p51"/>
              <p:cNvSpPr txBox="1"/>
              <p:nvPr/>
            </p:nvSpPr>
            <p:spPr>
              <a:xfrm>
                <a:off x="317849" y="361950"/>
                <a:ext cx="412200" cy="154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750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Machine</a:t>
                </a:r>
                <a:endParaRPr b="1" sz="75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3" name="Google Shape;383;p51"/>
              <p:cNvSpPr txBox="1"/>
              <p:nvPr/>
            </p:nvSpPr>
            <p:spPr>
              <a:xfrm>
                <a:off x="123596" y="701040"/>
                <a:ext cx="800700" cy="12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60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Local Workstation</a:t>
                </a:r>
                <a:endParaRPr b="0" sz="6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84" name="Google Shape;384;p5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333500" y="1952625"/>
              <a:ext cx="409500" cy="95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5" name="Google Shape;385;p51"/>
            <p:cNvSpPr txBox="1"/>
            <p:nvPr/>
          </p:nvSpPr>
          <p:spPr>
            <a:xfrm>
              <a:off x="1448943" y="1840230"/>
              <a:ext cx="150000" cy="1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38">
                  <a:solidFill>
                    <a:srgbClr val="0369A1"/>
                  </a:solidFill>
                  <a:latin typeface="Consolas"/>
                  <a:ea typeface="Consolas"/>
                  <a:cs typeface="Consolas"/>
                  <a:sym typeface="Consolas"/>
                </a:rPr>
                <a:t>ssh</a:t>
              </a:r>
              <a:endParaRPr b="1" sz="638">
                <a:solidFill>
                  <a:srgbClr val="0369A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386" name="Google Shape;386;p51"/>
            <p:cNvGrpSpPr/>
            <p:nvPr/>
          </p:nvGrpSpPr>
          <p:grpSpPr>
            <a:xfrm>
              <a:off x="1762125" y="571500"/>
              <a:ext cx="1238400" cy="2857500"/>
              <a:chOff x="0" y="0"/>
              <a:chExt cx="1238400" cy="2857500"/>
            </a:xfrm>
          </p:grpSpPr>
          <p:sp>
            <p:nvSpPr>
              <p:cNvPr id="387" name="Google Shape;387;p51"/>
              <p:cNvSpPr/>
              <p:nvPr/>
            </p:nvSpPr>
            <p:spPr>
              <a:xfrm>
                <a:off x="0" y="0"/>
                <a:ext cx="1238400" cy="2857500"/>
              </a:xfrm>
              <a:prstGeom prst="roundRect">
                <a:avLst>
                  <a:gd fmla="val 6153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93C5F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8" name="Google Shape;388;p51"/>
              <p:cNvSpPr txBox="1"/>
              <p:nvPr/>
            </p:nvSpPr>
            <p:spPr>
              <a:xfrm>
                <a:off x="207074" y="209550"/>
                <a:ext cx="824100" cy="154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750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Front-End Node</a:t>
                </a:r>
                <a:endParaRPr b="1" sz="75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9" name="Google Shape;389;p51"/>
              <p:cNvSpPr txBox="1"/>
              <p:nvPr/>
            </p:nvSpPr>
            <p:spPr>
              <a:xfrm>
                <a:off x="265938" y="367665"/>
                <a:ext cx="706500" cy="12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60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(mfe01 / mfe02)</a:t>
                </a:r>
                <a:endParaRPr b="0" sz="6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90" name="Google Shape;390;p51"/>
              <p:cNvGrpSpPr/>
              <p:nvPr/>
            </p:nvGrpSpPr>
            <p:grpSpPr>
              <a:xfrm>
                <a:off x="95250" y="571500"/>
                <a:ext cx="1047900" cy="619200"/>
                <a:chOff x="0" y="0"/>
                <a:chExt cx="1047900" cy="619200"/>
              </a:xfrm>
            </p:grpSpPr>
            <p:sp>
              <p:nvSpPr>
                <p:cNvPr id="391" name="Google Shape;391;p51"/>
                <p:cNvSpPr/>
                <p:nvPr/>
              </p:nvSpPr>
              <p:spPr>
                <a:xfrm>
                  <a:off x="0" y="0"/>
                  <a:ext cx="1047900" cy="619200"/>
                </a:xfrm>
                <a:prstGeom prst="roundRect">
                  <a:avLst>
                    <a:gd fmla="val 6153" name="adj"/>
                  </a:avLst>
                </a:prstGeom>
                <a:solidFill>
                  <a:srgbClr val="F8FAFC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2" name="Google Shape;392;p51"/>
                <p:cNvSpPr txBox="1"/>
                <p:nvPr/>
              </p:nvSpPr>
              <p:spPr>
                <a:xfrm>
                  <a:off x="194234" y="224790"/>
                  <a:ext cx="659400" cy="123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600">
                      <a:solidFill>
                        <a:srgbClr val="475569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Slurm Commands</a:t>
                  </a:r>
                  <a:endParaRPr b="1" sz="60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3" name="Google Shape;393;p51"/>
                <p:cNvSpPr txBox="1"/>
                <p:nvPr/>
              </p:nvSpPr>
              <p:spPr>
                <a:xfrm>
                  <a:off x="194234" y="367665"/>
                  <a:ext cx="659400" cy="123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600">
                      <a:solidFill>
                        <a:srgbClr val="475569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(srun, sbatch)</a:t>
                  </a:r>
                  <a:endParaRPr b="0" sz="60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4" name="Google Shape;394;p51"/>
              <p:cNvGrpSpPr/>
              <p:nvPr/>
            </p:nvGrpSpPr>
            <p:grpSpPr>
              <a:xfrm>
                <a:off x="95250" y="1333500"/>
                <a:ext cx="1047900" cy="1333500"/>
                <a:chOff x="0" y="0"/>
                <a:chExt cx="1047900" cy="1333500"/>
              </a:xfrm>
            </p:grpSpPr>
            <p:sp>
              <p:nvSpPr>
                <p:cNvPr id="395" name="Google Shape;395;p51"/>
                <p:cNvSpPr/>
                <p:nvPr/>
              </p:nvSpPr>
              <p:spPr>
                <a:xfrm>
                  <a:off x="0" y="0"/>
                  <a:ext cx="1047900" cy="1333500"/>
                </a:xfrm>
                <a:prstGeom prst="roundRect">
                  <a:avLst>
                    <a:gd fmla="val 3636" name="adj"/>
                  </a:avLst>
                </a:prstGeom>
                <a:solidFill>
                  <a:srgbClr val="FEF3C7"/>
                </a:solidFill>
                <a:ln cap="flat" cmpd="sng" w="9525">
                  <a:solidFill>
                    <a:srgbClr val="FDE68A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6" name="Google Shape;396;p51"/>
                <p:cNvSpPr txBox="1"/>
                <p:nvPr/>
              </p:nvSpPr>
              <p:spPr>
                <a:xfrm>
                  <a:off x="311963" y="605790"/>
                  <a:ext cx="423900" cy="123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600">
                      <a:solidFill>
                        <a:srgbClr val="475569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User Home</a:t>
                  </a:r>
                  <a:endParaRPr b="1" sz="60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7" name="Google Shape;397;p51"/>
                <p:cNvSpPr txBox="1"/>
                <p:nvPr/>
              </p:nvSpPr>
              <p:spPr>
                <a:xfrm>
                  <a:off x="311963" y="748665"/>
                  <a:ext cx="423900" cy="123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600">
                      <a:solidFill>
                        <a:srgbClr val="475569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Directory</a:t>
                  </a:r>
                  <a:endParaRPr b="1" sz="60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pic>
          <p:nvPicPr>
            <p:cNvPr id="398" name="Google Shape;398;p5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000375" y="1428750"/>
              <a:ext cx="457200" cy="95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9" name="Google Shape;399;p51"/>
            <p:cNvSpPr txBox="1"/>
            <p:nvPr/>
          </p:nvSpPr>
          <p:spPr>
            <a:xfrm>
              <a:off x="3109855" y="1335405"/>
              <a:ext cx="200100" cy="1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38">
                  <a:solidFill>
                    <a:srgbClr val="0369A1"/>
                  </a:solidFill>
                  <a:latin typeface="Consolas"/>
                  <a:ea typeface="Consolas"/>
                  <a:cs typeface="Consolas"/>
                  <a:sym typeface="Consolas"/>
                </a:rPr>
                <a:t>srun</a:t>
              </a:r>
              <a:endParaRPr b="1" sz="638">
                <a:solidFill>
                  <a:srgbClr val="0369A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pic>
          <p:nvPicPr>
            <p:cNvPr id="400" name="Google Shape;400;p5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000375" y="1952625"/>
              <a:ext cx="457200" cy="95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1" name="Google Shape;401;p51"/>
            <p:cNvSpPr txBox="1"/>
            <p:nvPr/>
          </p:nvSpPr>
          <p:spPr>
            <a:xfrm>
              <a:off x="3059821" y="1859280"/>
              <a:ext cx="300300" cy="1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38">
                  <a:solidFill>
                    <a:srgbClr val="0369A1"/>
                  </a:solidFill>
                  <a:latin typeface="Consolas"/>
                  <a:ea typeface="Consolas"/>
                  <a:cs typeface="Consolas"/>
                  <a:sym typeface="Consolas"/>
                </a:rPr>
                <a:t>sbatch</a:t>
              </a:r>
              <a:endParaRPr b="1" sz="638">
                <a:solidFill>
                  <a:srgbClr val="0369A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402" name="Google Shape;402;p51"/>
            <p:cNvGrpSpPr/>
            <p:nvPr/>
          </p:nvGrpSpPr>
          <p:grpSpPr>
            <a:xfrm>
              <a:off x="3476625" y="571500"/>
              <a:ext cx="1476300" cy="2857500"/>
              <a:chOff x="0" y="0"/>
              <a:chExt cx="1476300" cy="2857500"/>
            </a:xfrm>
          </p:grpSpPr>
          <p:sp>
            <p:nvSpPr>
              <p:cNvPr id="403" name="Google Shape;403;p51"/>
              <p:cNvSpPr/>
              <p:nvPr/>
            </p:nvSpPr>
            <p:spPr>
              <a:xfrm>
                <a:off x="0" y="0"/>
                <a:ext cx="1476300" cy="2857500"/>
              </a:xfrm>
              <a:prstGeom prst="roundRect">
                <a:avLst>
                  <a:gd fmla="val 5161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86EFA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" name="Google Shape;404;p51"/>
              <p:cNvSpPr txBox="1"/>
              <p:nvPr/>
            </p:nvSpPr>
            <p:spPr>
              <a:xfrm>
                <a:off x="350806" y="209550"/>
                <a:ext cx="765300" cy="154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750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Compute Nodes</a:t>
                </a:r>
                <a:endParaRPr b="1" sz="75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5" name="Google Shape;405;p51"/>
              <p:cNvSpPr txBox="1"/>
              <p:nvPr/>
            </p:nvSpPr>
            <p:spPr>
              <a:xfrm>
                <a:off x="286055" y="367665"/>
                <a:ext cx="894600" cy="12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60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(Execution Cluster)</a:t>
                </a:r>
                <a:endParaRPr b="0" sz="6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06" name="Google Shape;406;p51"/>
              <p:cNvGrpSpPr/>
              <p:nvPr/>
            </p:nvGrpSpPr>
            <p:grpSpPr>
              <a:xfrm>
                <a:off x="95250" y="571500"/>
                <a:ext cx="1285800" cy="285900"/>
                <a:chOff x="0" y="0"/>
                <a:chExt cx="1285800" cy="285900"/>
              </a:xfrm>
            </p:grpSpPr>
            <p:sp>
              <p:nvSpPr>
                <p:cNvPr id="407" name="Google Shape;407;p51"/>
                <p:cNvSpPr/>
                <p:nvPr/>
              </p:nvSpPr>
              <p:spPr>
                <a:xfrm>
                  <a:off x="0" y="0"/>
                  <a:ext cx="1285800" cy="285900"/>
                </a:xfrm>
                <a:prstGeom prst="roundRect">
                  <a:avLst>
                    <a:gd fmla="val 13333" name="adj"/>
                  </a:avLst>
                </a:prstGeom>
                <a:solidFill>
                  <a:srgbClr val="F0FDF4"/>
                </a:solidFill>
                <a:ln cap="flat" cmpd="sng" w="9525">
                  <a:solidFill>
                    <a:srgbClr val="BBF7D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8" name="Google Shape;408;p51"/>
                <p:cNvSpPr txBox="1"/>
                <p:nvPr/>
              </p:nvSpPr>
              <p:spPr>
                <a:xfrm>
                  <a:off x="261442" y="120015"/>
                  <a:ext cx="753600" cy="123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600">
                      <a:solidFill>
                        <a:srgbClr val="475569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Software Modules</a:t>
                  </a:r>
                  <a:endParaRPr b="1" sz="60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09" name="Google Shape;409;p51"/>
              <p:cNvGrpSpPr/>
              <p:nvPr/>
            </p:nvGrpSpPr>
            <p:grpSpPr>
              <a:xfrm>
                <a:off x="95250" y="904875"/>
                <a:ext cx="1285800" cy="285900"/>
                <a:chOff x="0" y="0"/>
                <a:chExt cx="1285800" cy="285900"/>
              </a:xfrm>
            </p:grpSpPr>
            <p:sp>
              <p:nvSpPr>
                <p:cNvPr id="410" name="Google Shape;410;p51"/>
                <p:cNvSpPr/>
                <p:nvPr/>
              </p:nvSpPr>
              <p:spPr>
                <a:xfrm>
                  <a:off x="0" y="0"/>
                  <a:ext cx="1285800" cy="285900"/>
                </a:xfrm>
                <a:prstGeom prst="roundRect">
                  <a:avLst>
                    <a:gd fmla="val 13333" name="adj"/>
                  </a:avLst>
                </a:prstGeom>
                <a:solidFill>
                  <a:srgbClr val="F0FDF4"/>
                </a:solidFill>
                <a:ln cap="flat" cmpd="sng" w="9525">
                  <a:solidFill>
                    <a:srgbClr val="BBF7D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1" name="Google Shape;411;p51"/>
                <p:cNvSpPr txBox="1"/>
                <p:nvPr/>
              </p:nvSpPr>
              <p:spPr>
                <a:xfrm>
                  <a:off x="237896" y="120015"/>
                  <a:ext cx="800700" cy="123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600">
                      <a:solidFill>
                        <a:srgbClr val="475569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Scratch Directory</a:t>
                  </a:r>
                  <a:endParaRPr b="1" sz="60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12" name="Google Shape;412;p51"/>
              <p:cNvGrpSpPr/>
              <p:nvPr/>
            </p:nvGrpSpPr>
            <p:grpSpPr>
              <a:xfrm>
                <a:off x="95250" y="1238250"/>
                <a:ext cx="1285800" cy="619200"/>
                <a:chOff x="0" y="0"/>
                <a:chExt cx="1285800" cy="619200"/>
              </a:xfrm>
            </p:grpSpPr>
            <p:sp>
              <p:nvSpPr>
                <p:cNvPr id="413" name="Google Shape;413;p51"/>
                <p:cNvSpPr/>
                <p:nvPr/>
              </p:nvSpPr>
              <p:spPr>
                <a:xfrm>
                  <a:off x="0" y="0"/>
                  <a:ext cx="1285800" cy="619200"/>
                </a:xfrm>
                <a:prstGeom prst="roundRect">
                  <a:avLst>
                    <a:gd fmla="val 6153" name="adj"/>
                  </a:avLst>
                </a:prstGeom>
                <a:solidFill>
                  <a:srgbClr val="F8FAFC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4" name="Google Shape;414;p51"/>
                <p:cNvSpPr txBox="1"/>
                <p:nvPr/>
              </p:nvSpPr>
              <p:spPr>
                <a:xfrm>
                  <a:off x="284988" y="300990"/>
                  <a:ext cx="706500" cy="123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600">
                      <a:solidFill>
                        <a:srgbClr val="475569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Slurm Execution</a:t>
                  </a:r>
                  <a:endParaRPr b="1" sz="60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15" name="Google Shape;415;p51"/>
              <p:cNvGrpSpPr/>
              <p:nvPr/>
            </p:nvGrpSpPr>
            <p:grpSpPr>
              <a:xfrm>
                <a:off x="95250" y="1905000"/>
                <a:ext cx="1285800" cy="762000"/>
                <a:chOff x="0" y="0"/>
                <a:chExt cx="1285800" cy="762000"/>
              </a:xfrm>
            </p:grpSpPr>
            <p:sp>
              <p:nvSpPr>
                <p:cNvPr id="416" name="Google Shape;416;p51"/>
                <p:cNvSpPr/>
                <p:nvPr/>
              </p:nvSpPr>
              <p:spPr>
                <a:xfrm>
                  <a:off x="0" y="0"/>
                  <a:ext cx="1285800" cy="762000"/>
                </a:xfrm>
                <a:prstGeom prst="roundRect">
                  <a:avLst>
                    <a:gd fmla="val 5000" name="adj"/>
                  </a:avLst>
                </a:prstGeom>
                <a:solidFill>
                  <a:srgbClr val="FEF3C7"/>
                </a:solidFill>
                <a:ln cap="flat" cmpd="sng" w="9525">
                  <a:solidFill>
                    <a:srgbClr val="FDE68A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7" name="Google Shape;417;p51"/>
                <p:cNvSpPr txBox="1"/>
                <p:nvPr/>
              </p:nvSpPr>
              <p:spPr>
                <a:xfrm>
                  <a:off x="426263" y="320040"/>
                  <a:ext cx="423900" cy="123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600">
                      <a:solidFill>
                        <a:srgbClr val="475569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User Home</a:t>
                  </a:r>
                  <a:endParaRPr b="1" sz="60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8" name="Google Shape;418;p51"/>
                <p:cNvSpPr txBox="1"/>
                <p:nvPr/>
              </p:nvSpPr>
              <p:spPr>
                <a:xfrm>
                  <a:off x="426263" y="462915"/>
                  <a:ext cx="423900" cy="123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600">
                      <a:solidFill>
                        <a:srgbClr val="475569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Directory</a:t>
                  </a:r>
                  <a:endParaRPr b="1" sz="60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cxnSp>
        <p:nvCxnSpPr>
          <p:cNvPr id="419" name="Google Shape;419;p51"/>
          <p:cNvCxnSpPr/>
          <p:nvPr/>
        </p:nvCxnSpPr>
        <p:spPr>
          <a:xfrm>
            <a:off x="0" y="4457700"/>
            <a:ext cx="9144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6E0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20" name="Google Shape;420;p51"/>
          <p:cNvPicPr preferRelativeResize="0"/>
          <p:nvPr/>
        </p:nvPicPr>
        <p:blipFill rotWithShape="1">
          <a:blip r:embed="rId7">
            <a:alphaModFix/>
          </a:blip>
          <a:srcRect b="0" l="159" r="159" t="0"/>
          <a:stretch/>
        </p:blipFill>
        <p:spPr>
          <a:xfrm>
            <a:off x="6291263" y="4552950"/>
            <a:ext cx="1796700" cy="49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6" name="Google Shape;426;p52"/>
          <p:cNvCxnSpPr/>
          <p:nvPr/>
        </p:nvCxnSpPr>
        <p:spPr>
          <a:xfrm>
            <a:off x="0" y="4457700"/>
            <a:ext cx="9144000" cy="1200"/>
          </a:xfrm>
          <a:prstGeom prst="straightConnector1">
            <a:avLst/>
          </a:prstGeom>
          <a:noFill/>
          <a:ln cap="flat" cmpd="sng" w="9525">
            <a:solidFill>
              <a:srgbClr val="6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7" name="Google Shape;427;p52"/>
          <p:cNvSpPr/>
          <p:nvPr/>
        </p:nvSpPr>
        <p:spPr>
          <a:xfrm>
            <a:off x="476250" y="190500"/>
            <a:ext cx="8191500" cy="38100"/>
          </a:xfrm>
          <a:prstGeom prst="roundRect">
            <a:avLst>
              <a:gd fmla="val 50000" name="adj"/>
            </a:avLst>
          </a:prstGeom>
          <a:solidFill>
            <a:srgbClr val="82000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PT-Large-Logo-with-Tag-Pos.png" id="428" name="Google Shape;428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91263" y="4552950"/>
            <a:ext cx="1796653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52"/>
          <p:cNvSpPr txBox="1"/>
          <p:nvPr/>
        </p:nvSpPr>
        <p:spPr>
          <a:xfrm>
            <a:off x="476250" y="4591050"/>
            <a:ext cx="381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sz="14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52"/>
          <p:cNvSpPr txBox="1"/>
          <p:nvPr>
            <p:ph type="title"/>
          </p:nvPr>
        </p:nvSpPr>
        <p:spPr>
          <a:xfrm>
            <a:off x="476250" y="285750"/>
            <a:ext cx="8191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820009"/>
                </a:solidFill>
                <a:latin typeface="Arial"/>
                <a:ea typeface="Arial"/>
                <a:cs typeface="Arial"/>
                <a:sym typeface="Arial"/>
              </a:rPr>
              <a:t>Mercury Usage Limits</a:t>
            </a:r>
            <a:endParaRPr b="1" sz="2400">
              <a:solidFill>
                <a:srgbClr val="82000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52"/>
          <p:cNvSpPr txBox="1"/>
          <p:nvPr/>
        </p:nvSpPr>
        <p:spPr>
          <a:xfrm>
            <a:off x="476250" y="742950"/>
            <a:ext cx="8191500" cy="971700"/>
          </a:xfrm>
          <a:prstGeom prst="rect">
            <a:avLst/>
          </a:prstGeom>
          <a:solidFill>
            <a:srgbClr val="F8FAFC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300" lIns="190500" spcFirstLastPara="1" rIns="190500" wrap="square" tIns="114300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820009"/>
                </a:solidFill>
                <a:latin typeface="Arial"/>
                <a:ea typeface="Arial"/>
                <a:cs typeface="Arial"/>
                <a:sym typeface="Arial"/>
              </a:rPr>
              <a:t>Concurrent limits</a:t>
            </a:r>
            <a:r>
              <a:rPr b="0" lang="en" sz="11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are in place to ensure fair usage among all researchers</a:t>
            </a:r>
            <a:endParaRPr b="0" sz="1100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820009"/>
                </a:solidFill>
                <a:latin typeface="Arial"/>
                <a:ea typeface="Arial"/>
                <a:cs typeface="Arial"/>
                <a:sym typeface="Arial"/>
              </a:rPr>
              <a:t>Job duration limits</a:t>
            </a:r>
            <a:r>
              <a:rPr b="0" lang="en" sz="11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are in place (7 days for standard job; 14 days for long job)</a:t>
            </a:r>
            <a:endParaRPr b="0" sz="1100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40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820009"/>
                </a:solidFill>
                <a:latin typeface="Arial"/>
                <a:ea typeface="Arial"/>
                <a:cs typeface="Arial"/>
                <a:sym typeface="Arial"/>
              </a:rPr>
              <a:t>No yearly limits</a:t>
            </a:r>
            <a:r>
              <a:rPr b="0" lang="en" sz="11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or project-based limits (unlike RCC)</a:t>
            </a:r>
            <a:endParaRPr b="0" sz="1100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32" name="Google Shape;432;p52"/>
          <p:cNvGraphicFramePr/>
          <p:nvPr/>
        </p:nvGraphicFramePr>
        <p:xfrm>
          <a:off x="476250" y="1857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{6B480D92-C3F5-41F8-A9A1-6B737B9D9845}</a:tableStyleId>
              </a:tblPr>
              <a:tblGrid>
                <a:gridCol w="1238250"/>
                <a:gridCol w="952500"/>
                <a:gridCol w="2000250"/>
                <a:gridCol w="2190750"/>
                <a:gridCol w="1809750"/>
              </a:tblGrid>
              <a:tr h="476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highlight>
                            <a:srgbClr val="820009"/>
                          </a:highlight>
                        </a:rPr>
                        <a:t>--account</a:t>
                      </a:r>
                      <a:endParaRPr b="1" sz="1100">
                        <a:solidFill>
                          <a:srgbClr val="FFFFFF"/>
                        </a:solidFill>
                        <a:highlight>
                          <a:srgbClr val="820009"/>
                        </a:highlight>
                      </a:endParaRPr>
                    </a:p>
                  </a:txBody>
                  <a:tcPr marT="76200" marB="76200" marR="114300" marL="114300">
                    <a:lnR cap="flat" cmpd="sng" w="9525">
                      <a:solidFill>
                        <a:srgbClr val="A01B2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2000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highlight>
                            <a:srgbClr val="820009"/>
                          </a:highlight>
                        </a:rPr>
                        <a:t>QOS</a:t>
                      </a:r>
                      <a:endParaRPr b="1" sz="1100">
                        <a:solidFill>
                          <a:srgbClr val="FFFFFF"/>
                        </a:solidFill>
                        <a:highlight>
                          <a:srgbClr val="820009"/>
                        </a:highlight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A01B2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01B2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2000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highlight>
                            <a:srgbClr val="820009"/>
                          </a:highlight>
                        </a:rPr>
                        <a:t>Concurrent service units per user</a:t>
                      </a:r>
                      <a:endParaRPr b="1" sz="1100">
                        <a:solidFill>
                          <a:srgbClr val="FFFFFF"/>
                        </a:solidFill>
                        <a:highlight>
                          <a:srgbClr val="820009"/>
                        </a:highlight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A01B2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01B2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2000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highlight>
                            <a:srgbClr val="820009"/>
                          </a:highlight>
                        </a:rPr>
                        <a:t>Concurrent service limits per account</a:t>
                      </a:r>
                      <a:endParaRPr b="1" sz="1100">
                        <a:solidFill>
                          <a:srgbClr val="FFFFFF"/>
                        </a:solidFill>
                        <a:highlight>
                          <a:srgbClr val="820009"/>
                        </a:highlight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A01B2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01B2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2000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FFFF"/>
                          </a:solidFill>
                          <a:highlight>
                            <a:srgbClr val="820009"/>
                          </a:highlight>
                        </a:rPr>
                        <a:t>Notes</a:t>
                      </a:r>
                      <a:endParaRPr b="1" sz="1100">
                        <a:solidFill>
                          <a:srgbClr val="FFFFFF"/>
                        </a:solidFill>
                        <a:highlight>
                          <a:srgbClr val="820009"/>
                        </a:highlight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A01B2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20009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820009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basic</a:t>
                      </a:r>
                      <a:endParaRPr b="1" sz="1100">
                        <a:solidFill>
                          <a:srgbClr val="820009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76200" marB="76200" marR="114300" marL="114300"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334155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clay</a:t>
                      </a:r>
                      <a:endParaRPr sz="1100">
                        <a:solidFill>
                          <a:srgbClr val="334155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0F172A"/>
                          </a:solidFill>
                          <a:highlight>
                            <a:srgbClr val="FFFFFF"/>
                          </a:highlight>
                        </a:rPr>
                        <a:t>2</a:t>
                      </a:r>
                      <a:endParaRPr b="1" sz="1100">
                        <a:solidFill>
                          <a:srgbClr val="0F172A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94A3B8"/>
                          </a:solidFill>
                        </a:rPr>
                        <a:t>-</a:t>
                      </a:r>
                      <a:endParaRPr sz="1100">
                        <a:solidFill>
                          <a:srgbClr val="94A3B8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94A3B8"/>
                          </a:solidFill>
                        </a:rPr>
                        <a:t>-</a:t>
                      </a:r>
                      <a:endParaRPr sz="1100">
                        <a:solidFill>
                          <a:srgbClr val="94A3B8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820009"/>
                          </a:solidFill>
                          <a:highlight>
                            <a:srgbClr val="F8FAF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phd</a:t>
                      </a:r>
                      <a:endParaRPr b="1" sz="1100">
                        <a:solidFill>
                          <a:srgbClr val="820009"/>
                        </a:solidFill>
                        <a:highlight>
                          <a:srgbClr val="F8FAFC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76200" marB="76200" marR="114300" marL="114300"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334155"/>
                          </a:solidFill>
                          <a:highlight>
                            <a:srgbClr val="F8FAF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bronze</a:t>
                      </a:r>
                      <a:endParaRPr sz="1100">
                        <a:solidFill>
                          <a:srgbClr val="334155"/>
                        </a:solidFill>
                        <a:highlight>
                          <a:srgbClr val="F8FAFC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0F172A"/>
                          </a:solidFill>
                          <a:highlight>
                            <a:srgbClr val="F8FAFC"/>
                          </a:highlight>
                        </a:rPr>
                        <a:t>128</a:t>
                      </a:r>
                      <a:endParaRPr b="1" sz="1100">
                        <a:solidFill>
                          <a:srgbClr val="0F172A"/>
                        </a:solidFill>
                        <a:highlight>
                          <a:srgbClr val="F8FAFC"/>
                        </a:highlight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94A3B8"/>
                          </a:solidFill>
                        </a:rPr>
                        <a:t>-</a:t>
                      </a:r>
                      <a:endParaRPr sz="1100">
                        <a:solidFill>
                          <a:srgbClr val="94A3B8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94A3B8"/>
                          </a:solidFill>
                        </a:rPr>
                        <a:t>-</a:t>
                      </a:r>
                      <a:endParaRPr sz="1100">
                        <a:solidFill>
                          <a:srgbClr val="94A3B8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820009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pi-&lt;BoothID&gt;</a:t>
                      </a:r>
                      <a:endParaRPr b="1" sz="1100">
                        <a:solidFill>
                          <a:srgbClr val="820009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76200" marB="76200" marR="114300" marL="114300"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334155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silver</a:t>
                      </a:r>
                      <a:endParaRPr sz="1100">
                        <a:solidFill>
                          <a:srgbClr val="334155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94A3B8"/>
                          </a:solidFill>
                        </a:rPr>
                        <a:t>-</a:t>
                      </a:r>
                      <a:endParaRPr sz="1100">
                        <a:solidFill>
                          <a:srgbClr val="94A3B8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0F172A"/>
                          </a:solidFill>
                          <a:highlight>
                            <a:srgbClr val="FFFFFF"/>
                          </a:highlight>
                        </a:rPr>
                        <a:t>300</a:t>
                      </a:r>
                      <a:endParaRPr b="1" sz="1100">
                        <a:solidFill>
                          <a:srgbClr val="0F172A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50">
                          <a:solidFill>
                            <a:srgbClr val="334155"/>
                          </a:solidFill>
                          <a:highlight>
                            <a:srgbClr val="FFFFFF"/>
                          </a:highlight>
                        </a:rPr>
                        <a:t>Added by request</a:t>
                      </a:r>
                      <a:endParaRPr i="1" sz="1050">
                        <a:solidFill>
                          <a:srgbClr val="334155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820009"/>
                          </a:solidFill>
                          <a:highlight>
                            <a:srgbClr val="F8FAF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faculty</a:t>
                      </a:r>
                      <a:endParaRPr b="1" sz="1100">
                        <a:solidFill>
                          <a:srgbClr val="820009"/>
                        </a:solidFill>
                        <a:highlight>
                          <a:srgbClr val="F8FAFC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76200" marB="76200" marR="114300" marL="114300"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334155"/>
                          </a:solidFill>
                          <a:highlight>
                            <a:srgbClr val="F8FAF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gold</a:t>
                      </a:r>
                      <a:endParaRPr sz="1100">
                        <a:solidFill>
                          <a:srgbClr val="334155"/>
                        </a:solidFill>
                        <a:highlight>
                          <a:srgbClr val="F8FAFC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0F172A"/>
                          </a:solidFill>
                          <a:highlight>
                            <a:srgbClr val="F8FAFC"/>
                          </a:highlight>
                        </a:rPr>
                        <a:t>128</a:t>
                      </a:r>
                      <a:endParaRPr b="1" sz="1100">
                        <a:solidFill>
                          <a:srgbClr val="0F172A"/>
                        </a:solidFill>
                        <a:highlight>
                          <a:srgbClr val="F8FAFC"/>
                        </a:highlight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94A3B8"/>
                          </a:solidFill>
                        </a:rPr>
                        <a:t>-</a:t>
                      </a:r>
                      <a:endParaRPr sz="1100">
                        <a:solidFill>
                          <a:srgbClr val="94A3B8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94A3B8"/>
                          </a:solidFill>
                        </a:rPr>
                        <a:t>-</a:t>
                      </a:r>
                      <a:endParaRPr sz="1100">
                        <a:solidFill>
                          <a:srgbClr val="94A3B8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7" name="Google Shape;437;p53"/>
          <p:cNvCxnSpPr/>
          <p:nvPr/>
        </p:nvCxnSpPr>
        <p:spPr>
          <a:xfrm>
            <a:off x="0" y="4457700"/>
            <a:ext cx="9144000" cy="1200"/>
          </a:xfrm>
          <a:prstGeom prst="straightConnector1">
            <a:avLst/>
          </a:prstGeom>
          <a:noFill/>
          <a:ln cap="flat" cmpd="sng" w="9525">
            <a:solidFill>
              <a:srgbClr val="6E0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PT-Large-Logo-with-Tag-Pos.png" id="438" name="Google Shape;438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91263" y="4552950"/>
            <a:ext cx="1796653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53"/>
          <p:cNvSpPr/>
          <p:nvPr/>
        </p:nvSpPr>
        <p:spPr>
          <a:xfrm>
            <a:off x="476250" y="190500"/>
            <a:ext cx="8191500" cy="38100"/>
          </a:xfrm>
          <a:prstGeom prst="roundRect">
            <a:avLst>
              <a:gd fmla="val 50000" name="adj"/>
            </a:avLst>
          </a:prstGeom>
          <a:solidFill>
            <a:srgbClr val="82000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53"/>
          <p:cNvSpPr txBox="1"/>
          <p:nvPr/>
        </p:nvSpPr>
        <p:spPr>
          <a:xfrm>
            <a:off x="476250" y="4591050"/>
            <a:ext cx="381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14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53"/>
          <p:cNvSpPr txBox="1"/>
          <p:nvPr>
            <p:ph type="title"/>
          </p:nvPr>
        </p:nvSpPr>
        <p:spPr>
          <a:xfrm>
            <a:off x="476250" y="285750"/>
            <a:ext cx="8191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820009"/>
                </a:solidFill>
                <a:latin typeface="Arial"/>
                <a:ea typeface="Arial"/>
                <a:cs typeface="Arial"/>
                <a:sym typeface="Arial"/>
              </a:rPr>
              <a:t>Mercury Hands-On Demonstration</a:t>
            </a:r>
            <a:endParaRPr b="1" sz="2400">
              <a:solidFill>
                <a:srgbClr val="82000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2" name="Google Shape;442;p53"/>
          <p:cNvGrpSpPr/>
          <p:nvPr/>
        </p:nvGrpSpPr>
        <p:grpSpPr>
          <a:xfrm>
            <a:off x="476250" y="714375"/>
            <a:ext cx="8191500" cy="628800"/>
            <a:chOff x="0" y="0"/>
            <a:chExt cx="8191500" cy="628800"/>
          </a:xfrm>
        </p:grpSpPr>
        <p:sp>
          <p:nvSpPr>
            <p:cNvPr id="443" name="Google Shape;443;p53"/>
            <p:cNvSpPr/>
            <p:nvPr/>
          </p:nvSpPr>
          <p:spPr>
            <a:xfrm>
              <a:off x="0" y="0"/>
              <a:ext cx="8191500" cy="628800"/>
            </a:xfrm>
            <a:prstGeom prst="roundRect">
              <a:avLst>
                <a:gd fmla="val 909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53"/>
            <p:cNvSpPr/>
            <p:nvPr/>
          </p:nvSpPr>
          <p:spPr>
            <a:xfrm>
              <a:off x="152400" y="161925"/>
              <a:ext cx="304800" cy="304800"/>
            </a:xfrm>
            <a:prstGeom prst="roundRect">
              <a:avLst>
                <a:gd fmla="val 50000" name="adj"/>
              </a:avLst>
            </a:prstGeom>
            <a:solidFill>
              <a:srgbClr val="82000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53"/>
            <p:cNvSpPr txBox="1"/>
            <p:nvPr/>
          </p:nvSpPr>
          <p:spPr>
            <a:xfrm>
              <a:off x="152400" y="161925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53"/>
            <p:cNvSpPr txBox="1"/>
            <p:nvPr/>
          </p:nvSpPr>
          <p:spPr>
            <a:xfrm>
              <a:off x="571500" y="76200"/>
              <a:ext cx="74676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Initiate remote connection to Mercury from your machine</a:t>
              </a:r>
              <a:endParaRPr b="1" sz="10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53"/>
            <p:cNvSpPr/>
            <p:nvPr/>
          </p:nvSpPr>
          <p:spPr>
            <a:xfrm>
              <a:off x="571500" y="285750"/>
              <a:ext cx="7467600" cy="266700"/>
            </a:xfrm>
            <a:prstGeom prst="roundRect">
              <a:avLst>
                <a:gd fmla="val 14285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53"/>
            <p:cNvSpPr txBox="1"/>
            <p:nvPr/>
          </p:nvSpPr>
          <p:spPr>
            <a:xfrm>
              <a:off x="647700" y="285750"/>
              <a:ext cx="73152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>
                  <a:solidFill>
                    <a:srgbClr val="38BDF8"/>
                  </a:solidFill>
                  <a:latin typeface="Consolas"/>
                  <a:ea typeface="Consolas"/>
                  <a:cs typeface="Consolas"/>
                  <a:sym typeface="Consolas"/>
                </a:rPr>
                <a:t>ssh &lt;BoothID&gt;@mercury.chicagobooth.edu</a:t>
              </a:r>
              <a:endParaRPr sz="95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449" name="Google Shape;449;p53"/>
          <p:cNvGrpSpPr/>
          <p:nvPr/>
        </p:nvGrpSpPr>
        <p:grpSpPr>
          <a:xfrm>
            <a:off x="476250" y="1409700"/>
            <a:ext cx="8191500" cy="628800"/>
            <a:chOff x="0" y="0"/>
            <a:chExt cx="8191500" cy="628800"/>
          </a:xfrm>
        </p:grpSpPr>
        <p:sp>
          <p:nvSpPr>
            <p:cNvPr id="450" name="Google Shape;450;p53"/>
            <p:cNvSpPr/>
            <p:nvPr/>
          </p:nvSpPr>
          <p:spPr>
            <a:xfrm>
              <a:off x="0" y="0"/>
              <a:ext cx="8191500" cy="628800"/>
            </a:xfrm>
            <a:prstGeom prst="roundRect">
              <a:avLst>
                <a:gd fmla="val 909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53"/>
            <p:cNvSpPr/>
            <p:nvPr/>
          </p:nvSpPr>
          <p:spPr>
            <a:xfrm>
              <a:off x="152400" y="161925"/>
              <a:ext cx="304800" cy="304800"/>
            </a:xfrm>
            <a:prstGeom prst="roundRect">
              <a:avLst>
                <a:gd fmla="val 50000" name="adj"/>
              </a:avLst>
            </a:prstGeom>
            <a:solidFill>
              <a:srgbClr val="82000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53"/>
            <p:cNvSpPr txBox="1"/>
            <p:nvPr/>
          </p:nvSpPr>
          <p:spPr>
            <a:xfrm>
              <a:off x="152400" y="161925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53"/>
            <p:cNvSpPr txBox="1"/>
            <p:nvPr/>
          </p:nvSpPr>
          <p:spPr>
            <a:xfrm>
              <a:off x="571500" y="76200"/>
              <a:ext cx="74676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Check the home directory space</a:t>
              </a:r>
              <a:endParaRPr b="1" sz="10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53"/>
            <p:cNvSpPr/>
            <p:nvPr/>
          </p:nvSpPr>
          <p:spPr>
            <a:xfrm>
              <a:off x="571500" y="285750"/>
              <a:ext cx="7467600" cy="266700"/>
            </a:xfrm>
            <a:prstGeom prst="roundRect">
              <a:avLst>
                <a:gd fmla="val 14285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53"/>
            <p:cNvSpPr txBox="1"/>
            <p:nvPr/>
          </p:nvSpPr>
          <p:spPr>
            <a:xfrm>
              <a:off x="647700" y="285750"/>
              <a:ext cx="73152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>
                  <a:solidFill>
                    <a:srgbClr val="A7F3D0"/>
                  </a:solidFill>
                  <a:latin typeface="Consolas"/>
                  <a:ea typeface="Consolas"/>
                  <a:cs typeface="Consolas"/>
                  <a:sym typeface="Consolas"/>
                </a:rPr>
                <a:t>fratnasamy@mfe01:~ $</a:t>
              </a:r>
              <a:r>
                <a:rPr lang="en" sz="95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 df -h /home/&lt;BoothID&gt;/</a:t>
              </a:r>
              <a:endParaRPr sz="95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456" name="Google Shape;456;p53"/>
          <p:cNvGrpSpPr/>
          <p:nvPr/>
        </p:nvGrpSpPr>
        <p:grpSpPr>
          <a:xfrm>
            <a:off x="476250" y="2105025"/>
            <a:ext cx="8191500" cy="628800"/>
            <a:chOff x="0" y="0"/>
            <a:chExt cx="8191500" cy="628800"/>
          </a:xfrm>
        </p:grpSpPr>
        <p:sp>
          <p:nvSpPr>
            <p:cNvPr id="457" name="Google Shape;457;p53"/>
            <p:cNvSpPr/>
            <p:nvPr/>
          </p:nvSpPr>
          <p:spPr>
            <a:xfrm>
              <a:off x="0" y="0"/>
              <a:ext cx="8191500" cy="628800"/>
            </a:xfrm>
            <a:prstGeom prst="roundRect">
              <a:avLst>
                <a:gd fmla="val 909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53"/>
            <p:cNvSpPr/>
            <p:nvPr/>
          </p:nvSpPr>
          <p:spPr>
            <a:xfrm>
              <a:off x="152400" y="161925"/>
              <a:ext cx="304800" cy="304800"/>
            </a:xfrm>
            <a:prstGeom prst="roundRect">
              <a:avLst>
                <a:gd fmla="val 50000" name="adj"/>
              </a:avLst>
            </a:prstGeom>
            <a:solidFill>
              <a:srgbClr val="82000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53"/>
            <p:cNvSpPr txBox="1"/>
            <p:nvPr/>
          </p:nvSpPr>
          <p:spPr>
            <a:xfrm>
              <a:off x="152400" y="161925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53"/>
            <p:cNvSpPr txBox="1"/>
            <p:nvPr/>
          </p:nvSpPr>
          <p:spPr>
            <a:xfrm>
              <a:off x="571500" y="76200"/>
              <a:ext cx="74676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Clone Repo from Github</a:t>
              </a:r>
              <a:endParaRPr b="1" sz="10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53"/>
            <p:cNvSpPr/>
            <p:nvPr/>
          </p:nvSpPr>
          <p:spPr>
            <a:xfrm>
              <a:off x="571500" y="285750"/>
              <a:ext cx="7467600" cy="266700"/>
            </a:xfrm>
            <a:prstGeom prst="roundRect">
              <a:avLst>
                <a:gd fmla="val 14285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53"/>
            <p:cNvSpPr txBox="1"/>
            <p:nvPr/>
          </p:nvSpPr>
          <p:spPr>
            <a:xfrm>
              <a:off x="647700" y="285750"/>
              <a:ext cx="73152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>
                  <a:solidFill>
                    <a:srgbClr val="A7F3D0"/>
                  </a:solidFill>
                  <a:latin typeface="Consolas"/>
                  <a:ea typeface="Consolas"/>
                  <a:cs typeface="Consolas"/>
                  <a:sym typeface="Consolas"/>
                </a:rPr>
                <a:t>fratnasamy@mfe01:~ $</a:t>
              </a:r>
              <a:r>
                <a:rPr lang="en" sz="95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 git clone </a:t>
              </a:r>
              <a:r>
                <a:rPr lang="en" sz="95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https://github.com/fritzratna/workshop.git</a:t>
              </a:r>
              <a:endParaRPr sz="95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463" name="Google Shape;463;p53"/>
          <p:cNvGrpSpPr/>
          <p:nvPr/>
        </p:nvGrpSpPr>
        <p:grpSpPr>
          <a:xfrm>
            <a:off x="476250" y="2800350"/>
            <a:ext cx="8191500" cy="628800"/>
            <a:chOff x="0" y="0"/>
            <a:chExt cx="8191500" cy="628800"/>
          </a:xfrm>
        </p:grpSpPr>
        <p:sp>
          <p:nvSpPr>
            <p:cNvPr id="464" name="Google Shape;464;p53"/>
            <p:cNvSpPr/>
            <p:nvPr/>
          </p:nvSpPr>
          <p:spPr>
            <a:xfrm>
              <a:off x="0" y="0"/>
              <a:ext cx="8191500" cy="628800"/>
            </a:xfrm>
            <a:prstGeom prst="roundRect">
              <a:avLst>
                <a:gd fmla="val 909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53"/>
            <p:cNvSpPr/>
            <p:nvPr/>
          </p:nvSpPr>
          <p:spPr>
            <a:xfrm>
              <a:off x="152400" y="161925"/>
              <a:ext cx="304800" cy="304800"/>
            </a:xfrm>
            <a:prstGeom prst="roundRect">
              <a:avLst>
                <a:gd fmla="val 50000" name="adj"/>
              </a:avLst>
            </a:prstGeom>
            <a:solidFill>
              <a:srgbClr val="82000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53"/>
            <p:cNvSpPr txBox="1"/>
            <p:nvPr/>
          </p:nvSpPr>
          <p:spPr>
            <a:xfrm>
              <a:off x="152400" y="161925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1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53"/>
            <p:cNvSpPr txBox="1"/>
            <p:nvPr/>
          </p:nvSpPr>
          <p:spPr>
            <a:xfrm>
              <a:off x="571500" y="76200"/>
              <a:ext cx="74676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Check account association </a:t>
              </a:r>
              <a:r>
                <a:rPr b="0" lang="en" sz="10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(slurm command starts with 's': srun, sacctmgr)</a:t>
              </a:r>
              <a:endParaRPr b="1" sz="10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53"/>
            <p:cNvSpPr/>
            <p:nvPr/>
          </p:nvSpPr>
          <p:spPr>
            <a:xfrm>
              <a:off x="571500" y="285750"/>
              <a:ext cx="7467600" cy="266700"/>
            </a:xfrm>
            <a:prstGeom prst="roundRect">
              <a:avLst>
                <a:gd fmla="val 14285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53"/>
            <p:cNvSpPr txBox="1"/>
            <p:nvPr/>
          </p:nvSpPr>
          <p:spPr>
            <a:xfrm>
              <a:off x="647700" y="285750"/>
              <a:ext cx="73152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>
                  <a:solidFill>
                    <a:srgbClr val="A7F3D0"/>
                  </a:solidFill>
                  <a:latin typeface="Consolas"/>
                  <a:ea typeface="Consolas"/>
                  <a:cs typeface="Consolas"/>
                  <a:sym typeface="Consolas"/>
                </a:rPr>
                <a:t>fratnasamy@mfe01:~ $</a:t>
              </a:r>
              <a:r>
                <a:rPr lang="en" sz="95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 sacctmgr show associations where user=&lt;BoothID&gt;</a:t>
              </a:r>
              <a:endParaRPr sz="95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470" name="Google Shape;470;p53"/>
          <p:cNvGrpSpPr/>
          <p:nvPr/>
        </p:nvGrpSpPr>
        <p:grpSpPr>
          <a:xfrm>
            <a:off x="476250" y="3495675"/>
            <a:ext cx="8191500" cy="800100"/>
            <a:chOff x="0" y="0"/>
            <a:chExt cx="8191500" cy="800100"/>
          </a:xfrm>
        </p:grpSpPr>
        <p:sp>
          <p:nvSpPr>
            <p:cNvPr id="471" name="Google Shape;471;p53"/>
            <p:cNvSpPr/>
            <p:nvPr/>
          </p:nvSpPr>
          <p:spPr>
            <a:xfrm>
              <a:off x="0" y="0"/>
              <a:ext cx="8191500" cy="800100"/>
            </a:xfrm>
            <a:prstGeom prst="roundRect">
              <a:avLst>
                <a:gd fmla="val 7142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53"/>
            <p:cNvSpPr/>
            <p:nvPr/>
          </p:nvSpPr>
          <p:spPr>
            <a:xfrm>
              <a:off x="152400" y="247650"/>
              <a:ext cx="304800" cy="304800"/>
            </a:xfrm>
            <a:prstGeom prst="roundRect">
              <a:avLst>
                <a:gd fmla="val 50000" name="adj"/>
              </a:avLst>
            </a:prstGeom>
            <a:solidFill>
              <a:srgbClr val="82000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53"/>
            <p:cNvSpPr txBox="1"/>
            <p:nvPr/>
          </p:nvSpPr>
          <p:spPr>
            <a:xfrm>
              <a:off x="152400" y="247650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53"/>
            <p:cNvSpPr txBox="1"/>
            <p:nvPr/>
          </p:nvSpPr>
          <p:spPr>
            <a:xfrm>
              <a:off x="571500" y="76200"/>
              <a:ext cx="74676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Start an interactive session &amp; navigate to scratch directory</a:t>
              </a:r>
              <a:endParaRPr b="1" sz="10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53"/>
            <p:cNvSpPr/>
            <p:nvPr/>
          </p:nvSpPr>
          <p:spPr>
            <a:xfrm>
              <a:off x="571500" y="285750"/>
              <a:ext cx="7467600" cy="438300"/>
            </a:xfrm>
            <a:prstGeom prst="roundRect">
              <a:avLst>
                <a:gd fmla="val 8695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53"/>
            <p:cNvSpPr txBox="1"/>
            <p:nvPr/>
          </p:nvSpPr>
          <p:spPr>
            <a:xfrm>
              <a:off x="647700" y="304800"/>
              <a:ext cx="7315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A7F3D0"/>
                  </a:solidFill>
                  <a:latin typeface="Consolas"/>
                  <a:ea typeface="Consolas"/>
                  <a:cs typeface="Consolas"/>
                  <a:sym typeface="Consolas"/>
                </a:rPr>
                <a:t>fratnasamy@mcn01:~ $</a:t>
              </a:r>
              <a:r>
                <a:rPr lang="en" sz="90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 srun --reservation=workshop_2026 --account=workshop --pty bash --login</a:t>
              </a:r>
              <a:endParaRPr sz="9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A7F3D0"/>
                  </a:solidFill>
                  <a:latin typeface="Consolas"/>
                  <a:ea typeface="Consolas"/>
                  <a:cs typeface="Consolas"/>
                  <a:sym typeface="Consolas"/>
                </a:rPr>
                <a:t>fratnasamy@mcn01:~ $</a:t>
              </a:r>
              <a:r>
                <a:rPr lang="en" sz="90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 cd /scratch/&lt;boothID&gt; </a:t>
              </a:r>
              <a:r>
                <a:rPr i="1" lang="en" sz="900">
                  <a:solidFill>
                    <a:srgbClr val="94A3B8"/>
                  </a:solidFill>
                  <a:latin typeface="Consolas"/>
                  <a:ea typeface="Consolas"/>
                  <a:cs typeface="Consolas"/>
                  <a:sym typeface="Consolas"/>
                </a:rPr>
                <a:t># accessible only in a compute node</a:t>
              </a:r>
              <a:endParaRPr sz="9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1" name="Google Shape;481;p54"/>
          <p:cNvCxnSpPr/>
          <p:nvPr/>
        </p:nvCxnSpPr>
        <p:spPr>
          <a:xfrm>
            <a:off x="0" y="4457700"/>
            <a:ext cx="9144000" cy="1200"/>
          </a:xfrm>
          <a:prstGeom prst="straightConnector1">
            <a:avLst/>
          </a:prstGeom>
          <a:noFill/>
          <a:ln cap="flat" cmpd="sng" w="9525">
            <a:solidFill>
              <a:srgbClr val="6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2" name="Google Shape;482;p54"/>
          <p:cNvSpPr/>
          <p:nvPr/>
        </p:nvSpPr>
        <p:spPr>
          <a:xfrm>
            <a:off x="476250" y="190500"/>
            <a:ext cx="8191500" cy="38100"/>
          </a:xfrm>
          <a:prstGeom prst="roundRect">
            <a:avLst>
              <a:gd fmla="val 50000" name="adj"/>
            </a:avLst>
          </a:prstGeom>
          <a:solidFill>
            <a:srgbClr val="82000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PT-Large-Logo-with-Tag-Pos.png" id="483" name="Google Shape;483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91263" y="4552950"/>
            <a:ext cx="1796653" cy="495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4" name="Google Shape;484;p54"/>
          <p:cNvGrpSpPr/>
          <p:nvPr/>
        </p:nvGrpSpPr>
        <p:grpSpPr>
          <a:xfrm>
            <a:off x="476250" y="285750"/>
            <a:ext cx="8191500" cy="362100"/>
            <a:chOff x="0" y="0"/>
            <a:chExt cx="8191500" cy="362100"/>
          </a:xfrm>
        </p:grpSpPr>
        <p:sp>
          <p:nvSpPr>
            <p:cNvPr id="485" name="Google Shape;485;p54"/>
            <p:cNvSpPr/>
            <p:nvPr/>
          </p:nvSpPr>
          <p:spPr>
            <a:xfrm>
              <a:off x="0" y="0"/>
              <a:ext cx="8191500" cy="362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54"/>
            <p:cNvSpPr txBox="1"/>
            <p:nvPr/>
          </p:nvSpPr>
          <p:spPr>
            <a:xfrm>
              <a:off x="0" y="0"/>
              <a:ext cx="81915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20">
                  <a:solidFill>
                    <a:srgbClr val="820009"/>
                  </a:solidFill>
                  <a:latin typeface="Arial"/>
                  <a:ea typeface="Arial"/>
                  <a:cs typeface="Arial"/>
                  <a:sym typeface="Arial"/>
                </a:rPr>
                <a:t>Mercury Hands-On Demonstration</a:t>
              </a:r>
              <a:endParaRPr b="1" sz="2220">
                <a:solidFill>
                  <a:srgbClr val="82000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7" name="Google Shape;487;p54"/>
          <p:cNvGrpSpPr/>
          <p:nvPr/>
        </p:nvGrpSpPr>
        <p:grpSpPr>
          <a:xfrm>
            <a:off x="476250" y="714375"/>
            <a:ext cx="8191500" cy="1200300"/>
            <a:chOff x="0" y="0"/>
            <a:chExt cx="8191500" cy="1200300"/>
          </a:xfrm>
        </p:grpSpPr>
        <p:sp>
          <p:nvSpPr>
            <p:cNvPr id="488" name="Google Shape;488;p54"/>
            <p:cNvSpPr/>
            <p:nvPr/>
          </p:nvSpPr>
          <p:spPr>
            <a:xfrm>
              <a:off x="0" y="0"/>
              <a:ext cx="8191500" cy="1200300"/>
            </a:xfrm>
            <a:prstGeom prst="roundRect">
              <a:avLst>
                <a:gd fmla="val 4761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54"/>
            <p:cNvSpPr/>
            <p:nvPr/>
          </p:nvSpPr>
          <p:spPr>
            <a:xfrm>
              <a:off x="152400" y="152400"/>
              <a:ext cx="304800" cy="304800"/>
            </a:xfrm>
            <a:prstGeom prst="ellipse">
              <a:avLst/>
            </a:prstGeom>
            <a:solidFill>
              <a:srgbClr val="82000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54"/>
            <p:cNvSpPr txBox="1"/>
            <p:nvPr/>
          </p:nvSpPr>
          <p:spPr>
            <a:xfrm>
              <a:off x="152400" y="152400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1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54"/>
            <p:cNvSpPr txBox="1"/>
            <p:nvPr/>
          </p:nvSpPr>
          <p:spPr>
            <a:xfrm>
              <a:off x="571500" y="76200"/>
              <a:ext cx="74676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Check Mercury partitions</a:t>
              </a:r>
              <a:endParaRPr b="1" sz="10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54"/>
            <p:cNvSpPr/>
            <p:nvPr/>
          </p:nvSpPr>
          <p:spPr>
            <a:xfrm>
              <a:off x="571500" y="304800"/>
              <a:ext cx="3333900" cy="781200"/>
            </a:xfrm>
            <a:prstGeom prst="roundRect">
              <a:avLst>
                <a:gd fmla="val 4878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54"/>
            <p:cNvSpPr txBox="1"/>
            <p:nvPr/>
          </p:nvSpPr>
          <p:spPr>
            <a:xfrm>
              <a:off x="647700" y="304800"/>
              <a:ext cx="3181200" cy="7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>
                  <a:solidFill>
                    <a:srgbClr val="A7F3D0"/>
                  </a:solidFill>
                  <a:latin typeface="Consolas"/>
                  <a:ea typeface="Consolas"/>
                  <a:cs typeface="Consolas"/>
                  <a:sym typeface="Consolas"/>
                </a:rPr>
                <a:t>fratnasamy@mcn01:~ $</a:t>
              </a:r>
              <a:r>
                <a:rPr lang="en" sz="950">
                  <a:solidFill>
                    <a:srgbClr val="38BDF8"/>
                  </a:solidFill>
                  <a:latin typeface="Consolas"/>
                  <a:ea typeface="Consolas"/>
                  <a:cs typeface="Consolas"/>
                  <a:sym typeface="Consolas"/>
                </a:rPr>
                <a:t> sinfo -s</a:t>
              </a:r>
              <a:endParaRPr sz="95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494" name="Google Shape;494;p54"/>
          <p:cNvGrpSpPr/>
          <p:nvPr/>
        </p:nvGrpSpPr>
        <p:grpSpPr>
          <a:xfrm>
            <a:off x="476250" y="1990725"/>
            <a:ext cx="8191500" cy="609600"/>
            <a:chOff x="0" y="0"/>
            <a:chExt cx="8191500" cy="609600"/>
          </a:xfrm>
        </p:grpSpPr>
        <p:sp>
          <p:nvSpPr>
            <p:cNvPr id="495" name="Google Shape;495;p54"/>
            <p:cNvSpPr/>
            <p:nvPr/>
          </p:nvSpPr>
          <p:spPr>
            <a:xfrm>
              <a:off x="0" y="0"/>
              <a:ext cx="8191500" cy="609600"/>
            </a:xfrm>
            <a:prstGeom prst="roundRect">
              <a:avLst>
                <a:gd fmla="val 9375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54"/>
            <p:cNvSpPr/>
            <p:nvPr/>
          </p:nvSpPr>
          <p:spPr>
            <a:xfrm>
              <a:off x="152400" y="152400"/>
              <a:ext cx="304800" cy="304800"/>
            </a:xfrm>
            <a:prstGeom prst="ellipse">
              <a:avLst/>
            </a:prstGeom>
            <a:solidFill>
              <a:srgbClr val="82000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54"/>
            <p:cNvSpPr txBox="1"/>
            <p:nvPr/>
          </p:nvSpPr>
          <p:spPr>
            <a:xfrm>
              <a:off x="152400" y="152400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1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54"/>
            <p:cNvSpPr txBox="1"/>
            <p:nvPr/>
          </p:nvSpPr>
          <p:spPr>
            <a:xfrm>
              <a:off x="571500" y="76200"/>
              <a:ext cx="74676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View the available software modules</a:t>
              </a:r>
              <a:endParaRPr b="1" sz="10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54"/>
            <p:cNvSpPr/>
            <p:nvPr/>
          </p:nvSpPr>
          <p:spPr>
            <a:xfrm>
              <a:off x="571500" y="266700"/>
              <a:ext cx="7467600" cy="266700"/>
            </a:xfrm>
            <a:prstGeom prst="roundRect">
              <a:avLst>
                <a:gd fmla="val 14285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54"/>
            <p:cNvSpPr txBox="1"/>
            <p:nvPr/>
          </p:nvSpPr>
          <p:spPr>
            <a:xfrm>
              <a:off x="647700" y="266700"/>
              <a:ext cx="73152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>
                  <a:solidFill>
                    <a:srgbClr val="A7F3D0"/>
                  </a:solidFill>
                  <a:latin typeface="Consolas"/>
                  <a:ea typeface="Consolas"/>
                  <a:cs typeface="Consolas"/>
                  <a:sym typeface="Consolas"/>
                </a:rPr>
                <a:t>fratnasamy@mcn01:~ $</a:t>
              </a:r>
              <a:r>
                <a:rPr lang="en" sz="95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 module avail</a:t>
              </a:r>
              <a:endParaRPr sz="95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501" name="Google Shape;501;p54"/>
          <p:cNvGrpSpPr/>
          <p:nvPr/>
        </p:nvGrpSpPr>
        <p:grpSpPr>
          <a:xfrm>
            <a:off x="476250" y="2676525"/>
            <a:ext cx="8191500" cy="1666800"/>
            <a:chOff x="0" y="0"/>
            <a:chExt cx="8191500" cy="1666800"/>
          </a:xfrm>
        </p:grpSpPr>
        <p:sp>
          <p:nvSpPr>
            <p:cNvPr id="502" name="Google Shape;502;p54"/>
            <p:cNvSpPr/>
            <p:nvPr/>
          </p:nvSpPr>
          <p:spPr>
            <a:xfrm>
              <a:off x="0" y="0"/>
              <a:ext cx="8191500" cy="1666800"/>
            </a:xfrm>
            <a:prstGeom prst="roundRect">
              <a:avLst>
                <a:gd fmla="val 3428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54"/>
            <p:cNvSpPr/>
            <p:nvPr/>
          </p:nvSpPr>
          <p:spPr>
            <a:xfrm>
              <a:off x="152400" y="152400"/>
              <a:ext cx="304800" cy="304800"/>
            </a:xfrm>
            <a:prstGeom prst="ellipse">
              <a:avLst/>
            </a:prstGeom>
            <a:solidFill>
              <a:srgbClr val="82000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54"/>
            <p:cNvSpPr txBox="1"/>
            <p:nvPr/>
          </p:nvSpPr>
          <p:spPr>
            <a:xfrm>
              <a:off x="152400" y="152400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1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54"/>
            <p:cNvSpPr txBox="1"/>
            <p:nvPr/>
          </p:nvSpPr>
          <p:spPr>
            <a:xfrm>
              <a:off x="571500" y="76200"/>
              <a:ext cx="74676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Load and open a module</a:t>
              </a:r>
              <a:endParaRPr b="1" sz="10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54"/>
            <p:cNvSpPr/>
            <p:nvPr/>
          </p:nvSpPr>
          <p:spPr>
            <a:xfrm>
              <a:off x="571500" y="266700"/>
              <a:ext cx="7467600" cy="1285800"/>
            </a:xfrm>
            <a:prstGeom prst="roundRect">
              <a:avLst>
                <a:gd fmla="val 2962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54"/>
            <p:cNvSpPr txBox="1"/>
            <p:nvPr/>
          </p:nvSpPr>
          <p:spPr>
            <a:xfrm>
              <a:off x="647700" y="266700"/>
              <a:ext cx="73152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A7F3D0"/>
                  </a:solidFill>
                  <a:latin typeface="Consolas"/>
                  <a:ea typeface="Consolas"/>
                  <a:cs typeface="Consolas"/>
                  <a:sym typeface="Consolas"/>
                </a:rPr>
                <a:t>fratnasamy@mcn01:~ $</a:t>
              </a:r>
              <a:r>
                <a:rPr lang="en" sz="90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 module load python/booth/3.13</a:t>
              </a:r>
              <a:endParaRPr sz="9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A7F3D0"/>
                  </a:solidFill>
                  <a:latin typeface="Consolas"/>
                  <a:ea typeface="Consolas"/>
                  <a:cs typeface="Consolas"/>
                  <a:sym typeface="Consolas"/>
                </a:rPr>
                <a:t>fratnasamy@mcn01:~ $</a:t>
              </a:r>
              <a:r>
                <a:rPr lang="en" sz="90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 python3</a:t>
              </a:r>
              <a:endParaRPr sz="90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94A3B8"/>
                  </a:solidFill>
                  <a:latin typeface="Consolas"/>
                  <a:ea typeface="Consolas"/>
                  <a:cs typeface="Consolas"/>
                  <a:sym typeface="Consolas"/>
                </a:rPr>
                <a:t>Python 3.13.12 (default, Aug 21 2026, 22:29:49)</a:t>
              </a:r>
              <a:endParaRPr sz="90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94A3B8"/>
                  </a:solidFill>
                  <a:latin typeface="Consolas"/>
                  <a:ea typeface="Consolas"/>
                  <a:cs typeface="Consolas"/>
                  <a:sym typeface="Consolas"/>
                </a:rPr>
                <a:t>[GCC 8.4.1 20200928 (Red Hat 8.4.1-1)] on linux</a:t>
              </a:r>
              <a:endParaRPr sz="90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94A3B8"/>
                  </a:solidFill>
                  <a:latin typeface="Consolas"/>
                  <a:ea typeface="Consolas"/>
                  <a:cs typeface="Consolas"/>
                  <a:sym typeface="Consolas"/>
                </a:rPr>
                <a:t>Type "help", "copyright", "credits" or "license" for more information.</a:t>
              </a:r>
              <a:endParaRPr sz="90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38BDF8"/>
                  </a:solidFill>
                  <a:latin typeface="Consolas"/>
                  <a:ea typeface="Consolas"/>
                  <a:cs typeface="Consolas"/>
                  <a:sym typeface="Consolas"/>
                </a:rPr>
                <a:t>&gt;&gt;&gt; exit()</a:t>
              </a:r>
              <a:endParaRPr sz="90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508" name="Google Shape;508;p54"/>
          <p:cNvGrpSpPr/>
          <p:nvPr/>
        </p:nvGrpSpPr>
        <p:grpSpPr>
          <a:xfrm>
            <a:off x="476250" y="4591050"/>
            <a:ext cx="381000" cy="285900"/>
            <a:chOff x="0" y="0"/>
            <a:chExt cx="381000" cy="285900"/>
          </a:xfrm>
        </p:grpSpPr>
        <p:sp>
          <p:nvSpPr>
            <p:cNvPr id="509" name="Google Shape;509;p54"/>
            <p:cNvSpPr/>
            <p:nvPr/>
          </p:nvSpPr>
          <p:spPr>
            <a:xfrm>
              <a:off x="0" y="0"/>
              <a:ext cx="381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54"/>
            <p:cNvSpPr txBox="1"/>
            <p:nvPr/>
          </p:nvSpPr>
          <p:spPr>
            <a:xfrm>
              <a:off x="0" y="0"/>
              <a:ext cx="38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sz="14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11" name="Google Shape;511;p54"/>
          <p:cNvPicPr preferRelativeResize="0"/>
          <p:nvPr/>
        </p:nvPicPr>
        <p:blipFill rotWithShape="1">
          <a:blip r:embed="rId4">
            <a:alphaModFix/>
          </a:blip>
          <a:srcRect b="16600" l="0" r="0" t="16600"/>
          <a:stretch/>
        </p:blipFill>
        <p:spPr>
          <a:xfrm>
            <a:off x="4038600" y="1019175"/>
            <a:ext cx="4495800" cy="78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7" name="Google Shape;517;p55"/>
          <p:cNvCxnSpPr/>
          <p:nvPr/>
        </p:nvCxnSpPr>
        <p:spPr>
          <a:xfrm>
            <a:off x="0" y="4457700"/>
            <a:ext cx="9144000" cy="1200"/>
          </a:xfrm>
          <a:prstGeom prst="straightConnector1">
            <a:avLst/>
          </a:prstGeom>
          <a:noFill/>
          <a:ln cap="flat" cmpd="sng" w="9525">
            <a:solidFill>
              <a:srgbClr val="6E0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PT-Large-Logo-with-Tag-Pos.png" id="518" name="Google Shape;518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91263" y="4552950"/>
            <a:ext cx="1796653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55"/>
          <p:cNvSpPr/>
          <p:nvPr/>
        </p:nvSpPr>
        <p:spPr>
          <a:xfrm>
            <a:off x="476250" y="190500"/>
            <a:ext cx="8191500" cy="38100"/>
          </a:xfrm>
          <a:prstGeom prst="roundRect">
            <a:avLst>
              <a:gd fmla="val 50000" name="adj"/>
            </a:avLst>
          </a:prstGeom>
          <a:solidFill>
            <a:srgbClr val="82000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55"/>
          <p:cNvSpPr txBox="1"/>
          <p:nvPr/>
        </p:nvSpPr>
        <p:spPr>
          <a:xfrm>
            <a:off x="476250" y="285750"/>
            <a:ext cx="8191500" cy="362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820009"/>
                </a:solidFill>
                <a:latin typeface="Arial"/>
                <a:ea typeface="Arial"/>
                <a:cs typeface="Arial"/>
                <a:sym typeface="Arial"/>
              </a:rPr>
              <a:t>Mercury Hands-On Demonstration</a:t>
            </a:r>
            <a:endParaRPr b="1" sz="2200">
              <a:solidFill>
                <a:srgbClr val="82000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1" name="Google Shape;521;p55"/>
          <p:cNvGrpSpPr/>
          <p:nvPr/>
        </p:nvGrpSpPr>
        <p:grpSpPr>
          <a:xfrm>
            <a:off x="476250" y="714375"/>
            <a:ext cx="8191500" cy="1666800"/>
            <a:chOff x="0" y="0"/>
            <a:chExt cx="8191500" cy="1666800"/>
          </a:xfrm>
        </p:grpSpPr>
        <p:sp>
          <p:nvSpPr>
            <p:cNvPr id="522" name="Google Shape;522;p55"/>
            <p:cNvSpPr/>
            <p:nvPr/>
          </p:nvSpPr>
          <p:spPr>
            <a:xfrm>
              <a:off x="0" y="0"/>
              <a:ext cx="8191500" cy="1666800"/>
            </a:xfrm>
            <a:prstGeom prst="roundRect">
              <a:avLst>
                <a:gd fmla="val 3428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55"/>
            <p:cNvSpPr/>
            <p:nvPr/>
          </p:nvSpPr>
          <p:spPr>
            <a:xfrm>
              <a:off x="152400" y="133350"/>
              <a:ext cx="304800" cy="304800"/>
            </a:xfrm>
            <a:prstGeom prst="ellipse">
              <a:avLst/>
            </a:prstGeom>
            <a:solidFill>
              <a:srgbClr val="82000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55"/>
            <p:cNvSpPr txBox="1"/>
            <p:nvPr/>
          </p:nvSpPr>
          <p:spPr>
            <a:xfrm>
              <a:off x="152400" y="133350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55"/>
            <p:cNvSpPr txBox="1"/>
            <p:nvPr/>
          </p:nvSpPr>
          <p:spPr>
            <a:xfrm>
              <a:off x="571500" y="76200"/>
              <a:ext cx="74676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Load R module</a:t>
              </a:r>
              <a:endParaRPr b="1" sz="10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55"/>
            <p:cNvSpPr/>
            <p:nvPr/>
          </p:nvSpPr>
          <p:spPr>
            <a:xfrm>
              <a:off x="571500" y="304800"/>
              <a:ext cx="7467600" cy="1257300"/>
            </a:xfrm>
            <a:prstGeom prst="roundRect">
              <a:avLst>
                <a:gd fmla="val 303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55"/>
            <p:cNvSpPr txBox="1"/>
            <p:nvPr/>
          </p:nvSpPr>
          <p:spPr>
            <a:xfrm>
              <a:off x="647700" y="323850"/>
              <a:ext cx="7315200" cy="12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A7F3D0"/>
                  </a:solidFill>
                  <a:latin typeface="Consolas"/>
                  <a:ea typeface="Consolas"/>
                  <a:cs typeface="Consolas"/>
                  <a:sym typeface="Consolas"/>
                </a:rPr>
                <a:t>fratnasamy@mcn01:~ $ </a:t>
              </a:r>
              <a:r>
                <a:rPr b="0" lang="en" sz="85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module load R/4.5/4.5.3</a:t>
              </a:r>
              <a:endParaRPr b="0" sz="850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A7F3D0"/>
                  </a:solidFill>
                  <a:latin typeface="Consolas"/>
                  <a:ea typeface="Consolas"/>
                  <a:cs typeface="Consolas"/>
                  <a:sym typeface="Consolas"/>
                </a:rPr>
                <a:t>fratnasamy@mcn01:~ $ </a:t>
              </a:r>
              <a:r>
                <a:rPr b="0" lang="en" sz="85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R</a:t>
              </a:r>
              <a:r>
                <a:rPr b="0" lang="en" sz="850">
                  <a:solidFill>
                    <a:srgbClr val="A7F3D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b="0" i="1" lang="en" sz="850">
                  <a:solidFill>
                    <a:srgbClr val="94A3B8"/>
                  </a:solidFill>
                  <a:latin typeface="Consolas"/>
                  <a:ea typeface="Consolas"/>
                  <a:cs typeface="Consolas"/>
                  <a:sym typeface="Consolas"/>
                </a:rPr>
                <a:t>#opens R prompt</a:t>
              </a:r>
              <a:endParaRPr b="0" sz="850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94A3B8"/>
                  </a:solidFill>
                  <a:latin typeface="Consolas"/>
                  <a:ea typeface="Consolas"/>
                  <a:cs typeface="Consolas"/>
                  <a:sym typeface="Consolas"/>
                </a:rPr>
                <a:t>R version 4.0.2 (2020-06-22) -- "Taking Off Again"</a:t>
              </a:r>
              <a:endParaRPr b="0" sz="85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94A3B8"/>
                  </a:solidFill>
                  <a:latin typeface="Consolas"/>
                  <a:ea typeface="Consolas"/>
                  <a:cs typeface="Consolas"/>
                  <a:sym typeface="Consolas"/>
                </a:rPr>
                <a:t>Copyright (C) 2020 The R Foundation for Statistical Computing</a:t>
              </a:r>
              <a:endParaRPr b="0" sz="85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94A3B8"/>
                  </a:solidFill>
                  <a:latin typeface="Consolas"/>
                  <a:ea typeface="Consolas"/>
                  <a:cs typeface="Consolas"/>
                  <a:sym typeface="Consolas"/>
                </a:rPr>
                <a:t>Platform: x86_64-pc-linux-gnu (64-bit)</a:t>
              </a:r>
              <a:endParaRPr b="0" sz="85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38BDF8"/>
                  </a:solidFill>
                  <a:latin typeface="Consolas"/>
                  <a:ea typeface="Consolas"/>
                  <a:cs typeface="Consolas"/>
                  <a:sym typeface="Consolas"/>
                </a:rPr>
                <a:t>&gt;&gt; install.packages(‘caret’)</a:t>
              </a:r>
              <a:endParaRPr b="0" sz="850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CBD5E1"/>
                  </a:solidFill>
                  <a:latin typeface="Consolas"/>
                  <a:ea typeface="Consolas"/>
                  <a:cs typeface="Consolas"/>
                  <a:sym typeface="Consolas"/>
                </a:rPr>
                <a:t>Save workspace image? [y/n/c]: n</a:t>
              </a:r>
              <a:endParaRPr b="0" sz="850">
                <a:solidFill>
                  <a:srgbClr val="CBD5E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528" name="Google Shape;528;p55"/>
          <p:cNvGrpSpPr/>
          <p:nvPr/>
        </p:nvGrpSpPr>
        <p:grpSpPr>
          <a:xfrm>
            <a:off x="476250" y="2476500"/>
            <a:ext cx="8191500" cy="1047900"/>
            <a:chOff x="0" y="0"/>
            <a:chExt cx="8191500" cy="1047900"/>
          </a:xfrm>
        </p:grpSpPr>
        <p:sp>
          <p:nvSpPr>
            <p:cNvPr id="529" name="Google Shape;529;p55"/>
            <p:cNvSpPr/>
            <p:nvPr/>
          </p:nvSpPr>
          <p:spPr>
            <a:xfrm>
              <a:off x="0" y="0"/>
              <a:ext cx="8191500" cy="1047900"/>
            </a:xfrm>
            <a:prstGeom prst="roundRect">
              <a:avLst>
                <a:gd fmla="val 5454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55"/>
            <p:cNvSpPr/>
            <p:nvPr/>
          </p:nvSpPr>
          <p:spPr>
            <a:xfrm>
              <a:off x="152400" y="133350"/>
              <a:ext cx="304800" cy="304800"/>
            </a:xfrm>
            <a:prstGeom prst="ellipse">
              <a:avLst/>
            </a:prstGeom>
            <a:solidFill>
              <a:srgbClr val="82000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55"/>
            <p:cNvSpPr txBox="1"/>
            <p:nvPr/>
          </p:nvSpPr>
          <p:spPr>
            <a:xfrm>
              <a:off x="152400" y="133350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55"/>
            <p:cNvSpPr txBox="1"/>
            <p:nvPr/>
          </p:nvSpPr>
          <p:spPr>
            <a:xfrm>
              <a:off x="571500" y="76200"/>
              <a:ext cx="74676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Load MATLAB module </a:t>
              </a:r>
              <a:r>
                <a:rPr b="0" lang="en" sz="10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(without Graphic Interface)</a:t>
              </a:r>
              <a:endParaRPr b="1" sz="10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55"/>
            <p:cNvSpPr/>
            <p:nvPr/>
          </p:nvSpPr>
          <p:spPr>
            <a:xfrm>
              <a:off x="571500" y="304800"/>
              <a:ext cx="7467600" cy="647700"/>
            </a:xfrm>
            <a:prstGeom prst="roundRect">
              <a:avLst>
                <a:gd fmla="val 5882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55"/>
            <p:cNvSpPr txBox="1"/>
            <p:nvPr/>
          </p:nvSpPr>
          <p:spPr>
            <a:xfrm>
              <a:off x="647700" y="323850"/>
              <a:ext cx="73152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A7F3D0"/>
                  </a:solidFill>
                  <a:latin typeface="Consolas"/>
                  <a:ea typeface="Consolas"/>
                  <a:cs typeface="Consolas"/>
                  <a:sym typeface="Consolas"/>
                </a:rPr>
                <a:t>fratnasamy@mcn01:~ $ </a:t>
              </a:r>
              <a:r>
                <a:rPr b="0" lang="en" sz="85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module load matlab/R2026a</a:t>
              </a:r>
              <a:endParaRPr b="0" sz="850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A7F3D0"/>
                  </a:solidFill>
                  <a:latin typeface="Consolas"/>
                  <a:ea typeface="Consolas"/>
                  <a:cs typeface="Consolas"/>
                  <a:sym typeface="Consolas"/>
                </a:rPr>
                <a:t>fratnasamy@mcn01:~ $ </a:t>
              </a:r>
              <a:r>
                <a:rPr b="0" lang="en" sz="85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matlab</a:t>
              </a:r>
              <a:r>
                <a:rPr b="0" lang="en" sz="850">
                  <a:solidFill>
                    <a:srgbClr val="A7F3D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b="0" i="1" lang="en" sz="850">
                  <a:solidFill>
                    <a:srgbClr val="94A3B8"/>
                  </a:solidFill>
                  <a:latin typeface="Consolas"/>
                  <a:ea typeface="Consolas"/>
                  <a:cs typeface="Consolas"/>
                  <a:sym typeface="Consolas"/>
                </a:rPr>
                <a:t>#opens matlab terminal</a:t>
              </a:r>
              <a:endParaRPr b="0" sz="850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225"/>
                </a:spcAft>
                <a:buNone/>
              </a:pPr>
              <a:r>
                <a:rPr b="0" lang="en" sz="850">
                  <a:solidFill>
                    <a:srgbClr val="94A3B8"/>
                  </a:solidFill>
                  <a:latin typeface="Consolas"/>
                  <a:ea typeface="Consolas"/>
                  <a:cs typeface="Consolas"/>
                  <a:sym typeface="Consolas"/>
                </a:rPr>
                <a:t>MATLAB is selecting SOFTWARE OPENGL rendering. </a:t>
              </a:r>
              <a:r>
                <a:rPr b="0" lang="en" sz="850">
                  <a:solidFill>
                    <a:srgbClr val="38BDF8"/>
                  </a:solidFill>
                  <a:latin typeface="Consolas"/>
                  <a:ea typeface="Consolas"/>
                  <a:cs typeface="Consolas"/>
                  <a:sym typeface="Consolas"/>
                </a:rPr>
                <a:t>&gt;&gt; exit</a:t>
              </a:r>
              <a:endParaRPr b="0" sz="85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535" name="Google Shape;535;p55"/>
          <p:cNvGrpSpPr/>
          <p:nvPr/>
        </p:nvGrpSpPr>
        <p:grpSpPr>
          <a:xfrm>
            <a:off x="476250" y="3619500"/>
            <a:ext cx="8191500" cy="647700"/>
            <a:chOff x="0" y="0"/>
            <a:chExt cx="8191500" cy="647700"/>
          </a:xfrm>
        </p:grpSpPr>
        <p:sp>
          <p:nvSpPr>
            <p:cNvPr id="536" name="Google Shape;536;p55"/>
            <p:cNvSpPr/>
            <p:nvPr/>
          </p:nvSpPr>
          <p:spPr>
            <a:xfrm>
              <a:off x="0" y="0"/>
              <a:ext cx="8191500" cy="647700"/>
            </a:xfrm>
            <a:prstGeom prst="roundRect">
              <a:avLst>
                <a:gd fmla="val 8823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55"/>
            <p:cNvSpPr/>
            <p:nvPr/>
          </p:nvSpPr>
          <p:spPr>
            <a:xfrm>
              <a:off x="152400" y="171450"/>
              <a:ext cx="304800" cy="304800"/>
            </a:xfrm>
            <a:prstGeom prst="ellipse">
              <a:avLst/>
            </a:prstGeom>
            <a:solidFill>
              <a:srgbClr val="82000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55"/>
            <p:cNvSpPr txBox="1"/>
            <p:nvPr/>
          </p:nvSpPr>
          <p:spPr>
            <a:xfrm>
              <a:off x="152400" y="171450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55"/>
            <p:cNvSpPr txBox="1"/>
            <p:nvPr/>
          </p:nvSpPr>
          <p:spPr>
            <a:xfrm>
              <a:off x="571500" y="76200"/>
              <a:ext cx="74676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List all current module loaded</a:t>
              </a:r>
              <a:endParaRPr b="1" sz="10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55"/>
            <p:cNvSpPr/>
            <p:nvPr/>
          </p:nvSpPr>
          <p:spPr>
            <a:xfrm>
              <a:off x="571500" y="285750"/>
              <a:ext cx="7467600" cy="266700"/>
            </a:xfrm>
            <a:prstGeom prst="roundRect">
              <a:avLst>
                <a:gd fmla="val 14285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55"/>
            <p:cNvSpPr txBox="1"/>
            <p:nvPr/>
          </p:nvSpPr>
          <p:spPr>
            <a:xfrm>
              <a:off x="647700" y="285750"/>
              <a:ext cx="73152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A7F3D0"/>
                  </a:solidFill>
                  <a:latin typeface="Consolas"/>
                  <a:ea typeface="Consolas"/>
                  <a:cs typeface="Consolas"/>
                  <a:sym typeface="Consolas"/>
                </a:rPr>
                <a:t>fratnasamy@mcn01:~ $ </a:t>
              </a:r>
              <a:r>
                <a:rPr b="0" lang="en" sz="90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module list</a:t>
              </a:r>
              <a:endParaRPr b="0" sz="900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542" name="Google Shape;542;p55"/>
          <p:cNvGrpSpPr/>
          <p:nvPr/>
        </p:nvGrpSpPr>
        <p:grpSpPr>
          <a:xfrm>
            <a:off x="476250" y="4591050"/>
            <a:ext cx="381000" cy="285900"/>
            <a:chOff x="0" y="0"/>
            <a:chExt cx="381000" cy="285900"/>
          </a:xfrm>
        </p:grpSpPr>
        <p:sp>
          <p:nvSpPr>
            <p:cNvPr id="543" name="Google Shape;543;p55"/>
            <p:cNvSpPr/>
            <p:nvPr/>
          </p:nvSpPr>
          <p:spPr>
            <a:xfrm>
              <a:off x="0" y="0"/>
              <a:ext cx="381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55"/>
            <p:cNvSpPr txBox="1"/>
            <p:nvPr/>
          </p:nvSpPr>
          <p:spPr>
            <a:xfrm>
              <a:off x="0" y="0"/>
              <a:ext cx="38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16</a:t>
              </a:r>
              <a:endParaRPr b="0" sz="14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56"/>
          <p:cNvSpPr/>
          <p:nvPr/>
        </p:nvSpPr>
        <p:spPr>
          <a:xfrm>
            <a:off x="476250" y="171450"/>
            <a:ext cx="8191500" cy="38100"/>
          </a:xfrm>
          <a:prstGeom prst="roundRect">
            <a:avLst>
              <a:gd fmla="val 50000" name="adj"/>
            </a:avLst>
          </a:prstGeom>
          <a:solidFill>
            <a:srgbClr val="82000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56"/>
          <p:cNvSpPr txBox="1"/>
          <p:nvPr/>
        </p:nvSpPr>
        <p:spPr>
          <a:xfrm>
            <a:off x="476250" y="247650"/>
            <a:ext cx="8191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820009"/>
                </a:solidFill>
                <a:latin typeface="Arial"/>
                <a:ea typeface="Arial"/>
                <a:cs typeface="Arial"/>
                <a:sym typeface="Arial"/>
              </a:rPr>
              <a:t>Mercury Hands-On Demonstration</a:t>
            </a:r>
            <a:endParaRPr b="1" sz="2200">
              <a:solidFill>
                <a:srgbClr val="82000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1" name="Google Shape;551;p56"/>
          <p:cNvGrpSpPr/>
          <p:nvPr/>
        </p:nvGrpSpPr>
        <p:grpSpPr>
          <a:xfrm>
            <a:off x="476250" y="647700"/>
            <a:ext cx="8191500" cy="1447800"/>
            <a:chOff x="0" y="0"/>
            <a:chExt cx="8191500" cy="1447800"/>
          </a:xfrm>
        </p:grpSpPr>
        <p:sp>
          <p:nvSpPr>
            <p:cNvPr id="552" name="Google Shape;552;p56"/>
            <p:cNvSpPr/>
            <p:nvPr/>
          </p:nvSpPr>
          <p:spPr>
            <a:xfrm>
              <a:off x="0" y="0"/>
              <a:ext cx="8191500" cy="1447800"/>
            </a:xfrm>
            <a:prstGeom prst="roundRect">
              <a:avLst>
                <a:gd fmla="val 3947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56"/>
            <p:cNvSpPr/>
            <p:nvPr/>
          </p:nvSpPr>
          <p:spPr>
            <a:xfrm>
              <a:off x="152400" y="114300"/>
              <a:ext cx="304800" cy="304800"/>
            </a:xfrm>
            <a:prstGeom prst="ellipse">
              <a:avLst/>
            </a:prstGeom>
            <a:solidFill>
              <a:srgbClr val="82000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56"/>
            <p:cNvSpPr txBox="1"/>
            <p:nvPr/>
          </p:nvSpPr>
          <p:spPr>
            <a:xfrm>
              <a:off x="152400" y="114300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13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56"/>
            <p:cNvSpPr txBox="1"/>
            <p:nvPr/>
          </p:nvSpPr>
          <p:spPr>
            <a:xfrm>
              <a:off x="571500" y="76200"/>
              <a:ext cx="74676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Run a program in an interactive session:</a:t>
              </a:r>
              <a:endParaRPr b="1" sz="10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56"/>
            <p:cNvSpPr/>
            <p:nvPr/>
          </p:nvSpPr>
          <p:spPr>
            <a:xfrm>
              <a:off x="571500" y="304800"/>
              <a:ext cx="7467600" cy="1009800"/>
            </a:xfrm>
            <a:prstGeom prst="roundRect">
              <a:avLst>
                <a:gd fmla="val 3773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56"/>
            <p:cNvSpPr txBox="1"/>
            <p:nvPr/>
          </p:nvSpPr>
          <p:spPr>
            <a:xfrm>
              <a:off x="647700" y="323850"/>
              <a:ext cx="7315200" cy="97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A7F3D0"/>
                  </a:solidFill>
                  <a:latin typeface="Consolas"/>
                  <a:ea typeface="Consolas"/>
                  <a:cs typeface="Consolas"/>
                  <a:sym typeface="Consolas"/>
                </a:rPr>
                <a:t>fratnasamy@mcn01:~ $ </a:t>
              </a:r>
              <a:r>
                <a:rPr b="0" lang="en" sz="85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cd /home/&lt;BoothID&gt;/workshop/</a:t>
              </a:r>
              <a:endParaRPr b="0" sz="850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A7F3D0"/>
                  </a:solidFill>
                  <a:latin typeface="Consolas"/>
                  <a:ea typeface="Consolas"/>
                  <a:cs typeface="Consolas"/>
                  <a:sym typeface="Consolas"/>
                </a:rPr>
                <a:t>fratnasamy@mcn01:~ $ </a:t>
              </a:r>
              <a:r>
                <a:rPr b="0" lang="en" sz="850">
                  <a:solidFill>
                    <a:srgbClr val="38BDF8"/>
                  </a:solidFill>
                  <a:latin typeface="Consolas"/>
                  <a:ea typeface="Consolas"/>
                  <a:cs typeface="Consolas"/>
                  <a:sym typeface="Consolas"/>
                </a:rPr>
                <a:t>python3 /home/&lt;BoothID&gt;/workshop/eigen_val.py</a:t>
              </a:r>
              <a:endParaRPr b="0" sz="850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A7F3D0"/>
                  </a:solidFill>
                  <a:latin typeface="Consolas"/>
                  <a:ea typeface="Consolas"/>
                  <a:cs typeface="Consolas"/>
                  <a:sym typeface="Consolas"/>
                </a:rPr>
                <a:t>fratnasamy@mcn01:~ $ </a:t>
              </a:r>
              <a:r>
                <a:rPr b="0" lang="en" sz="850">
                  <a:solidFill>
                    <a:srgbClr val="38BDF8"/>
                  </a:solidFill>
                  <a:latin typeface="Consolas"/>
                  <a:ea typeface="Consolas"/>
                  <a:cs typeface="Consolas"/>
                  <a:sym typeface="Consolas"/>
                </a:rPr>
                <a:t>Rscript /home/&lt;BoothID&gt;/workshop/eigen_val.R</a:t>
              </a:r>
              <a:endParaRPr b="0" sz="850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A7F3D0"/>
                  </a:solidFill>
                  <a:latin typeface="Consolas"/>
                  <a:ea typeface="Consolas"/>
                  <a:cs typeface="Consolas"/>
                  <a:sym typeface="Consolas"/>
                </a:rPr>
                <a:t>fratnasamy@mcn01:~ $ </a:t>
              </a:r>
              <a:r>
                <a:rPr b="0" lang="en" sz="850">
                  <a:solidFill>
                    <a:srgbClr val="38BDF8"/>
                  </a:solidFill>
                  <a:latin typeface="Consolas"/>
                  <a:ea typeface="Consolas"/>
                  <a:cs typeface="Consolas"/>
                  <a:sym typeface="Consolas"/>
                </a:rPr>
                <a:t>matlab -nodisplay -nojvm &lt; eigen_val.m</a:t>
              </a:r>
              <a:endParaRPr b="0" sz="850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558" name="Google Shape;558;p56"/>
          <p:cNvGrpSpPr/>
          <p:nvPr/>
        </p:nvGrpSpPr>
        <p:grpSpPr>
          <a:xfrm>
            <a:off x="476250" y="2171700"/>
            <a:ext cx="8191500" cy="2171700"/>
            <a:chOff x="0" y="0"/>
            <a:chExt cx="8191500" cy="2171700"/>
          </a:xfrm>
        </p:grpSpPr>
        <p:sp>
          <p:nvSpPr>
            <p:cNvPr id="559" name="Google Shape;559;p56"/>
            <p:cNvSpPr/>
            <p:nvPr/>
          </p:nvSpPr>
          <p:spPr>
            <a:xfrm>
              <a:off x="0" y="0"/>
              <a:ext cx="8191500" cy="2171700"/>
            </a:xfrm>
            <a:prstGeom prst="roundRect">
              <a:avLst>
                <a:gd fmla="val 2631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56"/>
            <p:cNvSpPr/>
            <p:nvPr/>
          </p:nvSpPr>
          <p:spPr>
            <a:xfrm>
              <a:off x="152400" y="114300"/>
              <a:ext cx="304800" cy="304800"/>
            </a:xfrm>
            <a:prstGeom prst="ellipse">
              <a:avLst/>
            </a:prstGeom>
            <a:solidFill>
              <a:srgbClr val="82000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56"/>
            <p:cNvSpPr txBox="1"/>
            <p:nvPr/>
          </p:nvSpPr>
          <p:spPr>
            <a:xfrm>
              <a:off x="152400" y="114300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14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56"/>
            <p:cNvSpPr txBox="1"/>
            <p:nvPr/>
          </p:nvSpPr>
          <p:spPr>
            <a:xfrm>
              <a:off x="571500" y="76200"/>
              <a:ext cx="74676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For longer jobs, submit your program through sbatch </a:t>
              </a:r>
              <a:r>
                <a:rPr b="0" lang="en" sz="10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(submit from front node mfe01 or mfe02)</a:t>
              </a:r>
              <a:endParaRPr b="1" sz="10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56"/>
            <p:cNvSpPr/>
            <p:nvPr/>
          </p:nvSpPr>
          <p:spPr>
            <a:xfrm>
              <a:off x="571500" y="304800"/>
              <a:ext cx="7467600" cy="514500"/>
            </a:xfrm>
            <a:prstGeom prst="roundRect">
              <a:avLst>
                <a:gd fmla="val 7407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56"/>
            <p:cNvSpPr txBox="1"/>
            <p:nvPr/>
          </p:nvSpPr>
          <p:spPr>
            <a:xfrm>
              <a:off x="647700" y="323850"/>
              <a:ext cx="73152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A7F3D0"/>
                  </a:solidFill>
                  <a:latin typeface="Consolas"/>
                  <a:ea typeface="Consolas"/>
                  <a:cs typeface="Consolas"/>
                  <a:sym typeface="Consolas"/>
                </a:rPr>
                <a:t>fratnasamy@mfe01:~ $ </a:t>
              </a:r>
              <a:r>
                <a:rPr b="0" lang="en" sz="85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sbatch submit.sh</a:t>
              </a:r>
              <a:endParaRPr b="0" sz="850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94A3B8"/>
                  </a:solidFill>
                  <a:latin typeface="Consolas"/>
                  <a:ea typeface="Consolas"/>
                  <a:cs typeface="Consolas"/>
                  <a:sym typeface="Consolas"/>
                </a:rPr>
                <a:t>Submitted batch job nnnnnn</a:t>
              </a:r>
              <a:endParaRPr b="0" sz="85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565" name="Google Shape;565;p56"/>
            <p:cNvSpPr/>
            <p:nvPr/>
          </p:nvSpPr>
          <p:spPr>
            <a:xfrm>
              <a:off x="571500" y="895350"/>
              <a:ext cx="7467600" cy="1181100"/>
            </a:xfrm>
            <a:prstGeom prst="roundRect">
              <a:avLst>
                <a:gd fmla="val 3225" name="adj"/>
              </a:avLst>
            </a:prstGeom>
            <a:solidFill>
              <a:srgbClr val="EFF6FF"/>
            </a:solidFill>
            <a:ln cap="flat" cmpd="sng" w="9525">
              <a:solidFill>
                <a:srgbClr val="BFDB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56"/>
            <p:cNvSpPr txBox="1"/>
            <p:nvPr/>
          </p:nvSpPr>
          <p:spPr>
            <a:xfrm>
              <a:off x="723900" y="952500"/>
              <a:ext cx="7162800" cy="10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1E40AF"/>
                  </a:solidFill>
                  <a:latin typeface="Arial"/>
                  <a:ea typeface="Arial"/>
                  <a:cs typeface="Arial"/>
                  <a:sym typeface="Arial"/>
                </a:rPr>
                <a:t>Output File Information</a:t>
              </a:r>
              <a:endParaRPr b="1" sz="950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1E3A8A"/>
                  </a:solidFill>
                  <a:latin typeface="Arial"/>
                  <a:ea typeface="Arial"/>
                  <a:cs typeface="Arial"/>
                  <a:sym typeface="Arial"/>
                </a:rPr>
                <a:t>Each job submission creates an output file (</a:t>
              </a:r>
              <a:r>
                <a:rPr b="1" lang="en" sz="950">
                  <a:solidFill>
                    <a:srgbClr val="1D4ED8"/>
                  </a:solidFill>
                  <a:latin typeface="Consolas"/>
                  <a:ea typeface="Consolas"/>
                  <a:cs typeface="Consolas"/>
                  <a:sym typeface="Consolas"/>
                </a:rPr>
                <a:t>slurm-nnnnnn.out</a:t>
              </a:r>
              <a:r>
                <a:rPr b="0" lang="en" sz="950">
                  <a:solidFill>
                    <a:srgbClr val="1E3A8A"/>
                  </a:solidFill>
                  <a:latin typeface="Arial"/>
                  <a:ea typeface="Arial"/>
                  <a:cs typeface="Arial"/>
                  <a:sym typeface="Arial"/>
                </a:rPr>
                <a:t>) in the working directory where you submit your job from. Note that </a:t>
              </a:r>
              <a:r>
                <a:rPr b="1" lang="en" sz="950">
                  <a:solidFill>
                    <a:srgbClr val="1D4ED8"/>
                  </a:solidFill>
                  <a:latin typeface="Consolas"/>
                  <a:ea typeface="Consolas"/>
                  <a:cs typeface="Consolas"/>
                  <a:sym typeface="Consolas"/>
                </a:rPr>
                <a:t>nnnnnn</a:t>
              </a:r>
              <a:r>
                <a:rPr b="0" lang="en" sz="950">
                  <a:solidFill>
                    <a:srgbClr val="1E3A8A"/>
                  </a:solidFill>
                  <a:latin typeface="Arial"/>
                  <a:ea typeface="Arial"/>
                  <a:cs typeface="Arial"/>
                  <a:sym typeface="Arial"/>
                </a:rPr>
                <a:t> corresponds to the job ID.</a:t>
              </a:r>
              <a:endParaRPr b="0" sz="95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1E3A8A"/>
                  </a:solidFill>
                  <a:latin typeface="Arial"/>
                  <a:ea typeface="Arial"/>
                  <a:cs typeface="Arial"/>
                  <a:sym typeface="Arial"/>
                </a:rPr>
                <a:t>If you specified </a:t>
              </a:r>
              <a:r>
                <a:rPr b="1" lang="en" sz="950">
                  <a:solidFill>
                    <a:srgbClr val="1D4ED8"/>
                  </a:solidFill>
                  <a:latin typeface="Consolas"/>
                  <a:ea typeface="Consolas"/>
                  <a:cs typeface="Consolas"/>
                  <a:sym typeface="Consolas"/>
                </a:rPr>
                <a:t>#SBATCH --output</a:t>
              </a:r>
              <a:r>
                <a:rPr b="0" lang="en" sz="950">
                  <a:solidFill>
                    <a:srgbClr val="1E3A8A"/>
                  </a:solidFill>
                  <a:latin typeface="Arial"/>
                  <a:ea typeface="Arial"/>
                  <a:cs typeface="Arial"/>
                  <a:sym typeface="Arial"/>
                </a:rPr>
                <a:t>, then </a:t>
              </a:r>
              <a:r>
                <a:rPr b="1" lang="en" sz="950">
                  <a:solidFill>
                    <a:srgbClr val="1D4ED8"/>
                  </a:solidFill>
                  <a:latin typeface="Consolas"/>
                  <a:ea typeface="Consolas"/>
                  <a:cs typeface="Consolas"/>
                  <a:sym typeface="Consolas"/>
                </a:rPr>
                <a:t>slurm-nnnnnn.out</a:t>
              </a:r>
              <a:r>
                <a:rPr b="0" lang="en" sz="950">
                  <a:solidFill>
                    <a:srgbClr val="1E3A8A"/>
                  </a:solidFill>
                  <a:latin typeface="Arial"/>
                  <a:ea typeface="Arial"/>
                  <a:cs typeface="Arial"/>
                  <a:sym typeface="Arial"/>
                </a:rPr>
                <a:t> will not be generated. The output file will be the file you defined in </a:t>
              </a:r>
              <a:r>
                <a:rPr b="1" lang="en" sz="950">
                  <a:solidFill>
                    <a:srgbClr val="1D4ED8"/>
                  </a:solidFill>
                  <a:latin typeface="Consolas"/>
                  <a:ea typeface="Consolas"/>
                  <a:cs typeface="Consolas"/>
                  <a:sym typeface="Consolas"/>
                </a:rPr>
                <a:t>#SBATCH --output</a:t>
              </a:r>
              <a:r>
                <a:rPr b="0" lang="en" sz="950">
                  <a:solidFill>
                    <a:srgbClr val="1E3A8A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0" sz="95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67" name="Google Shape;567;p56"/>
          <p:cNvCxnSpPr/>
          <p:nvPr/>
        </p:nvCxnSpPr>
        <p:spPr>
          <a:xfrm>
            <a:off x="0" y="4457700"/>
            <a:ext cx="9144000" cy="120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6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8" name="Google Shape;568;p56"/>
          <p:cNvSpPr txBox="1"/>
          <p:nvPr/>
        </p:nvSpPr>
        <p:spPr>
          <a:xfrm>
            <a:off x="476250" y="4591050"/>
            <a:ext cx="381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b="0" sz="14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9" name="Google Shape;569;p56"/>
          <p:cNvPicPr preferRelativeResize="0"/>
          <p:nvPr/>
        </p:nvPicPr>
        <p:blipFill rotWithShape="1">
          <a:blip r:embed="rId3">
            <a:alphaModFix/>
          </a:blip>
          <a:srcRect b="0" l="159" r="159" t="0"/>
          <a:stretch/>
        </p:blipFill>
        <p:spPr>
          <a:xfrm>
            <a:off x="6291263" y="4552950"/>
            <a:ext cx="1796700" cy="49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5" name="Google Shape;575;p57"/>
          <p:cNvCxnSpPr/>
          <p:nvPr/>
        </p:nvCxnSpPr>
        <p:spPr>
          <a:xfrm>
            <a:off x="0" y="4457700"/>
            <a:ext cx="9144000" cy="1200"/>
          </a:xfrm>
          <a:prstGeom prst="straightConnector1">
            <a:avLst/>
          </a:prstGeom>
          <a:noFill/>
          <a:ln cap="flat" cmpd="sng" w="9525">
            <a:solidFill>
              <a:srgbClr val="6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6" name="Google Shape;576;p57"/>
          <p:cNvSpPr/>
          <p:nvPr/>
        </p:nvSpPr>
        <p:spPr>
          <a:xfrm>
            <a:off x="476250" y="171450"/>
            <a:ext cx="8191500" cy="38100"/>
          </a:xfrm>
          <a:prstGeom prst="roundRect">
            <a:avLst>
              <a:gd fmla="val 50000" name="adj"/>
            </a:avLst>
          </a:prstGeom>
          <a:solidFill>
            <a:srgbClr val="82000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PT-Large-Logo-with-Tag-Pos.png" id="577" name="Google Shape;577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91263" y="4552950"/>
            <a:ext cx="1796653" cy="495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78" name="Google Shape;578;p57"/>
          <p:cNvGrpSpPr/>
          <p:nvPr/>
        </p:nvGrpSpPr>
        <p:grpSpPr>
          <a:xfrm>
            <a:off x="476250" y="247650"/>
            <a:ext cx="8191500" cy="342900"/>
            <a:chOff x="0" y="0"/>
            <a:chExt cx="8191500" cy="342900"/>
          </a:xfrm>
        </p:grpSpPr>
        <p:sp>
          <p:nvSpPr>
            <p:cNvPr id="579" name="Google Shape;579;p57"/>
            <p:cNvSpPr/>
            <p:nvPr/>
          </p:nvSpPr>
          <p:spPr>
            <a:xfrm>
              <a:off x="0" y="0"/>
              <a:ext cx="8191500" cy="342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57"/>
            <p:cNvSpPr txBox="1"/>
            <p:nvPr/>
          </p:nvSpPr>
          <p:spPr>
            <a:xfrm>
              <a:off x="0" y="0"/>
              <a:ext cx="81915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820009"/>
                  </a:solidFill>
                  <a:latin typeface="Arial"/>
                  <a:ea typeface="Arial"/>
                  <a:cs typeface="Arial"/>
                  <a:sym typeface="Arial"/>
                </a:rPr>
                <a:t>What goes into a sbatch submit.sh?</a:t>
              </a:r>
              <a:endParaRPr b="1" sz="2200">
                <a:solidFill>
                  <a:srgbClr val="82000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1" name="Google Shape;581;p57"/>
          <p:cNvGrpSpPr/>
          <p:nvPr/>
        </p:nvGrpSpPr>
        <p:grpSpPr>
          <a:xfrm>
            <a:off x="476250" y="685800"/>
            <a:ext cx="4476900" cy="3571800"/>
            <a:chOff x="0" y="0"/>
            <a:chExt cx="4476900" cy="3571800"/>
          </a:xfrm>
        </p:grpSpPr>
        <p:sp>
          <p:nvSpPr>
            <p:cNvPr id="582" name="Google Shape;582;p57"/>
            <p:cNvSpPr/>
            <p:nvPr/>
          </p:nvSpPr>
          <p:spPr>
            <a:xfrm>
              <a:off x="0" y="0"/>
              <a:ext cx="4476900" cy="3571800"/>
            </a:xfrm>
            <a:prstGeom prst="roundRect">
              <a:avLst>
                <a:gd fmla="val 2133" name="adj"/>
              </a:avLst>
            </a:prstGeom>
            <a:solidFill>
              <a:srgbClr val="0F172A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57"/>
            <p:cNvSpPr/>
            <p:nvPr/>
          </p:nvSpPr>
          <p:spPr>
            <a:xfrm>
              <a:off x="0" y="0"/>
              <a:ext cx="4476900" cy="285900"/>
            </a:xfrm>
            <a:custGeom>
              <a:rect b="b" l="l" r="r" t="t"/>
              <a:pathLst>
                <a:path extrusionOk="0" h="120000" w="120000">
                  <a:moveTo>
                    <a:pt x="0" y="32000"/>
                  </a:moveTo>
                  <a:quadBezTo>
                    <a:pt x="0" y="0"/>
                    <a:pt x="2043" y="0"/>
                  </a:quadBezTo>
                  <a:lnTo>
                    <a:pt x="117957" y="0"/>
                  </a:lnTo>
                  <a:quadBezTo>
                    <a:pt x="120000" y="0"/>
                    <a:pt x="120000" y="32000"/>
                  </a:quad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57"/>
            <p:cNvSpPr/>
            <p:nvPr/>
          </p:nvSpPr>
          <p:spPr>
            <a:xfrm>
              <a:off x="128588" y="100013"/>
              <a:ext cx="85800" cy="858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57"/>
            <p:cNvSpPr/>
            <p:nvPr/>
          </p:nvSpPr>
          <p:spPr>
            <a:xfrm>
              <a:off x="261938" y="100013"/>
              <a:ext cx="85800" cy="858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57"/>
            <p:cNvSpPr/>
            <p:nvPr/>
          </p:nvSpPr>
          <p:spPr>
            <a:xfrm>
              <a:off x="395288" y="100013"/>
              <a:ext cx="85800" cy="858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57"/>
            <p:cNvSpPr txBox="1"/>
            <p:nvPr/>
          </p:nvSpPr>
          <p:spPr>
            <a:xfrm>
              <a:off x="619125" y="0"/>
              <a:ext cx="2857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>
                  <a:solidFill>
                    <a:srgbClr val="94A3B8"/>
                  </a:solidFill>
                  <a:latin typeface="Consolas"/>
                  <a:ea typeface="Consolas"/>
                  <a:cs typeface="Consolas"/>
                  <a:sym typeface="Consolas"/>
                </a:rPr>
                <a:t>📄 submit.sh</a:t>
              </a:r>
              <a:endParaRPr sz="95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588" name="Google Shape;588;p57"/>
            <p:cNvSpPr txBox="1"/>
            <p:nvPr/>
          </p:nvSpPr>
          <p:spPr>
            <a:xfrm>
              <a:off x="152400" y="361950"/>
              <a:ext cx="4172100" cy="309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F43F5E"/>
                  </a:solidFill>
                  <a:latin typeface="Consolas"/>
                  <a:ea typeface="Consolas"/>
                  <a:cs typeface="Consolas"/>
                  <a:sym typeface="Consolas"/>
                </a:rPr>
                <a:t>#!/bin/bash</a:t>
              </a:r>
              <a:endParaRPr sz="850"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85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# --- Account Information ---</a:t>
              </a:r>
              <a:endParaRPr sz="850"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E06C75"/>
                  </a:solidFill>
                  <a:latin typeface="Consolas"/>
                  <a:ea typeface="Consolas"/>
                  <a:cs typeface="Consolas"/>
                  <a:sym typeface="Consolas"/>
                </a:rPr>
                <a:t>#SBATCH</a:t>
              </a:r>
              <a:r>
                <a:rPr lang="en" sz="850"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" sz="850">
                  <a:solidFill>
                    <a:srgbClr val="38BDF8"/>
                  </a:solidFill>
                  <a:latin typeface="Consolas"/>
                  <a:ea typeface="Consolas"/>
                  <a:cs typeface="Consolas"/>
                  <a:sym typeface="Consolas"/>
                </a:rPr>
                <a:t>--account</a:t>
              </a:r>
              <a:r>
                <a:rPr lang="en" sz="85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=workshop</a:t>
              </a:r>
              <a:endParaRPr sz="850"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85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# --- Resources Requested ---</a:t>
              </a:r>
              <a:endParaRPr sz="850"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E06C75"/>
                  </a:solidFill>
                  <a:latin typeface="Consolas"/>
                  <a:ea typeface="Consolas"/>
                  <a:cs typeface="Consolas"/>
                  <a:sym typeface="Consolas"/>
                </a:rPr>
                <a:t>#SBATCH</a:t>
              </a:r>
              <a:r>
                <a:rPr lang="en" sz="850"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" sz="850">
                  <a:solidFill>
                    <a:srgbClr val="38BDF8"/>
                  </a:solidFill>
                  <a:latin typeface="Consolas"/>
                  <a:ea typeface="Consolas"/>
                  <a:cs typeface="Consolas"/>
                  <a:sym typeface="Consolas"/>
                </a:rPr>
                <a:t>--reservation</a:t>
              </a:r>
              <a:r>
                <a:rPr lang="en" sz="85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=workshop_2026</a:t>
              </a:r>
              <a:endParaRPr sz="850"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E06C75"/>
                  </a:solidFill>
                  <a:latin typeface="Consolas"/>
                  <a:ea typeface="Consolas"/>
                  <a:cs typeface="Consolas"/>
                  <a:sym typeface="Consolas"/>
                </a:rPr>
                <a:t>#SBATCH</a:t>
              </a:r>
              <a:r>
                <a:rPr lang="en" sz="850"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" sz="850">
                  <a:solidFill>
                    <a:srgbClr val="38BDF8"/>
                  </a:solidFill>
                  <a:latin typeface="Consolas"/>
                  <a:ea typeface="Consolas"/>
                  <a:cs typeface="Consolas"/>
                  <a:sym typeface="Consolas"/>
                </a:rPr>
                <a:t>--cpus-per-task</a:t>
              </a:r>
              <a:r>
                <a:rPr lang="en" sz="85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=1</a:t>
              </a:r>
              <a:endParaRPr sz="850"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E06C75"/>
                  </a:solidFill>
                  <a:latin typeface="Consolas"/>
                  <a:ea typeface="Consolas"/>
                  <a:cs typeface="Consolas"/>
                  <a:sym typeface="Consolas"/>
                </a:rPr>
                <a:t>#SBATCH</a:t>
              </a:r>
              <a:r>
                <a:rPr lang="en" sz="850"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" sz="850">
                  <a:solidFill>
                    <a:srgbClr val="38BDF8"/>
                  </a:solidFill>
                  <a:latin typeface="Consolas"/>
                  <a:ea typeface="Consolas"/>
                  <a:cs typeface="Consolas"/>
                  <a:sym typeface="Consolas"/>
                </a:rPr>
                <a:t>--mem</a:t>
              </a:r>
              <a:r>
                <a:rPr lang="en" sz="85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=2G</a:t>
              </a:r>
              <a:endParaRPr sz="850"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E06C75"/>
                  </a:solidFill>
                  <a:latin typeface="Consolas"/>
                  <a:ea typeface="Consolas"/>
                  <a:cs typeface="Consolas"/>
                  <a:sym typeface="Consolas"/>
                </a:rPr>
                <a:t>#SBATCH</a:t>
              </a:r>
              <a:r>
                <a:rPr lang="en" sz="850"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" sz="850">
                  <a:solidFill>
                    <a:srgbClr val="38BDF8"/>
                  </a:solidFill>
                  <a:latin typeface="Consolas"/>
                  <a:ea typeface="Consolas"/>
                  <a:cs typeface="Consolas"/>
                  <a:sym typeface="Consolas"/>
                </a:rPr>
                <a:t>--time</a:t>
              </a:r>
              <a:r>
                <a:rPr lang="en" sz="85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=0-04:00:00</a:t>
              </a:r>
              <a:endParaRPr sz="850"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85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# --- Job Specific Name &amp; Output ---</a:t>
              </a:r>
              <a:endParaRPr sz="850"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E06C75"/>
                  </a:solidFill>
                  <a:latin typeface="Consolas"/>
                  <a:ea typeface="Consolas"/>
                  <a:cs typeface="Consolas"/>
                  <a:sym typeface="Consolas"/>
                </a:rPr>
                <a:t>#SBATCH</a:t>
              </a:r>
              <a:r>
                <a:rPr lang="en" sz="850"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" sz="850">
                  <a:solidFill>
                    <a:srgbClr val="38BDF8"/>
                  </a:solidFill>
                  <a:latin typeface="Consolas"/>
                  <a:ea typeface="Consolas"/>
                  <a:cs typeface="Consolas"/>
                  <a:sym typeface="Consolas"/>
                </a:rPr>
                <a:t>--job-name</a:t>
              </a:r>
              <a:r>
                <a:rPr lang="en" sz="85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=fratnasamy_workshop_job</a:t>
              </a:r>
              <a:endParaRPr sz="850"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E06C75"/>
                  </a:solidFill>
                  <a:latin typeface="Consolas"/>
                  <a:ea typeface="Consolas"/>
                  <a:cs typeface="Consolas"/>
                  <a:sym typeface="Consolas"/>
                </a:rPr>
                <a:t>#SBATCH</a:t>
              </a:r>
              <a:r>
                <a:rPr lang="en" sz="850"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" sz="850">
                  <a:solidFill>
                    <a:srgbClr val="38BDF8"/>
                  </a:solidFill>
                  <a:latin typeface="Consolas"/>
                  <a:ea typeface="Consolas"/>
                  <a:cs typeface="Consolas"/>
                  <a:sym typeface="Consolas"/>
                </a:rPr>
                <a:t>--output</a:t>
              </a:r>
              <a:r>
                <a:rPr lang="en" sz="85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=final_output.out</a:t>
              </a:r>
              <a:endParaRPr sz="850"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85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# --- Environment &amp; Diagnostics ---</a:t>
              </a:r>
              <a:endParaRPr sz="850"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lang="en" sz="850">
                  <a:solidFill>
                    <a:srgbClr val="4ADE80"/>
                  </a:solidFill>
                  <a:latin typeface="Consolas"/>
                  <a:ea typeface="Consolas"/>
                  <a:cs typeface="Consolas"/>
                  <a:sym typeface="Consolas"/>
                </a:rPr>
                <a:t>echo</a:t>
              </a:r>
              <a:r>
                <a:rPr lang="en" sz="850"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" sz="850">
                  <a:solidFill>
                    <a:srgbClr val="FDE047"/>
                  </a:solidFill>
                  <a:latin typeface="Consolas"/>
                  <a:ea typeface="Consolas"/>
                  <a:cs typeface="Consolas"/>
                  <a:sym typeface="Consolas"/>
                </a:rPr>
                <a:t>"Job ID: $SLURM_JOB_ID"</a:t>
              </a:r>
              <a:endParaRPr sz="850"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100"/>
                </a:spcBef>
                <a:spcAft>
                  <a:spcPts val="0"/>
                </a:spcAft>
                <a:buNone/>
              </a:pPr>
              <a:r>
                <a:rPr lang="en" sz="850">
                  <a:solidFill>
                    <a:srgbClr val="4ADE80"/>
                  </a:solidFill>
                  <a:latin typeface="Consolas"/>
                  <a:ea typeface="Consolas"/>
                  <a:cs typeface="Consolas"/>
                  <a:sym typeface="Consolas"/>
                </a:rPr>
                <a:t>echo</a:t>
              </a:r>
              <a:r>
                <a:rPr lang="en" sz="850"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" sz="850">
                  <a:solidFill>
                    <a:srgbClr val="FDE047"/>
                  </a:solidFill>
                  <a:latin typeface="Consolas"/>
                  <a:ea typeface="Consolas"/>
                  <a:cs typeface="Consolas"/>
                  <a:sym typeface="Consolas"/>
                </a:rPr>
                <a:t>"Job User: $SLURM_JOB_USER"</a:t>
              </a:r>
              <a:endParaRPr sz="850"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100"/>
                </a:spcBef>
                <a:spcAft>
                  <a:spcPts val="0"/>
                </a:spcAft>
                <a:buNone/>
              </a:pPr>
              <a:r>
                <a:rPr lang="en" sz="850">
                  <a:solidFill>
                    <a:srgbClr val="4ADE80"/>
                  </a:solidFill>
                  <a:latin typeface="Consolas"/>
                  <a:ea typeface="Consolas"/>
                  <a:cs typeface="Consolas"/>
                  <a:sym typeface="Consolas"/>
                </a:rPr>
                <a:t>echo</a:t>
              </a:r>
              <a:r>
                <a:rPr lang="en" sz="850"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" sz="850">
                  <a:solidFill>
                    <a:srgbClr val="FDE047"/>
                  </a:solidFill>
                  <a:latin typeface="Consolas"/>
                  <a:ea typeface="Consolas"/>
                  <a:cs typeface="Consolas"/>
                  <a:sym typeface="Consolas"/>
                </a:rPr>
                <a:t>"Num Cores: $SLURM_JOB_CPUS_PER_NODE"</a:t>
              </a:r>
              <a:endParaRPr sz="850"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85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# --- Load Modules &amp; Run ---</a:t>
              </a:r>
              <a:endParaRPr sz="850"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lang="en" sz="850">
                  <a:solidFill>
                    <a:srgbClr val="CBD5E1"/>
                  </a:solidFill>
                  <a:latin typeface="Consolas"/>
                  <a:ea typeface="Consolas"/>
                  <a:cs typeface="Consolas"/>
                  <a:sym typeface="Consolas"/>
                </a:rPr>
                <a:t>module load &lt;modulename&gt;</a:t>
              </a:r>
              <a:endParaRPr sz="85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589" name="Google Shape;589;p57"/>
          <p:cNvGrpSpPr/>
          <p:nvPr/>
        </p:nvGrpSpPr>
        <p:grpSpPr>
          <a:xfrm>
            <a:off x="5143500" y="685800"/>
            <a:ext cx="3524400" cy="809700"/>
            <a:chOff x="0" y="0"/>
            <a:chExt cx="3524400" cy="809700"/>
          </a:xfrm>
        </p:grpSpPr>
        <p:sp>
          <p:nvSpPr>
            <p:cNvPr id="590" name="Google Shape;590;p57"/>
            <p:cNvSpPr/>
            <p:nvPr/>
          </p:nvSpPr>
          <p:spPr>
            <a:xfrm>
              <a:off x="0" y="0"/>
              <a:ext cx="3524400" cy="809700"/>
            </a:xfrm>
            <a:prstGeom prst="roundRect">
              <a:avLst>
                <a:gd fmla="val 7058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57"/>
            <p:cNvSpPr/>
            <p:nvPr/>
          </p:nvSpPr>
          <p:spPr>
            <a:xfrm>
              <a:off x="133350" y="133350"/>
              <a:ext cx="266700" cy="266700"/>
            </a:xfrm>
            <a:prstGeom prst="ellipse">
              <a:avLst/>
            </a:prstGeom>
            <a:solidFill>
              <a:srgbClr val="82000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57"/>
            <p:cNvSpPr txBox="1"/>
            <p:nvPr/>
          </p:nvSpPr>
          <p:spPr>
            <a:xfrm>
              <a:off x="133350" y="133350"/>
              <a:ext cx="2667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57"/>
            <p:cNvSpPr txBox="1"/>
            <p:nvPr/>
          </p:nvSpPr>
          <p:spPr>
            <a:xfrm>
              <a:off x="495300" y="95250"/>
              <a:ext cx="29337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Shebang Line </a:t>
              </a:r>
              <a:r>
                <a:rPr b="0" lang="en" sz="1000">
                  <a:solidFill>
                    <a:srgbClr val="DC2626"/>
                  </a:solidFill>
                  <a:latin typeface="Consolas"/>
                  <a:ea typeface="Consolas"/>
                  <a:cs typeface="Consolas"/>
                  <a:sym typeface="Consolas"/>
                </a:rPr>
                <a:t>(#!/bin/bash)</a:t>
              </a:r>
              <a:endParaRPr b="1" sz="11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Defines the command interpreter that executes the script instructions on the cluster.</a:t>
              </a:r>
              <a:endParaRPr b="0" sz="9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4" name="Google Shape;594;p57"/>
          <p:cNvGrpSpPr/>
          <p:nvPr/>
        </p:nvGrpSpPr>
        <p:grpSpPr>
          <a:xfrm>
            <a:off x="5143500" y="1600200"/>
            <a:ext cx="3524400" cy="809700"/>
            <a:chOff x="0" y="0"/>
            <a:chExt cx="3524400" cy="809700"/>
          </a:xfrm>
        </p:grpSpPr>
        <p:sp>
          <p:nvSpPr>
            <p:cNvPr id="595" name="Google Shape;595;p57"/>
            <p:cNvSpPr/>
            <p:nvPr/>
          </p:nvSpPr>
          <p:spPr>
            <a:xfrm>
              <a:off x="0" y="0"/>
              <a:ext cx="3524400" cy="809700"/>
            </a:xfrm>
            <a:prstGeom prst="roundRect">
              <a:avLst>
                <a:gd fmla="val 7058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57"/>
            <p:cNvSpPr/>
            <p:nvPr/>
          </p:nvSpPr>
          <p:spPr>
            <a:xfrm>
              <a:off x="133350" y="133350"/>
              <a:ext cx="266700" cy="266700"/>
            </a:xfrm>
            <a:prstGeom prst="ellipse">
              <a:avLst/>
            </a:prstGeom>
            <a:solidFill>
              <a:srgbClr val="82000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57"/>
            <p:cNvSpPr txBox="1"/>
            <p:nvPr/>
          </p:nvSpPr>
          <p:spPr>
            <a:xfrm>
              <a:off x="133350" y="133350"/>
              <a:ext cx="2667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57"/>
            <p:cNvSpPr txBox="1"/>
            <p:nvPr/>
          </p:nvSpPr>
          <p:spPr>
            <a:xfrm>
              <a:off x="495300" y="95250"/>
              <a:ext cx="29337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Resource Allocation </a:t>
              </a:r>
              <a:r>
                <a:rPr b="0" lang="en" sz="1000">
                  <a:solidFill>
                    <a:srgbClr val="2563EB"/>
                  </a:solidFill>
                  <a:latin typeface="Consolas"/>
                  <a:ea typeface="Consolas"/>
                  <a:cs typeface="Consolas"/>
                  <a:sym typeface="Consolas"/>
                </a:rPr>
                <a:t>(#SBATCH)</a:t>
              </a:r>
              <a:endParaRPr b="1" sz="11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Requests compute resources: account, CPU cores, memory limit, and max run duration.</a:t>
              </a:r>
              <a:endParaRPr b="0" sz="9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9" name="Google Shape;599;p57"/>
          <p:cNvGrpSpPr/>
          <p:nvPr/>
        </p:nvGrpSpPr>
        <p:grpSpPr>
          <a:xfrm>
            <a:off x="5143500" y="2514600"/>
            <a:ext cx="3524400" cy="809700"/>
            <a:chOff x="0" y="0"/>
            <a:chExt cx="3524400" cy="809700"/>
          </a:xfrm>
        </p:grpSpPr>
        <p:sp>
          <p:nvSpPr>
            <p:cNvPr id="600" name="Google Shape;600;p57"/>
            <p:cNvSpPr/>
            <p:nvPr/>
          </p:nvSpPr>
          <p:spPr>
            <a:xfrm>
              <a:off x="0" y="0"/>
              <a:ext cx="3524400" cy="809700"/>
            </a:xfrm>
            <a:prstGeom prst="roundRect">
              <a:avLst>
                <a:gd fmla="val 7058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57"/>
            <p:cNvSpPr/>
            <p:nvPr/>
          </p:nvSpPr>
          <p:spPr>
            <a:xfrm>
              <a:off x="133350" y="133350"/>
              <a:ext cx="266700" cy="266700"/>
            </a:xfrm>
            <a:prstGeom prst="ellipse">
              <a:avLst/>
            </a:prstGeom>
            <a:solidFill>
              <a:srgbClr val="82000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57"/>
            <p:cNvSpPr txBox="1"/>
            <p:nvPr/>
          </p:nvSpPr>
          <p:spPr>
            <a:xfrm>
              <a:off x="133350" y="133350"/>
              <a:ext cx="2667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57"/>
            <p:cNvSpPr txBox="1"/>
            <p:nvPr/>
          </p:nvSpPr>
          <p:spPr>
            <a:xfrm>
              <a:off x="495300" y="95250"/>
              <a:ext cx="29337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Job Metadata &amp; Logs</a:t>
              </a:r>
              <a:endParaRPr b="1" sz="11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Assigns a tracking name (</a:t>
              </a:r>
              <a:r>
                <a:rPr b="0" lang="en" sz="950">
                  <a:solidFill>
                    <a:srgbClr val="475569"/>
                  </a:solidFill>
                  <a:latin typeface="Consolas"/>
                  <a:ea typeface="Consolas"/>
                  <a:cs typeface="Consolas"/>
                  <a:sym typeface="Consolas"/>
                </a:rPr>
                <a:t>--job-name</a:t>
              </a:r>
              <a:r>
                <a:rPr b="0" lang="en" sz="9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) and redirects stdout/stderr to a log file (</a:t>
              </a:r>
              <a:r>
                <a:rPr b="0" lang="en" sz="950">
                  <a:solidFill>
                    <a:srgbClr val="475569"/>
                  </a:solidFill>
                  <a:latin typeface="Consolas"/>
                  <a:ea typeface="Consolas"/>
                  <a:cs typeface="Consolas"/>
                  <a:sym typeface="Consolas"/>
                </a:rPr>
                <a:t>--output</a:t>
              </a:r>
              <a:r>
                <a:rPr b="0" lang="en" sz="9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).</a:t>
              </a:r>
              <a:endParaRPr b="0" sz="9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04" name="Google Shape;604;p57"/>
          <p:cNvGrpSpPr/>
          <p:nvPr/>
        </p:nvGrpSpPr>
        <p:grpSpPr>
          <a:xfrm>
            <a:off x="5143500" y="3429000"/>
            <a:ext cx="3524400" cy="828600"/>
            <a:chOff x="0" y="0"/>
            <a:chExt cx="3524400" cy="828600"/>
          </a:xfrm>
        </p:grpSpPr>
        <p:sp>
          <p:nvSpPr>
            <p:cNvPr id="605" name="Google Shape;605;p57"/>
            <p:cNvSpPr/>
            <p:nvPr/>
          </p:nvSpPr>
          <p:spPr>
            <a:xfrm>
              <a:off x="0" y="0"/>
              <a:ext cx="3524400" cy="828600"/>
            </a:xfrm>
            <a:prstGeom prst="roundRect">
              <a:avLst>
                <a:gd fmla="val 6896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57"/>
            <p:cNvSpPr/>
            <p:nvPr/>
          </p:nvSpPr>
          <p:spPr>
            <a:xfrm>
              <a:off x="133350" y="133350"/>
              <a:ext cx="266700" cy="266700"/>
            </a:xfrm>
            <a:prstGeom prst="ellipse">
              <a:avLst/>
            </a:prstGeom>
            <a:solidFill>
              <a:srgbClr val="82000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57"/>
            <p:cNvSpPr txBox="1"/>
            <p:nvPr/>
          </p:nvSpPr>
          <p:spPr>
            <a:xfrm>
              <a:off x="133350" y="133350"/>
              <a:ext cx="2667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57"/>
            <p:cNvSpPr txBox="1"/>
            <p:nvPr/>
          </p:nvSpPr>
          <p:spPr>
            <a:xfrm>
              <a:off x="495300" y="95250"/>
              <a:ext cx="29337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Environment &amp; Commands</a:t>
              </a:r>
              <a:endParaRPr b="1" sz="11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Prints job runtime variables, loads required software modules, and executes application scripts.</a:t>
              </a:r>
              <a:endParaRPr b="0" sz="9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09" name="Google Shape;609;p57"/>
          <p:cNvGrpSpPr/>
          <p:nvPr/>
        </p:nvGrpSpPr>
        <p:grpSpPr>
          <a:xfrm>
            <a:off x="476250" y="4591050"/>
            <a:ext cx="381000" cy="285900"/>
            <a:chOff x="0" y="0"/>
            <a:chExt cx="381000" cy="285900"/>
          </a:xfrm>
        </p:grpSpPr>
        <p:sp>
          <p:nvSpPr>
            <p:cNvPr id="610" name="Google Shape;610;p57"/>
            <p:cNvSpPr/>
            <p:nvPr/>
          </p:nvSpPr>
          <p:spPr>
            <a:xfrm>
              <a:off x="0" y="0"/>
              <a:ext cx="381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57"/>
            <p:cNvSpPr txBox="1"/>
            <p:nvPr/>
          </p:nvSpPr>
          <p:spPr>
            <a:xfrm>
              <a:off x="0" y="0"/>
              <a:ext cx="38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18</a:t>
              </a:r>
              <a:endParaRPr b="0" sz="14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7" name="Google Shape;617;p58"/>
          <p:cNvCxnSpPr/>
          <p:nvPr/>
        </p:nvCxnSpPr>
        <p:spPr>
          <a:xfrm>
            <a:off x="0" y="4457700"/>
            <a:ext cx="9144000" cy="1200"/>
          </a:xfrm>
          <a:prstGeom prst="straightConnector1">
            <a:avLst/>
          </a:prstGeom>
          <a:noFill/>
          <a:ln cap="flat" cmpd="sng" w="9525">
            <a:solidFill>
              <a:srgbClr val="6E0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PT-Large-Logo-with-Tag-Pos.png" id="618" name="Google Shape;618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91263" y="4552950"/>
            <a:ext cx="1796653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p58"/>
          <p:cNvSpPr/>
          <p:nvPr/>
        </p:nvSpPr>
        <p:spPr>
          <a:xfrm>
            <a:off x="476250" y="171450"/>
            <a:ext cx="8191500" cy="38100"/>
          </a:xfrm>
          <a:prstGeom prst="roundRect">
            <a:avLst>
              <a:gd fmla="val 50000" name="adj"/>
            </a:avLst>
          </a:prstGeom>
          <a:solidFill>
            <a:srgbClr val="82000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20" name="Google Shape;620;p58"/>
          <p:cNvGrpSpPr/>
          <p:nvPr/>
        </p:nvGrpSpPr>
        <p:grpSpPr>
          <a:xfrm>
            <a:off x="476250" y="247650"/>
            <a:ext cx="8191500" cy="342900"/>
            <a:chOff x="0" y="0"/>
            <a:chExt cx="8191500" cy="342900"/>
          </a:xfrm>
        </p:grpSpPr>
        <p:sp>
          <p:nvSpPr>
            <p:cNvPr id="621" name="Google Shape;621;p58"/>
            <p:cNvSpPr/>
            <p:nvPr/>
          </p:nvSpPr>
          <p:spPr>
            <a:xfrm>
              <a:off x="0" y="0"/>
              <a:ext cx="8191500" cy="342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58"/>
            <p:cNvSpPr txBox="1"/>
            <p:nvPr/>
          </p:nvSpPr>
          <p:spPr>
            <a:xfrm>
              <a:off x="0" y="0"/>
              <a:ext cx="81915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820009"/>
                  </a:solidFill>
                  <a:latin typeface="Arial"/>
                  <a:ea typeface="Arial"/>
                  <a:cs typeface="Arial"/>
                  <a:sym typeface="Arial"/>
                </a:rPr>
                <a:t>Anatomy of a submit.sh Script</a:t>
              </a:r>
              <a:endParaRPr b="1" sz="2200">
                <a:solidFill>
                  <a:srgbClr val="82000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3" name="Google Shape;623;p58"/>
          <p:cNvGrpSpPr/>
          <p:nvPr/>
        </p:nvGrpSpPr>
        <p:grpSpPr>
          <a:xfrm>
            <a:off x="476250" y="685800"/>
            <a:ext cx="4191000" cy="3571800"/>
            <a:chOff x="0" y="0"/>
            <a:chExt cx="4191000" cy="3571800"/>
          </a:xfrm>
        </p:grpSpPr>
        <p:sp>
          <p:nvSpPr>
            <p:cNvPr id="624" name="Google Shape;624;p58"/>
            <p:cNvSpPr/>
            <p:nvPr/>
          </p:nvSpPr>
          <p:spPr>
            <a:xfrm>
              <a:off x="0" y="0"/>
              <a:ext cx="4191000" cy="3571800"/>
            </a:xfrm>
            <a:prstGeom prst="roundRect">
              <a:avLst>
                <a:gd fmla="val 2133" name="adj"/>
              </a:avLst>
            </a:prstGeom>
            <a:solidFill>
              <a:srgbClr val="0F172A"/>
            </a:solidFill>
            <a:ln cap="flat" cmpd="sng" w="1430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58"/>
            <p:cNvSpPr/>
            <p:nvPr/>
          </p:nvSpPr>
          <p:spPr>
            <a:xfrm>
              <a:off x="0" y="0"/>
              <a:ext cx="4191000" cy="285900"/>
            </a:xfrm>
            <a:custGeom>
              <a:rect b="b" l="l" r="r" t="t"/>
              <a:pathLst>
                <a:path extrusionOk="0" h="120000" w="120000">
                  <a:moveTo>
                    <a:pt x="0" y="32000"/>
                  </a:moveTo>
                  <a:cubicBezTo>
                    <a:pt x="0" y="10400"/>
                    <a:pt x="709" y="0"/>
                    <a:pt x="2182" y="0"/>
                  </a:cubicBezTo>
                  <a:lnTo>
                    <a:pt x="117818" y="0"/>
                  </a:lnTo>
                  <a:cubicBezTo>
                    <a:pt x="119291" y="0"/>
                    <a:pt x="120000" y="10400"/>
                    <a:pt x="120000" y="32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58"/>
            <p:cNvSpPr/>
            <p:nvPr/>
          </p:nvSpPr>
          <p:spPr>
            <a:xfrm>
              <a:off x="128588" y="100013"/>
              <a:ext cx="85800" cy="858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58"/>
            <p:cNvSpPr/>
            <p:nvPr/>
          </p:nvSpPr>
          <p:spPr>
            <a:xfrm>
              <a:off x="261938" y="100013"/>
              <a:ext cx="85800" cy="858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58"/>
            <p:cNvSpPr/>
            <p:nvPr/>
          </p:nvSpPr>
          <p:spPr>
            <a:xfrm>
              <a:off x="395288" y="100013"/>
              <a:ext cx="85800" cy="858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58"/>
            <p:cNvSpPr txBox="1"/>
            <p:nvPr/>
          </p:nvSpPr>
          <p:spPr>
            <a:xfrm>
              <a:off x="619125" y="0"/>
              <a:ext cx="2952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>
                  <a:solidFill>
                    <a:srgbClr val="94A3B8"/>
                  </a:solidFill>
                  <a:latin typeface="Consolas"/>
                  <a:ea typeface="Consolas"/>
                  <a:cs typeface="Consolas"/>
                  <a:sym typeface="Consolas"/>
                </a:rPr>
                <a:t>📄 submit.sh</a:t>
              </a:r>
              <a:endParaRPr sz="95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30" name="Google Shape;630;p58"/>
            <p:cNvSpPr txBox="1"/>
            <p:nvPr/>
          </p:nvSpPr>
          <p:spPr>
            <a:xfrm>
              <a:off x="152400" y="361950"/>
              <a:ext cx="3886200" cy="309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F43F5E"/>
                  </a:solidFill>
                  <a:latin typeface="Consolas"/>
                  <a:ea typeface="Consolas"/>
                  <a:cs typeface="Consolas"/>
                  <a:sym typeface="Consolas"/>
                </a:rPr>
                <a:t>#!/bin/bash</a:t>
              </a:r>
              <a:endParaRPr b="1" sz="950">
                <a:solidFill>
                  <a:srgbClr val="F43F5E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E06C75"/>
                  </a:solidFill>
                  <a:latin typeface="Consolas"/>
                  <a:ea typeface="Consolas"/>
                  <a:cs typeface="Consolas"/>
                  <a:sym typeface="Consolas"/>
                </a:rPr>
                <a:t>#SBATCH</a:t>
              </a:r>
              <a:r>
                <a:rPr lang="en" sz="950">
                  <a:solidFill>
                    <a:srgbClr val="F8FAFC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" sz="950">
                  <a:solidFill>
                    <a:srgbClr val="38BDF8"/>
                  </a:solidFill>
                  <a:latin typeface="Consolas"/>
                  <a:ea typeface="Consolas"/>
                  <a:cs typeface="Consolas"/>
                  <a:sym typeface="Consolas"/>
                </a:rPr>
                <a:t>--reservation</a:t>
              </a:r>
              <a:r>
                <a:rPr lang="en" sz="950">
                  <a:solidFill>
                    <a:srgbClr val="F8FAFC"/>
                  </a:solidFill>
                  <a:latin typeface="Consolas"/>
                  <a:ea typeface="Consolas"/>
                  <a:cs typeface="Consolas"/>
                  <a:sym typeface="Consolas"/>
                </a:rPr>
                <a:t>=</a:t>
              </a:r>
              <a:r>
                <a:rPr lang="en" sz="95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workshop_2026</a:t>
              </a:r>
              <a:endParaRPr sz="95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E06C75"/>
                  </a:solidFill>
                  <a:latin typeface="Consolas"/>
                  <a:ea typeface="Consolas"/>
                  <a:cs typeface="Consolas"/>
                  <a:sym typeface="Consolas"/>
                </a:rPr>
                <a:t>#SBATCH</a:t>
              </a:r>
              <a:r>
                <a:rPr lang="en" sz="950">
                  <a:solidFill>
                    <a:srgbClr val="F8FAFC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" sz="950">
                  <a:solidFill>
                    <a:srgbClr val="38BDF8"/>
                  </a:solidFill>
                  <a:latin typeface="Consolas"/>
                  <a:ea typeface="Consolas"/>
                  <a:cs typeface="Consolas"/>
                  <a:sym typeface="Consolas"/>
                </a:rPr>
                <a:t>--cpus-per-task</a:t>
              </a:r>
              <a:r>
                <a:rPr lang="en" sz="950">
                  <a:solidFill>
                    <a:srgbClr val="F8FAFC"/>
                  </a:solidFill>
                  <a:latin typeface="Consolas"/>
                  <a:ea typeface="Consolas"/>
                  <a:cs typeface="Consolas"/>
                  <a:sym typeface="Consolas"/>
                </a:rPr>
                <a:t>=</a:t>
              </a:r>
              <a:r>
                <a:rPr lang="en" sz="95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95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E06C75"/>
                  </a:solidFill>
                  <a:latin typeface="Consolas"/>
                  <a:ea typeface="Consolas"/>
                  <a:cs typeface="Consolas"/>
                  <a:sym typeface="Consolas"/>
                </a:rPr>
                <a:t>#SBATCH</a:t>
              </a:r>
              <a:r>
                <a:rPr lang="en" sz="950">
                  <a:solidFill>
                    <a:srgbClr val="F8FAFC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" sz="950">
                  <a:solidFill>
                    <a:srgbClr val="38BDF8"/>
                  </a:solidFill>
                  <a:latin typeface="Consolas"/>
                  <a:ea typeface="Consolas"/>
                  <a:cs typeface="Consolas"/>
                  <a:sym typeface="Consolas"/>
                </a:rPr>
                <a:t>--mem</a:t>
              </a:r>
              <a:r>
                <a:rPr lang="en" sz="950">
                  <a:solidFill>
                    <a:srgbClr val="F8FAFC"/>
                  </a:solidFill>
                  <a:latin typeface="Consolas"/>
                  <a:ea typeface="Consolas"/>
                  <a:cs typeface="Consolas"/>
                  <a:sym typeface="Consolas"/>
                </a:rPr>
                <a:t>=</a:t>
              </a:r>
              <a:r>
                <a:rPr lang="en" sz="95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5G</a:t>
              </a:r>
              <a:endParaRPr sz="95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E06C75"/>
                  </a:solidFill>
                  <a:latin typeface="Consolas"/>
                  <a:ea typeface="Consolas"/>
                  <a:cs typeface="Consolas"/>
                  <a:sym typeface="Consolas"/>
                </a:rPr>
                <a:t>#SBATCH</a:t>
              </a:r>
              <a:r>
                <a:rPr lang="en" sz="950">
                  <a:solidFill>
                    <a:srgbClr val="F8FAFC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" sz="950">
                  <a:solidFill>
                    <a:srgbClr val="38BDF8"/>
                  </a:solidFill>
                  <a:latin typeface="Consolas"/>
                  <a:ea typeface="Consolas"/>
                  <a:cs typeface="Consolas"/>
                  <a:sym typeface="Consolas"/>
                </a:rPr>
                <a:t>--time</a:t>
              </a:r>
              <a:r>
                <a:rPr lang="en" sz="950">
                  <a:solidFill>
                    <a:srgbClr val="F8FAFC"/>
                  </a:solidFill>
                  <a:latin typeface="Consolas"/>
                  <a:ea typeface="Consolas"/>
                  <a:cs typeface="Consolas"/>
                  <a:sym typeface="Consolas"/>
                </a:rPr>
                <a:t>=</a:t>
              </a:r>
              <a:r>
                <a:rPr lang="en" sz="95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0-04:00:00</a:t>
              </a:r>
              <a:endParaRPr sz="95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E06C75"/>
                  </a:solidFill>
                  <a:latin typeface="Consolas"/>
                  <a:ea typeface="Consolas"/>
                  <a:cs typeface="Consolas"/>
                  <a:sym typeface="Consolas"/>
                </a:rPr>
                <a:t>#SBATCH</a:t>
              </a:r>
              <a:r>
                <a:rPr lang="en" sz="950">
                  <a:solidFill>
                    <a:srgbClr val="F8FAFC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n" sz="950">
                  <a:solidFill>
                    <a:srgbClr val="38BDF8"/>
                  </a:solidFill>
                  <a:latin typeface="Consolas"/>
                  <a:ea typeface="Consolas"/>
                  <a:cs typeface="Consolas"/>
                  <a:sym typeface="Consolas"/>
                </a:rPr>
                <a:t>--job-name</a:t>
              </a:r>
              <a:r>
                <a:rPr lang="en" sz="950">
                  <a:solidFill>
                    <a:srgbClr val="F8FAFC"/>
                  </a:solidFill>
                  <a:latin typeface="Consolas"/>
                  <a:ea typeface="Consolas"/>
                  <a:cs typeface="Consolas"/>
                  <a:sym typeface="Consolas"/>
                </a:rPr>
                <a:t>=</a:t>
              </a:r>
              <a:r>
                <a:rPr lang="en" sz="95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basic_test</a:t>
              </a:r>
              <a:endParaRPr sz="95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" sz="950">
                  <a:solidFill>
                    <a:srgbClr val="E2E8F0"/>
                  </a:solidFill>
                  <a:latin typeface="Consolas"/>
                  <a:ea typeface="Consolas"/>
                  <a:cs typeface="Consolas"/>
                  <a:sym typeface="Consolas"/>
                </a:rPr>
                <a:t>module load python/booth/3.13</a:t>
              </a:r>
              <a:endParaRPr sz="950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" sz="95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# Run your program</a:t>
              </a:r>
              <a:endParaRPr sz="95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950">
                  <a:solidFill>
                    <a:srgbClr val="4ADE80"/>
                  </a:solidFill>
                  <a:latin typeface="Consolas"/>
                  <a:ea typeface="Consolas"/>
                  <a:cs typeface="Consolas"/>
                  <a:sym typeface="Consolas"/>
                </a:rPr>
                <a:t>srun python3 hello_world.py</a:t>
              </a:r>
              <a:endParaRPr sz="950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631" name="Google Shape;631;p58"/>
          <p:cNvGrpSpPr/>
          <p:nvPr/>
        </p:nvGrpSpPr>
        <p:grpSpPr>
          <a:xfrm>
            <a:off x="4857750" y="685800"/>
            <a:ext cx="3810000" cy="809700"/>
            <a:chOff x="0" y="0"/>
            <a:chExt cx="3810000" cy="809700"/>
          </a:xfrm>
        </p:grpSpPr>
        <p:sp>
          <p:nvSpPr>
            <p:cNvPr id="632" name="Google Shape;632;p58"/>
            <p:cNvSpPr/>
            <p:nvPr/>
          </p:nvSpPr>
          <p:spPr>
            <a:xfrm>
              <a:off x="0" y="0"/>
              <a:ext cx="3810000" cy="809700"/>
            </a:xfrm>
            <a:prstGeom prst="roundRect">
              <a:avLst>
                <a:gd fmla="val 7058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58"/>
            <p:cNvSpPr/>
            <p:nvPr/>
          </p:nvSpPr>
          <p:spPr>
            <a:xfrm>
              <a:off x="133350" y="133350"/>
              <a:ext cx="266700" cy="266700"/>
            </a:xfrm>
            <a:prstGeom prst="ellipse">
              <a:avLst/>
            </a:prstGeom>
            <a:solidFill>
              <a:srgbClr val="82000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58"/>
            <p:cNvSpPr txBox="1"/>
            <p:nvPr/>
          </p:nvSpPr>
          <p:spPr>
            <a:xfrm>
              <a:off x="133350" y="133350"/>
              <a:ext cx="2667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58"/>
            <p:cNvSpPr txBox="1"/>
            <p:nvPr/>
          </p:nvSpPr>
          <p:spPr>
            <a:xfrm>
              <a:off x="495300" y="95250"/>
              <a:ext cx="32004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Shebang Line </a:t>
              </a:r>
              <a:r>
                <a:rPr b="0" lang="en" sz="1000">
                  <a:solidFill>
                    <a:srgbClr val="DC2626"/>
                  </a:solidFill>
                  <a:latin typeface="Consolas"/>
                  <a:ea typeface="Consolas"/>
                  <a:cs typeface="Consolas"/>
                  <a:sym typeface="Consolas"/>
                </a:rPr>
                <a:t>(#!/bin/bash)</a:t>
              </a:r>
              <a:endParaRPr b="1" sz="11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Tells the operating system to execute the script instructions using </a:t>
              </a:r>
              <a:r>
                <a:rPr b="0" lang="en" sz="950">
                  <a:solidFill>
                    <a:srgbClr val="0F172A"/>
                  </a:solidFill>
                  <a:latin typeface="Consolas"/>
                  <a:ea typeface="Consolas"/>
                  <a:cs typeface="Consolas"/>
                  <a:sym typeface="Consolas"/>
                </a:rPr>
                <a:t>/bin/bash</a:t>
              </a:r>
              <a:r>
                <a:rPr b="0" lang="en" sz="9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0" sz="9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6" name="Google Shape;636;p58"/>
          <p:cNvGrpSpPr/>
          <p:nvPr/>
        </p:nvGrpSpPr>
        <p:grpSpPr>
          <a:xfrm>
            <a:off x="4857750" y="1609725"/>
            <a:ext cx="3810000" cy="809700"/>
            <a:chOff x="0" y="0"/>
            <a:chExt cx="3810000" cy="809700"/>
          </a:xfrm>
        </p:grpSpPr>
        <p:sp>
          <p:nvSpPr>
            <p:cNvPr id="637" name="Google Shape;637;p58"/>
            <p:cNvSpPr/>
            <p:nvPr/>
          </p:nvSpPr>
          <p:spPr>
            <a:xfrm>
              <a:off x="0" y="0"/>
              <a:ext cx="3810000" cy="809700"/>
            </a:xfrm>
            <a:prstGeom prst="roundRect">
              <a:avLst>
                <a:gd fmla="val 7058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58"/>
            <p:cNvSpPr/>
            <p:nvPr/>
          </p:nvSpPr>
          <p:spPr>
            <a:xfrm>
              <a:off x="133350" y="133350"/>
              <a:ext cx="266700" cy="266700"/>
            </a:xfrm>
            <a:prstGeom prst="ellipse">
              <a:avLst/>
            </a:prstGeom>
            <a:solidFill>
              <a:srgbClr val="82000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58"/>
            <p:cNvSpPr txBox="1"/>
            <p:nvPr/>
          </p:nvSpPr>
          <p:spPr>
            <a:xfrm>
              <a:off x="133350" y="133350"/>
              <a:ext cx="2667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58"/>
            <p:cNvSpPr txBox="1"/>
            <p:nvPr/>
          </p:nvSpPr>
          <p:spPr>
            <a:xfrm>
              <a:off x="495300" y="95250"/>
              <a:ext cx="32004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SLURM Directives </a:t>
              </a:r>
              <a:r>
                <a:rPr b="0" lang="en" sz="1000">
                  <a:solidFill>
                    <a:srgbClr val="2563EB"/>
                  </a:solidFill>
                  <a:latin typeface="Consolas"/>
                  <a:ea typeface="Consolas"/>
                  <a:cs typeface="Consolas"/>
                  <a:sym typeface="Consolas"/>
                </a:rPr>
                <a:t>(#SBATCH)</a:t>
              </a:r>
              <a:endParaRPr b="1" sz="11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Requests compute resources (CPUs, RAM, time). To comment out, break the pattern (e.g. </a:t>
              </a:r>
              <a:r>
                <a:rPr b="0" lang="en" sz="950">
                  <a:solidFill>
                    <a:srgbClr val="0F172A"/>
                  </a:solidFill>
                  <a:latin typeface="Consolas"/>
                  <a:ea typeface="Consolas"/>
                  <a:cs typeface="Consolas"/>
                  <a:sym typeface="Consolas"/>
                </a:rPr>
                <a:t>##SBATCH</a:t>
              </a:r>
              <a:r>
                <a:rPr b="0" lang="en" sz="9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).</a:t>
              </a:r>
              <a:endParaRPr b="0" sz="9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1" name="Google Shape;641;p58"/>
          <p:cNvGrpSpPr/>
          <p:nvPr/>
        </p:nvGrpSpPr>
        <p:grpSpPr>
          <a:xfrm>
            <a:off x="4857750" y="2533650"/>
            <a:ext cx="3810000" cy="809700"/>
            <a:chOff x="0" y="0"/>
            <a:chExt cx="3810000" cy="809700"/>
          </a:xfrm>
        </p:grpSpPr>
        <p:sp>
          <p:nvSpPr>
            <p:cNvPr id="642" name="Google Shape;642;p58"/>
            <p:cNvSpPr/>
            <p:nvPr/>
          </p:nvSpPr>
          <p:spPr>
            <a:xfrm>
              <a:off x="0" y="0"/>
              <a:ext cx="3810000" cy="809700"/>
            </a:xfrm>
            <a:prstGeom prst="roundRect">
              <a:avLst>
                <a:gd fmla="val 7058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58"/>
            <p:cNvSpPr/>
            <p:nvPr/>
          </p:nvSpPr>
          <p:spPr>
            <a:xfrm>
              <a:off x="133350" y="133350"/>
              <a:ext cx="266700" cy="266700"/>
            </a:xfrm>
            <a:prstGeom prst="ellipse">
              <a:avLst/>
            </a:prstGeom>
            <a:solidFill>
              <a:srgbClr val="82000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58"/>
            <p:cNvSpPr txBox="1"/>
            <p:nvPr/>
          </p:nvSpPr>
          <p:spPr>
            <a:xfrm>
              <a:off x="133350" y="133350"/>
              <a:ext cx="2667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58"/>
            <p:cNvSpPr txBox="1"/>
            <p:nvPr/>
          </p:nvSpPr>
          <p:spPr>
            <a:xfrm>
              <a:off x="495300" y="95250"/>
              <a:ext cx="32004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Script Comments </a:t>
              </a:r>
              <a:r>
                <a:rPr b="0" lang="en" sz="1000">
                  <a:solidFill>
                    <a:srgbClr val="16A34A"/>
                  </a:solidFill>
                  <a:latin typeface="Consolas"/>
                  <a:ea typeface="Consolas"/>
                  <a:cs typeface="Consolas"/>
                  <a:sym typeface="Consolas"/>
                </a:rPr>
                <a:t>(# Comment)</a:t>
              </a:r>
              <a:endParaRPr b="1" sz="11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Lines starting with </a:t>
              </a:r>
              <a:r>
                <a:rPr b="0" lang="en" sz="950">
                  <a:solidFill>
                    <a:srgbClr val="0F172A"/>
                  </a:solidFill>
                  <a:latin typeface="Consolas"/>
                  <a:ea typeface="Consolas"/>
                  <a:cs typeface="Consolas"/>
                  <a:sym typeface="Consolas"/>
                </a:rPr>
                <a:t>#</a:t>
              </a:r>
              <a:r>
                <a:rPr b="0" lang="en" sz="9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(like </a:t>
              </a:r>
              <a:r>
                <a:rPr b="0" lang="en" sz="950">
                  <a:solidFill>
                    <a:srgbClr val="0F172A"/>
                  </a:solidFill>
                  <a:latin typeface="Consolas"/>
                  <a:ea typeface="Consolas"/>
                  <a:cs typeface="Consolas"/>
                  <a:sym typeface="Consolas"/>
                </a:rPr>
                <a:t># Run your program</a:t>
              </a:r>
              <a:r>
                <a:rPr b="0" lang="en" sz="9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) are comments and are ignored by Bash.</a:t>
              </a:r>
              <a:endParaRPr b="0" sz="9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6" name="Google Shape;646;p58"/>
          <p:cNvGrpSpPr/>
          <p:nvPr/>
        </p:nvGrpSpPr>
        <p:grpSpPr>
          <a:xfrm>
            <a:off x="4857750" y="3457575"/>
            <a:ext cx="3810000" cy="800100"/>
            <a:chOff x="0" y="0"/>
            <a:chExt cx="3810000" cy="800100"/>
          </a:xfrm>
        </p:grpSpPr>
        <p:sp>
          <p:nvSpPr>
            <p:cNvPr id="647" name="Google Shape;647;p58"/>
            <p:cNvSpPr/>
            <p:nvPr/>
          </p:nvSpPr>
          <p:spPr>
            <a:xfrm>
              <a:off x="0" y="0"/>
              <a:ext cx="3810000" cy="800100"/>
            </a:xfrm>
            <a:prstGeom prst="roundRect">
              <a:avLst>
                <a:gd fmla="val 7142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58"/>
            <p:cNvSpPr/>
            <p:nvPr/>
          </p:nvSpPr>
          <p:spPr>
            <a:xfrm>
              <a:off x="133350" y="133350"/>
              <a:ext cx="266700" cy="266700"/>
            </a:xfrm>
            <a:prstGeom prst="ellipse">
              <a:avLst/>
            </a:prstGeom>
            <a:solidFill>
              <a:srgbClr val="82000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58"/>
            <p:cNvSpPr txBox="1"/>
            <p:nvPr/>
          </p:nvSpPr>
          <p:spPr>
            <a:xfrm>
              <a:off x="133350" y="133350"/>
              <a:ext cx="2667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58"/>
            <p:cNvSpPr txBox="1"/>
            <p:nvPr/>
          </p:nvSpPr>
          <p:spPr>
            <a:xfrm>
              <a:off x="495300" y="95250"/>
              <a:ext cx="32004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Job Submission </a:t>
              </a:r>
              <a:r>
                <a:rPr b="0" lang="en" sz="1000">
                  <a:solidFill>
                    <a:srgbClr val="0284C7"/>
                  </a:solidFill>
                  <a:latin typeface="Consolas"/>
                  <a:ea typeface="Consolas"/>
                  <a:cs typeface="Consolas"/>
                  <a:sym typeface="Consolas"/>
                </a:rPr>
                <a:t>(sbatch)</a:t>
              </a:r>
              <a:endParaRPr b="1" sz="11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Submit the job to the SLURM workload manager using command: </a:t>
              </a:r>
              <a:r>
                <a:rPr b="0" lang="en" sz="950">
                  <a:solidFill>
                    <a:srgbClr val="0F172A"/>
                  </a:solidFill>
                  <a:latin typeface="Consolas"/>
                  <a:ea typeface="Consolas"/>
                  <a:cs typeface="Consolas"/>
                  <a:sym typeface="Consolas"/>
                </a:rPr>
                <a:t>sbatch submit.sh</a:t>
              </a:r>
              <a:r>
                <a:rPr b="0" lang="en" sz="9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0" sz="9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1" name="Google Shape;651;p58"/>
          <p:cNvGrpSpPr/>
          <p:nvPr/>
        </p:nvGrpSpPr>
        <p:grpSpPr>
          <a:xfrm>
            <a:off x="476250" y="4591050"/>
            <a:ext cx="381000" cy="285900"/>
            <a:chOff x="0" y="0"/>
            <a:chExt cx="381000" cy="285900"/>
          </a:xfrm>
        </p:grpSpPr>
        <p:sp>
          <p:nvSpPr>
            <p:cNvPr id="652" name="Google Shape;652;p58"/>
            <p:cNvSpPr/>
            <p:nvPr/>
          </p:nvSpPr>
          <p:spPr>
            <a:xfrm>
              <a:off x="0" y="0"/>
              <a:ext cx="381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58"/>
            <p:cNvSpPr txBox="1"/>
            <p:nvPr/>
          </p:nvSpPr>
          <p:spPr>
            <a:xfrm>
              <a:off x="0" y="0"/>
              <a:ext cx="38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19</a:t>
              </a:r>
              <a:endParaRPr sz="14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9" name="Google Shape;659;p59"/>
          <p:cNvCxnSpPr/>
          <p:nvPr/>
        </p:nvCxnSpPr>
        <p:spPr>
          <a:xfrm>
            <a:off x="0" y="4457700"/>
            <a:ext cx="9144000" cy="1200"/>
          </a:xfrm>
          <a:prstGeom prst="straightConnector1">
            <a:avLst/>
          </a:prstGeom>
          <a:noFill/>
          <a:ln cap="flat" cmpd="sng" w="9525">
            <a:solidFill>
              <a:srgbClr val="6E0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PT-Large-Logo-with-Tag-Pos.png" id="660" name="Google Shape;660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91263" y="4552950"/>
            <a:ext cx="1796653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661" name="Google Shape;661;p59"/>
          <p:cNvSpPr/>
          <p:nvPr/>
        </p:nvSpPr>
        <p:spPr>
          <a:xfrm>
            <a:off x="476250" y="171450"/>
            <a:ext cx="8191500" cy="38100"/>
          </a:xfrm>
          <a:prstGeom prst="roundRect">
            <a:avLst>
              <a:gd fmla="val 50000" name="adj"/>
            </a:avLst>
          </a:prstGeom>
          <a:solidFill>
            <a:srgbClr val="82000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59"/>
          <p:cNvSpPr txBox="1"/>
          <p:nvPr/>
        </p:nvSpPr>
        <p:spPr>
          <a:xfrm>
            <a:off x="549442" y="4662101"/>
            <a:ext cx="466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59"/>
          <p:cNvSpPr txBox="1"/>
          <p:nvPr>
            <p:ph type="title"/>
          </p:nvPr>
        </p:nvSpPr>
        <p:spPr>
          <a:xfrm>
            <a:off x="476250" y="247650"/>
            <a:ext cx="8191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200">
                <a:solidFill>
                  <a:srgbClr val="820009"/>
                </a:solidFill>
                <a:latin typeface="Arial"/>
                <a:ea typeface="Arial"/>
                <a:cs typeface="Arial"/>
                <a:sym typeface="Arial"/>
              </a:rPr>
              <a:t>Mercury Modules with Open OnDemand</a:t>
            </a:r>
            <a:endParaRPr b="1" i="0" sz="2200">
              <a:solidFill>
                <a:srgbClr val="82000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64" name="Google Shape;664;p59"/>
          <p:cNvGrpSpPr/>
          <p:nvPr/>
        </p:nvGrpSpPr>
        <p:grpSpPr>
          <a:xfrm>
            <a:off x="476250" y="742950"/>
            <a:ext cx="3952800" cy="2495700"/>
            <a:chOff x="0" y="0"/>
            <a:chExt cx="3952800" cy="2495700"/>
          </a:xfrm>
        </p:grpSpPr>
        <p:sp>
          <p:nvSpPr>
            <p:cNvPr id="665" name="Google Shape;665;p59"/>
            <p:cNvSpPr/>
            <p:nvPr/>
          </p:nvSpPr>
          <p:spPr>
            <a:xfrm>
              <a:off x="0" y="0"/>
              <a:ext cx="3952800" cy="2495700"/>
            </a:xfrm>
            <a:prstGeom prst="roundRect">
              <a:avLst>
                <a:gd fmla="val 3053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59"/>
            <p:cNvSpPr/>
            <p:nvPr/>
          </p:nvSpPr>
          <p:spPr>
            <a:xfrm>
              <a:off x="0" y="0"/>
              <a:ext cx="3952800" cy="400200"/>
            </a:xfrm>
            <a:prstGeom prst="roundRect">
              <a:avLst>
                <a:gd fmla="val 19047" name="adj"/>
              </a:avLst>
            </a:prstGeom>
            <a:solidFill>
              <a:srgbClr val="82000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59"/>
            <p:cNvSpPr/>
            <p:nvPr/>
          </p:nvSpPr>
          <p:spPr>
            <a:xfrm>
              <a:off x="0" y="285750"/>
              <a:ext cx="3952800" cy="114300"/>
            </a:xfrm>
            <a:prstGeom prst="rect">
              <a:avLst/>
            </a:prstGeom>
            <a:solidFill>
              <a:srgbClr val="82000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59"/>
            <p:cNvSpPr txBox="1"/>
            <p:nvPr/>
          </p:nvSpPr>
          <p:spPr>
            <a:xfrm>
              <a:off x="152400" y="76200"/>
              <a:ext cx="36480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1. Access &amp; Graphical Modules</a:t>
              </a:r>
              <a:endParaRPr b="1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59"/>
            <p:cNvSpPr txBox="1"/>
            <p:nvPr/>
          </p:nvSpPr>
          <p:spPr>
            <a:xfrm>
              <a:off x="190500" y="495300"/>
              <a:ext cx="3571800" cy="188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Login Credentials</a:t>
              </a:r>
              <a:endParaRPr b="1" sz="11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Sign in using standard Booth credentials:</a:t>
              </a:r>
              <a:br>
                <a:rPr lang="en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lang="en" sz="1000" u="sng">
                  <a:solidFill>
                    <a:schemeClr val="hlink"/>
                  </a:solidFill>
                  <a:latin typeface="Consolas"/>
                  <a:ea typeface="Consolas"/>
                  <a:cs typeface="Consolas"/>
                  <a:sym typeface="Consolas"/>
                  <a:hlinkClick r:id="rId4"/>
                </a:rPr>
                <a:t>mercury-ondemand.chicagobooth.edu</a:t>
              </a:r>
              <a:endParaRPr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Supported Software Modules</a:t>
              </a:r>
              <a:endParaRPr b="1" sz="11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Arial"/>
                <a:buChar char="●"/>
              </a:pPr>
              <a:r>
                <a:rPr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RStudio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5275" lvl="0" marL="457200" rtl="0" algn="l">
                <a:spcBef>
                  <a:spcPts val="40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Arial"/>
                <a:buChar char="●"/>
              </a:pPr>
              <a:r>
                <a:rPr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Jupyter Notebooks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5275" lvl="0" marL="457200" rtl="0" algn="l">
                <a:spcBef>
                  <a:spcPts val="40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Arial"/>
                <a:buChar char="●"/>
              </a:pPr>
              <a:r>
                <a:rPr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MATLAB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5275" lvl="0" marL="457200" rtl="0" algn="l">
                <a:spcBef>
                  <a:spcPts val="40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Arial"/>
                <a:buChar char="●"/>
              </a:pPr>
              <a:r>
                <a:rPr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Stata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0" name="Google Shape;670;p59"/>
          <p:cNvGrpSpPr/>
          <p:nvPr/>
        </p:nvGrpSpPr>
        <p:grpSpPr>
          <a:xfrm>
            <a:off x="4714875" y="742950"/>
            <a:ext cx="3952800" cy="2495700"/>
            <a:chOff x="0" y="0"/>
            <a:chExt cx="3952800" cy="2495700"/>
          </a:xfrm>
        </p:grpSpPr>
        <p:sp>
          <p:nvSpPr>
            <p:cNvPr id="671" name="Google Shape;671;p59"/>
            <p:cNvSpPr/>
            <p:nvPr/>
          </p:nvSpPr>
          <p:spPr>
            <a:xfrm>
              <a:off x="0" y="0"/>
              <a:ext cx="3952800" cy="2495700"/>
            </a:xfrm>
            <a:prstGeom prst="roundRect">
              <a:avLst>
                <a:gd fmla="val 3053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59"/>
            <p:cNvSpPr/>
            <p:nvPr/>
          </p:nvSpPr>
          <p:spPr>
            <a:xfrm>
              <a:off x="0" y="0"/>
              <a:ext cx="3952800" cy="400200"/>
            </a:xfrm>
            <a:prstGeom prst="roundRect">
              <a:avLst>
                <a:gd fmla="val 19047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59"/>
            <p:cNvSpPr/>
            <p:nvPr/>
          </p:nvSpPr>
          <p:spPr>
            <a:xfrm>
              <a:off x="0" y="285750"/>
              <a:ext cx="3952800" cy="1143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59"/>
            <p:cNvSpPr txBox="1"/>
            <p:nvPr/>
          </p:nvSpPr>
          <p:spPr>
            <a:xfrm>
              <a:off x="152400" y="76200"/>
              <a:ext cx="36480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2. Live Demo Features</a:t>
              </a:r>
              <a:endParaRPr b="1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59"/>
            <p:cNvSpPr txBox="1"/>
            <p:nvPr/>
          </p:nvSpPr>
          <p:spPr>
            <a:xfrm>
              <a:off x="190500" y="495300"/>
              <a:ext cx="3571800" cy="188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System &amp; File Utilities</a:t>
              </a:r>
              <a:endParaRPr b="1" sz="11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Arial"/>
                <a:buChar char="●"/>
              </a:pPr>
              <a:r>
                <a:rPr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Shell Access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5275" lvl="0" marL="457200" rtl="0" algn="l">
                <a:spcBef>
                  <a:spcPts val="40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Arial"/>
                <a:buChar char="●"/>
              </a:pPr>
              <a:r>
                <a:rPr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Active Jobs Monitoring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5275" lvl="0" marL="457200" rtl="0" algn="l">
                <a:spcBef>
                  <a:spcPts val="40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Arial"/>
                <a:buChar char="●"/>
              </a:pPr>
              <a:r>
                <a:rPr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Files Manager (upload/download files)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Interactive Demos</a:t>
              </a:r>
              <a:endParaRPr b="1" sz="11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Arial"/>
                <a:buChar char="●"/>
              </a:pPr>
              <a:r>
                <a:rPr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RStudio demo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5275" lvl="0" marL="457200" rtl="0" algn="l">
                <a:spcBef>
                  <a:spcPts val="40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Arial"/>
                <a:buChar char="●"/>
              </a:pPr>
              <a:r>
                <a:rPr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Jupyter demo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5275" lvl="0" marL="457200" rtl="0" algn="l">
                <a:spcBef>
                  <a:spcPts val="40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Arial"/>
                <a:buChar char="●"/>
              </a:pPr>
              <a:r>
                <a:rPr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MATLAB demo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6" name="Google Shape;676;p59"/>
          <p:cNvGrpSpPr/>
          <p:nvPr/>
        </p:nvGrpSpPr>
        <p:grpSpPr>
          <a:xfrm>
            <a:off x="476250" y="3390900"/>
            <a:ext cx="8191500" cy="838200"/>
            <a:chOff x="0" y="0"/>
            <a:chExt cx="8191500" cy="838200"/>
          </a:xfrm>
        </p:grpSpPr>
        <p:sp>
          <p:nvSpPr>
            <p:cNvPr id="677" name="Google Shape;677;p59"/>
            <p:cNvSpPr/>
            <p:nvPr/>
          </p:nvSpPr>
          <p:spPr>
            <a:xfrm>
              <a:off x="0" y="0"/>
              <a:ext cx="8191500" cy="838200"/>
            </a:xfrm>
            <a:prstGeom prst="roundRect">
              <a:avLst>
                <a:gd fmla="val 9090" name="adj"/>
              </a:avLst>
            </a:prstGeom>
            <a:solidFill>
              <a:srgbClr val="FEF2F2"/>
            </a:solidFill>
            <a:ln cap="flat" cmpd="sng" w="14300">
              <a:solidFill>
                <a:srgbClr val="FECAC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59"/>
            <p:cNvSpPr/>
            <p:nvPr/>
          </p:nvSpPr>
          <p:spPr>
            <a:xfrm>
              <a:off x="190500" y="228600"/>
              <a:ext cx="381000" cy="381000"/>
            </a:xfrm>
            <a:prstGeom prst="ellipse">
              <a:avLst/>
            </a:prstGeom>
            <a:solidFill>
              <a:srgbClr val="82000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59"/>
            <p:cNvSpPr txBox="1"/>
            <p:nvPr/>
          </p:nvSpPr>
          <p:spPr>
            <a:xfrm>
              <a:off x="190500" y="22860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!</a:t>
              </a:r>
              <a:endParaRPr b="1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59"/>
            <p:cNvSpPr txBox="1"/>
            <p:nvPr/>
          </p:nvSpPr>
          <p:spPr>
            <a:xfrm>
              <a:off x="723900" y="133350"/>
              <a:ext cx="7239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991B1B"/>
                  </a:solidFill>
                  <a:latin typeface="Arial"/>
                  <a:ea typeface="Arial"/>
                  <a:cs typeface="Arial"/>
                  <a:sym typeface="Arial"/>
                </a:rPr>
                <a:t>Important Allocation Remarks</a:t>
              </a:r>
              <a:endParaRPr b="1" sz="1200">
                <a:solidFill>
                  <a:srgbClr val="991B1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7F1D1D"/>
                  </a:solidFill>
                  <a:latin typeface="Arial"/>
                  <a:ea typeface="Arial"/>
                  <a:cs typeface="Arial"/>
                  <a:sym typeface="Arial"/>
                </a:rPr>
                <a:t>When launching MATLAB, make sure to allocate at least </a:t>
              </a:r>
              <a:r>
                <a:rPr b="1" lang="en" sz="1050">
                  <a:solidFill>
                    <a:srgbClr val="991B1B"/>
                  </a:solidFill>
                  <a:latin typeface="Arial"/>
                  <a:ea typeface="Arial"/>
                  <a:cs typeface="Arial"/>
                  <a:sym typeface="Arial"/>
                </a:rPr>
                <a:t>2 cores</a:t>
              </a:r>
              <a:r>
                <a:rPr b="0" lang="en" sz="1050">
                  <a:solidFill>
                    <a:srgbClr val="7F1D1D"/>
                  </a:solidFill>
                  <a:latin typeface="Arial"/>
                  <a:ea typeface="Arial"/>
                  <a:cs typeface="Arial"/>
                  <a:sym typeface="Arial"/>
                </a:rPr>
                <a:t> and </a:t>
              </a:r>
              <a:r>
                <a:rPr b="1" lang="en" sz="1050">
                  <a:solidFill>
                    <a:srgbClr val="991B1B"/>
                  </a:solidFill>
                  <a:latin typeface="Arial"/>
                  <a:ea typeface="Arial"/>
                  <a:cs typeface="Arial"/>
                  <a:sym typeface="Arial"/>
                </a:rPr>
                <a:t>32 GB of memory</a:t>
              </a:r>
              <a:r>
                <a:rPr b="0" lang="en" sz="1050">
                  <a:solidFill>
                    <a:srgbClr val="7F1D1D"/>
                  </a:solidFill>
                  <a:latin typeface="Arial"/>
                  <a:ea typeface="Arial"/>
                  <a:cs typeface="Arial"/>
                  <a:sym typeface="Arial"/>
                </a:rPr>
                <a:t> for stable performance.</a:t>
              </a:r>
              <a:endParaRPr b="0" sz="1050">
                <a:solidFill>
                  <a:srgbClr val="7F1D1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6" name="Google Shape;686;p60"/>
          <p:cNvCxnSpPr/>
          <p:nvPr/>
        </p:nvCxnSpPr>
        <p:spPr>
          <a:xfrm>
            <a:off x="0" y="4457700"/>
            <a:ext cx="9144000" cy="1200"/>
          </a:xfrm>
          <a:prstGeom prst="straightConnector1">
            <a:avLst/>
          </a:prstGeom>
          <a:noFill/>
          <a:ln cap="flat" cmpd="sng" w="9525">
            <a:solidFill>
              <a:srgbClr val="6E0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PT-Large-Logo-with-Tag-Pos.png" id="687" name="Google Shape;687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91263" y="4552950"/>
            <a:ext cx="1796653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60"/>
          <p:cNvSpPr txBox="1"/>
          <p:nvPr/>
        </p:nvSpPr>
        <p:spPr>
          <a:xfrm>
            <a:off x="476250" y="4591050"/>
            <a:ext cx="381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 b="0" sz="14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60"/>
          <p:cNvSpPr/>
          <p:nvPr/>
        </p:nvSpPr>
        <p:spPr>
          <a:xfrm>
            <a:off x="476250" y="171450"/>
            <a:ext cx="8191500" cy="38100"/>
          </a:xfrm>
          <a:prstGeom prst="roundRect">
            <a:avLst>
              <a:gd fmla="val 50000" name="adj"/>
            </a:avLst>
          </a:prstGeom>
          <a:solidFill>
            <a:srgbClr val="82000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60"/>
          <p:cNvSpPr txBox="1"/>
          <p:nvPr>
            <p:ph type="title"/>
          </p:nvPr>
        </p:nvSpPr>
        <p:spPr>
          <a:xfrm>
            <a:off x="476250" y="247650"/>
            <a:ext cx="8191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820009"/>
                </a:solidFill>
                <a:latin typeface="Arial"/>
                <a:ea typeface="Arial"/>
                <a:cs typeface="Arial"/>
                <a:sym typeface="Arial"/>
              </a:rPr>
              <a:t>How to Monitor Your Job</a:t>
            </a:r>
            <a:endParaRPr b="1" sz="2200">
              <a:solidFill>
                <a:srgbClr val="82000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1" name="Google Shape;691;p60"/>
          <p:cNvGrpSpPr/>
          <p:nvPr/>
        </p:nvGrpSpPr>
        <p:grpSpPr>
          <a:xfrm>
            <a:off x="476250" y="647700"/>
            <a:ext cx="8191500" cy="1828800"/>
            <a:chOff x="0" y="0"/>
            <a:chExt cx="8191500" cy="1828800"/>
          </a:xfrm>
        </p:grpSpPr>
        <p:sp>
          <p:nvSpPr>
            <p:cNvPr id="692" name="Google Shape;692;p60"/>
            <p:cNvSpPr/>
            <p:nvPr/>
          </p:nvSpPr>
          <p:spPr>
            <a:xfrm>
              <a:off x="0" y="0"/>
              <a:ext cx="8191500" cy="1828800"/>
            </a:xfrm>
            <a:prstGeom prst="roundRect">
              <a:avLst>
                <a:gd fmla="val 4166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60"/>
            <p:cNvSpPr/>
            <p:nvPr/>
          </p:nvSpPr>
          <p:spPr>
            <a:xfrm>
              <a:off x="123825" y="104775"/>
              <a:ext cx="247800" cy="247800"/>
            </a:xfrm>
            <a:prstGeom prst="ellipse">
              <a:avLst/>
            </a:prstGeom>
            <a:solidFill>
              <a:srgbClr val="82000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60"/>
            <p:cNvSpPr txBox="1"/>
            <p:nvPr/>
          </p:nvSpPr>
          <p:spPr>
            <a:xfrm>
              <a:off x="123825" y="104775"/>
              <a:ext cx="2478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60"/>
            <p:cNvSpPr txBox="1"/>
            <p:nvPr/>
          </p:nvSpPr>
          <p:spPr>
            <a:xfrm>
              <a:off x="457200" y="114300"/>
              <a:ext cx="75249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820009"/>
                  </a:solidFill>
                  <a:latin typeface="Consolas"/>
                  <a:ea typeface="Consolas"/>
                  <a:cs typeface="Consolas"/>
                  <a:sym typeface="Consolas"/>
                </a:rPr>
                <a:t>squeue</a:t>
              </a:r>
              <a:r>
                <a:rPr b="1" lang="en" sz="12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: list all Running and all Pending jobs </a:t>
              </a:r>
              <a:r>
                <a:rPr b="0" lang="en" sz="10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)</a:t>
              </a:r>
              <a:endParaRPr b="1" sz="1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96" name="Google Shape;696;p60"/>
            <p:cNvGrpSpPr/>
            <p:nvPr/>
          </p:nvGrpSpPr>
          <p:grpSpPr>
            <a:xfrm>
              <a:off x="133350" y="419100"/>
              <a:ext cx="7924800" cy="1295400"/>
              <a:chOff x="0" y="0"/>
              <a:chExt cx="7924800" cy="1295400"/>
            </a:xfrm>
          </p:grpSpPr>
          <p:sp>
            <p:nvSpPr>
              <p:cNvPr id="697" name="Google Shape;697;p60"/>
              <p:cNvSpPr/>
              <p:nvPr/>
            </p:nvSpPr>
            <p:spPr>
              <a:xfrm>
                <a:off x="0" y="0"/>
                <a:ext cx="7924800" cy="1295400"/>
              </a:xfrm>
              <a:prstGeom prst="roundRect">
                <a:avLst>
                  <a:gd fmla="val 4411" name="adj"/>
                </a:avLst>
              </a:prstGeom>
              <a:solidFill>
                <a:srgbClr val="0F172A"/>
              </a:solidFill>
              <a:ln cap="flat" cmpd="sng" w="9525">
                <a:solidFill>
                  <a:srgbClr val="33415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8" name="Google Shape;698;p60"/>
              <p:cNvSpPr/>
              <p:nvPr/>
            </p:nvSpPr>
            <p:spPr>
              <a:xfrm>
                <a:off x="0" y="0"/>
                <a:ext cx="7924800" cy="247800"/>
              </a:xfrm>
              <a:custGeom>
                <a:rect b="b" l="l" r="r" t="t"/>
                <a:pathLst>
                  <a:path extrusionOk="0" h="120000" w="120000">
                    <a:moveTo>
                      <a:pt x="0" y="27692"/>
                    </a:moveTo>
                    <a:cubicBezTo>
                      <a:pt x="0" y="12462"/>
                      <a:pt x="389" y="0"/>
                      <a:pt x="865" y="0"/>
                    </a:cubicBezTo>
                    <a:lnTo>
                      <a:pt x="119135" y="0"/>
                    </a:lnTo>
                    <a:cubicBezTo>
                      <a:pt x="119611" y="0"/>
                      <a:pt x="120000" y="12462"/>
                      <a:pt x="120000" y="27692"/>
                    </a:cubicBez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1E293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9" name="Google Shape;699;p60"/>
              <p:cNvSpPr/>
              <p:nvPr/>
            </p:nvSpPr>
            <p:spPr>
              <a:xfrm>
                <a:off x="76200" y="85725"/>
                <a:ext cx="76200" cy="76200"/>
              </a:xfrm>
              <a:prstGeom prst="ellipse">
                <a:avLst/>
              </a:prstGeom>
              <a:solidFill>
                <a:srgbClr val="EF444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0" name="Google Shape;700;p60"/>
              <p:cNvSpPr/>
              <p:nvPr/>
            </p:nvSpPr>
            <p:spPr>
              <a:xfrm>
                <a:off x="190500" y="85725"/>
                <a:ext cx="76200" cy="76200"/>
              </a:xfrm>
              <a:prstGeom prst="ellipse">
                <a:avLst/>
              </a:prstGeom>
              <a:solidFill>
                <a:srgbClr val="F59E0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1" name="Google Shape;701;p60"/>
              <p:cNvSpPr/>
              <p:nvPr/>
            </p:nvSpPr>
            <p:spPr>
              <a:xfrm>
                <a:off x="304800" y="85725"/>
                <a:ext cx="76200" cy="76200"/>
              </a:xfrm>
              <a:prstGeom prst="ellipse">
                <a:avLst/>
              </a:prstGeom>
              <a:solidFill>
                <a:srgbClr val="10B9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2" name="Google Shape;702;p60"/>
              <p:cNvSpPr txBox="1"/>
              <p:nvPr/>
            </p:nvSpPr>
            <p:spPr>
              <a:xfrm>
                <a:off x="476250" y="28575"/>
                <a:ext cx="1905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50">
                    <a:solidFill>
                      <a:srgbClr val="94A3B8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bash - squeue</a:t>
                </a:r>
                <a:endParaRPr sz="850">
                  <a:solidFill>
                    <a:srgbClr val="94A3B8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703" name="Google Shape;703;p60"/>
              <p:cNvSpPr txBox="1"/>
              <p:nvPr/>
            </p:nvSpPr>
            <p:spPr>
              <a:xfrm>
                <a:off x="133350" y="285750"/>
                <a:ext cx="7658100" cy="93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79">
                    <a:solidFill>
                      <a:srgbClr val="4ADE8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fratnasamy@mcn01:~ $</a:t>
                </a:r>
                <a:r>
                  <a:rPr lang="en" sz="879">
                    <a:solidFill>
                      <a:srgbClr val="F8FAFC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squeue </a:t>
                </a:r>
                <a:r>
                  <a:rPr lang="en" sz="879">
                    <a:solidFill>
                      <a:srgbClr val="64748B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#Check ST col. for R or PD job</a:t>
                </a:r>
                <a:endParaRPr sz="879">
                  <a:solidFill>
                    <a:srgbClr val="F8FAFC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879">
                    <a:solidFill>
                      <a:srgbClr val="94A3B8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JOBID PARTITION NAME USER ST TIME NODE NODELIST</a:t>
                </a:r>
                <a:endParaRPr sz="879">
                  <a:solidFill>
                    <a:srgbClr val="94A3B8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79">
                    <a:solidFill>
                      <a:srgbClr val="CBD5E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6793676 standard SS_10_10 rpauliks R 0:09 1 mcn01</a:t>
                </a:r>
                <a:endParaRPr sz="879">
                  <a:solidFill>
                    <a:srgbClr val="CBD5E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79">
                    <a:solidFill>
                      <a:srgbClr val="CBD5E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6793675 standard SS_11_10 vargaslo R 0:10 1 mcn01</a:t>
                </a:r>
                <a:endParaRPr sz="879">
                  <a:solidFill>
                    <a:srgbClr val="CBD5E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79">
                    <a:solidFill>
                      <a:srgbClr val="CBD5E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6793667 highmem MDPS_10 fratnasamy R 0:19 1 mcn08</a:t>
                </a:r>
                <a:endParaRPr sz="879">
                  <a:solidFill>
                    <a:srgbClr val="CBD5E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indent="0" lvl="0" marL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lang="en" sz="879">
                    <a:solidFill>
                      <a:srgbClr val="4ADE8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fratnasamy@mcn01:~$</a:t>
                </a:r>
                <a:r>
                  <a:rPr lang="en" sz="879">
                    <a:solidFill>
                      <a:srgbClr val="F8FAFC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squeue --user=&lt;boothID&gt; </a:t>
                </a:r>
                <a:r>
                  <a:rPr lang="en" sz="879">
                    <a:solidFill>
                      <a:srgbClr val="64748B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#list only your jobs -&gt; Get your job ID</a:t>
                </a:r>
                <a:endParaRPr sz="879">
                  <a:solidFill>
                    <a:srgbClr val="F8FAFC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</p:grpSp>
      <p:grpSp>
        <p:nvGrpSpPr>
          <p:cNvPr id="704" name="Google Shape;704;p60"/>
          <p:cNvGrpSpPr/>
          <p:nvPr/>
        </p:nvGrpSpPr>
        <p:grpSpPr>
          <a:xfrm>
            <a:off x="476250" y="2552700"/>
            <a:ext cx="8191500" cy="1828800"/>
            <a:chOff x="0" y="0"/>
            <a:chExt cx="8191500" cy="1828800"/>
          </a:xfrm>
        </p:grpSpPr>
        <p:sp>
          <p:nvSpPr>
            <p:cNvPr id="705" name="Google Shape;705;p60"/>
            <p:cNvSpPr/>
            <p:nvPr/>
          </p:nvSpPr>
          <p:spPr>
            <a:xfrm>
              <a:off x="0" y="0"/>
              <a:ext cx="8191500" cy="1828800"/>
            </a:xfrm>
            <a:prstGeom prst="roundRect">
              <a:avLst>
                <a:gd fmla="val 4166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60"/>
            <p:cNvSpPr/>
            <p:nvPr/>
          </p:nvSpPr>
          <p:spPr>
            <a:xfrm>
              <a:off x="123825" y="104775"/>
              <a:ext cx="247800" cy="247800"/>
            </a:xfrm>
            <a:prstGeom prst="ellipse">
              <a:avLst/>
            </a:prstGeom>
            <a:solidFill>
              <a:srgbClr val="82000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60"/>
            <p:cNvSpPr txBox="1"/>
            <p:nvPr/>
          </p:nvSpPr>
          <p:spPr>
            <a:xfrm>
              <a:off x="123825" y="104775"/>
              <a:ext cx="2478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60"/>
            <p:cNvSpPr txBox="1"/>
            <p:nvPr/>
          </p:nvSpPr>
          <p:spPr>
            <a:xfrm>
              <a:off x="457200" y="114300"/>
              <a:ext cx="75249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820009"/>
                  </a:solidFill>
                  <a:latin typeface="Consolas"/>
                  <a:ea typeface="Consolas"/>
                  <a:cs typeface="Consolas"/>
                  <a:sym typeface="Consolas"/>
                </a:rPr>
                <a:t>sacct</a:t>
              </a:r>
              <a:r>
                <a:rPr b="1" lang="en" sz="12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: If job is completed, it will not show up in the queue</a:t>
              </a:r>
              <a:endParaRPr b="1" sz="1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09" name="Google Shape;709;p60"/>
            <p:cNvGrpSpPr/>
            <p:nvPr/>
          </p:nvGrpSpPr>
          <p:grpSpPr>
            <a:xfrm>
              <a:off x="133350" y="419100"/>
              <a:ext cx="7924800" cy="1295400"/>
              <a:chOff x="0" y="0"/>
              <a:chExt cx="7924800" cy="1295400"/>
            </a:xfrm>
          </p:grpSpPr>
          <p:sp>
            <p:nvSpPr>
              <p:cNvPr id="710" name="Google Shape;710;p60"/>
              <p:cNvSpPr/>
              <p:nvPr/>
            </p:nvSpPr>
            <p:spPr>
              <a:xfrm>
                <a:off x="0" y="0"/>
                <a:ext cx="7924800" cy="1295400"/>
              </a:xfrm>
              <a:prstGeom prst="roundRect">
                <a:avLst>
                  <a:gd fmla="val 4411" name="adj"/>
                </a:avLst>
              </a:prstGeom>
              <a:solidFill>
                <a:srgbClr val="0F172A"/>
              </a:solidFill>
              <a:ln cap="flat" cmpd="sng" w="9525">
                <a:solidFill>
                  <a:srgbClr val="33415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1" name="Google Shape;711;p60"/>
              <p:cNvSpPr/>
              <p:nvPr/>
            </p:nvSpPr>
            <p:spPr>
              <a:xfrm>
                <a:off x="0" y="0"/>
                <a:ext cx="7924800" cy="247800"/>
              </a:xfrm>
              <a:custGeom>
                <a:rect b="b" l="l" r="r" t="t"/>
                <a:pathLst>
                  <a:path extrusionOk="0" h="120000" w="120000">
                    <a:moveTo>
                      <a:pt x="0" y="27692"/>
                    </a:moveTo>
                    <a:cubicBezTo>
                      <a:pt x="0" y="12462"/>
                      <a:pt x="389" y="0"/>
                      <a:pt x="865" y="0"/>
                    </a:cubicBezTo>
                    <a:lnTo>
                      <a:pt x="119135" y="0"/>
                    </a:lnTo>
                    <a:cubicBezTo>
                      <a:pt x="119611" y="0"/>
                      <a:pt x="120000" y="12462"/>
                      <a:pt x="120000" y="27692"/>
                    </a:cubicBez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1E293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2" name="Google Shape;712;p60"/>
              <p:cNvSpPr/>
              <p:nvPr/>
            </p:nvSpPr>
            <p:spPr>
              <a:xfrm>
                <a:off x="76200" y="85725"/>
                <a:ext cx="76200" cy="76200"/>
              </a:xfrm>
              <a:prstGeom prst="ellipse">
                <a:avLst/>
              </a:prstGeom>
              <a:solidFill>
                <a:srgbClr val="EF444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3" name="Google Shape;713;p60"/>
              <p:cNvSpPr/>
              <p:nvPr/>
            </p:nvSpPr>
            <p:spPr>
              <a:xfrm>
                <a:off x="190500" y="85725"/>
                <a:ext cx="76200" cy="76200"/>
              </a:xfrm>
              <a:prstGeom prst="ellipse">
                <a:avLst/>
              </a:prstGeom>
              <a:solidFill>
                <a:srgbClr val="F59E0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4" name="Google Shape;714;p60"/>
              <p:cNvSpPr/>
              <p:nvPr/>
            </p:nvSpPr>
            <p:spPr>
              <a:xfrm>
                <a:off x="304800" y="85725"/>
                <a:ext cx="76200" cy="76200"/>
              </a:xfrm>
              <a:prstGeom prst="ellipse">
                <a:avLst/>
              </a:prstGeom>
              <a:solidFill>
                <a:srgbClr val="10B9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5" name="Google Shape;715;p60"/>
              <p:cNvSpPr txBox="1"/>
              <p:nvPr/>
            </p:nvSpPr>
            <p:spPr>
              <a:xfrm>
                <a:off x="476250" y="28575"/>
                <a:ext cx="1905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50">
                    <a:solidFill>
                      <a:srgbClr val="94A3B8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bash - sacct</a:t>
                </a:r>
                <a:endParaRPr sz="850">
                  <a:solidFill>
                    <a:srgbClr val="94A3B8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716" name="Google Shape;716;p60"/>
              <p:cNvSpPr txBox="1"/>
              <p:nvPr/>
            </p:nvSpPr>
            <p:spPr>
              <a:xfrm>
                <a:off x="133350" y="323850"/>
                <a:ext cx="76581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50">
                    <a:solidFill>
                      <a:srgbClr val="4ADE8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fratnasamy@mcn01:~ $</a:t>
                </a:r>
                <a:r>
                  <a:rPr lang="en" sz="950">
                    <a:solidFill>
                      <a:srgbClr val="F8FAFC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sacct -j &lt;jobID&gt; </a:t>
                </a:r>
                <a:r>
                  <a:rPr lang="en" sz="950">
                    <a:solidFill>
                      <a:srgbClr val="64748B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#job info</a:t>
                </a:r>
                <a:endParaRPr sz="950">
                  <a:solidFill>
                    <a:srgbClr val="F8FAFC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indent="0" lvl="0" marL="0" rtl="0" algn="l">
                  <a:spcBef>
                    <a:spcPts val="800"/>
                  </a:spcBef>
                  <a:spcAft>
                    <a:spcPts val="0"/>
                  </a:spcAft>
                  <a:buNone/>
                </a:pPr>
                <a:r>
                  <a:rPr lang="en" sz="950">
                    <a:solidFill>
                      <a:srgbClr val="4ADE8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fratnasamy@mcn01:~$</a:t>
                </a:r>
                <a:r>
                  <a:rPr lang="en" sz="950">
                    <a:solidFill>
                      <a:srgbClr val="F8FAFC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sacct --user=&lt;boothID&gt; --starttime=2026-10-09 </a:t>
                </a:r>
                <a:r>
                  <a:rPr lang="en" sz="950">
                    <a:solidFill>
                      <a:srgbClr val="64748B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#find your jobID</a:t>
                </a:r>
                <a:endParaRPr sz="950">
                  <a:solidFill>
                    <a:srgbClr val="F8FAFC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indent="0" lvl="0" marL="0" rtl="0" algn="l">
                  <a:spcBef>
                    <a:spcPts val="800"/>
                  </a:spcBef>
                  <a:spcAft>
                    <a:spcPts val="0"/>
                  </a:spcAft>
                  <a:buNone/>
                </a:pPr>
                <a:r>
                  <a:rPr lang="en" sz="900">
                    <a:solidFill>
                      <a:srgbClr val="38BDF8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💡 Use sacct to query historical performance and resource metrics for finished jobs.</a:t>
                </a:r>
                <a:endParaRPr sz="900">
                  <a:solidFill>
                    <a:srgbClr val="38BDF8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22" name="Google Shape;722;p61"/>
          <p:cNvCxnSpPr/>
          <p:nvPr/>
        </p:nvCxnSpPr>
        <p:spPr>
          <a:xfrm>
            <a:off x="0" y="4457700"/>
            <a:ext cx="9144000" cy="1200"/>
          </a:xfrm>
          <a:prstGeom prst="straightConnector1">
            <a:avLst/>
          </a:prstGeom>
          <a:noFill/>
          <a:ln cap="flat" cmpd="sng" w="9525">
            <a:solidFill>
              <a:srgbClr val="6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3" name="Google Shape;723;p61"/>
          <p:cNvSpPr/>
          <p:nvPr/>
        </p:nvSpPr>
        <p:spPr>
          <a:xfrm>
            <a:off x="476250" y="171450"/>
            <a:ext cx="8191500" cy="38100"/>
          </a:xfrm>
          <a:prstGeom prst="roundRect">
            <a:avLst>
              <a:gd fmla="val 50000" name="adj"/>
            </a:avLst>
          </a:prstGeom>
          <a:solidFill>
            <a:srgbClr val="82000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PT-Large-Logo-with-Tag-Pos.png" id="724" name="Google Shape;724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91263" y="4552950"/>
            <a:ext cx="1796653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61"/>
          <p:cNvSpPr txBox="1"/>
          <p:nvPr/>
        </p:nvSpPr>
        <p:spPr>
          <a:xfrm>
            <a:off x="476250" y="4591050"/>
            <a:ext cx="381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sz="14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61"/>
          <p:cNvSpPr txBox="1"/>
          <p:nvPr>
            <p:ph type="title"/>
          </p:nvPr>
        </p:nvSpPr>
        <p:spPr>
          <a:xfrm>
            <a:off x="476250" y="247650"/>
            <a:ext cx="8191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820009"/>
                </a:solidFill>
                <a:latin typeface="Arial"/>
                <a:ea typeface="Arial"/>
                <a:cs typeface="Arial"/>
                <a:sym typeface="Arial"/>
              </a:rPr>
              <a:t>Use Built-in AI Tool: slurm-insight</a:t>
            </a:r>
            <a:endParaRPr b="1" sz="2200">
              <a:solidFill>
                <a:srgbClr val="82000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27" name="Google Shape;727;p61"/>
          <p:cNvGrpSpPr/>
          <p:nvPr/>
        </p:nvGrpSpPr>
        <p:grpSpPr>
          <a:xfrm>
            <a:off x="476250" y="647700"/>
            <a:ext cx="3952800" cy="1162200"/>
            <a:chOff x="0" y="0"/>
            <a:chExt cx="3952800" cy="1162200"/>
          </a:xfrm>
        </p:grpSpPr>
        <p:sp>
          <p:nvSpPr>
            <p:cNvPr id="728" name="Google Shape;728;p61"/>
            <p:cNvSpPr/>
            <p:nvPr/>
          </p:nvSpPr>
          <p:spPr>
            <a:xfrm>
              <a:off x="0" y="0"/>
              <a:ext cx="3952800" cy="1162200"/>
            </a:xfrm>
            <a:prstGeom prst="roundRect">
              <a:avLst>
                <a:gd fmla="val 6557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61"/>
            <p:cNvSpPr/>
            <p:nvPr/>
          </p:nvSpPr>
          <p:spPr>
            <a:xfrm>
              <a:off x="114300" y="95250"/>
              <a:ext cx="228600" cy="228600"/>
            </a:xfrm>
            <a:prstGeom prst="ellipse">
              <a:avLst/>
            </a:prstGeom>
            <a:solidFill>
              <a:srgbClr val="82000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61"/>
            <p:cNvSpPr txBox="1"/>
            <p:nvPr/>
          </p:nvSpPr>
          <p:spPr>
            <a:xfrm>
              <a:off x="114300" y="95250"/>
              <a:ext cx="228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61"/>
            <p:cNvSpPr txBox="1"/>
            <p:nvPr/>
          </p:nvSpPr>
          <p:spPr>
            <a:xfrm>
              <a:off x="419100" y="104775"/>
              <a:ext cx="33813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List Recently Completed Jobs</a:t>
              </a:r>
              <a:endParaRPr b="1" sz="11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61"/>
            <p:cNvSpPr/>
            <p:nvPr/>
          </p:nvSpPr>
          <p:spPr>
            <a:xfrm>
              <a:off x="114300" y="381000"/>
              <a:ext cx="3724200" cy="666900"/>
            </a:xfrm>
            <a:prstGeom prst="roundRect">
              <a:avLst>
                <a:gd fmla="val 8571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61"/>
            <p:cNvSpPr txBox="1"/>
            <p:nvPr/>
          </p:nvSpPr>
          <p:spPr>
            <a:xfrm>
              <a:off x="209550" y="438150"/>
              <a:ext cx="35337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ADE80"/>
                  </a:solidFill>
                  <a:latin typeface="Consolas"/>
                  <a:ea typeface="Consolas"/>
                  <a:cs typeface="Consolas"/>
                  <a:sym typeface="Consolas"/>
                </a:rPr>
                <a:t>fratnasamy@mcn01:~ $ </a:t>
              </a:r>
              <a:r>
                <a:rPr b="0" lang="en" sz="950">
                  <a:solidFill>
                    <a:srgbClr val="F8FAFC"/>
                  </a:solidFill>
                  <a:latin typeface="Consolas"/>
                  <a:ea typeface="Consolas"/>
                  <a:cs typeface="Consolas"/>
                  <a:sym typeface="Consolas"/>
                </a:rPr>
                <a:t>slurm-insight --list</a:t>
              </a:r>
              <a:endParaRPr b="0" sz="950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94A3B8"/>
                  </a:solidFill>
                  <a:latin typeface="Consolas"/>
                  <a:ea typeface="Consolas"/>
                  <a:cs typeface="Consolas"/>
                  <a:sym typeface="Consolas"/>
                </a:rPr>
                <a:t>Recently completed jobs for &lt;user&gt;:</a:t>
              </a:r>
              <a:endParaRPr b="0" sz="95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CBD5E1"/>
                  </a:solidFill>
                  <a:latin typeface="Consolas"/>
                  <a:ea typeface="Consolas"/>
                  <a:cs typeface="Consolas"/>
                  <a:sym typeface="Consolas"/>
                </a:rPr>
                <a:t>772971 772962</a:t>
              </a:r>
              <a:endParaRPr b="0" sz="950">
                <a:solidFill>
                  <a:srgbClr val="CBD5E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734" name="Google Shape;734;p61"/>
          <p:cNvGrpSpPr/>
          <p:nvPr/>
        </p:nvGrpSpPr>
        <p:grpSpPr>
          <a:xfrm>
            <a:off x="4714875" y="647700"/>
            <a:ext cx="3952800" cy="1162200"/>
            <a:chOff x="0" y="0"/>
            <a:chExt cx="3952800" cy="1162200"/>
          </a:xfrm>
        </p:grpSpPr>
        <p:sp>
          <p:nvSpPr>
            <p:cNvPr id="735" name="Google Shape;735;p61"/>
            <p:cNvSpPr/>
            <p:nvPr/>
          </p:nvSpPr>
          <p:spPr>
            <a:xfrm>
              <a:off x="0" y="0"/>
              <a:ext cx="3952800" cy="1162200"/>
            </a:xfrm>
            <a:prstGeom prst="roundRect">
              <a:avLst>
                <a:gd fmla="val 6557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61"/>
            <p:cNvSpPr/>
            <p:nvPr/>
          </p:nvSpPr>
          <p:spPr>
            <a:xfrm>
              <a:off x="114300" y="95250"/>
              <a:ext cx="228600" cy="228600"/>
            </a:xfrm>
            <a:prstGeom prst="ellipse">
              <a:avLst/>
            </a:prstGeom>
            <a:solidFill>
              <a:srgbClr val="82000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61"/>
            <p:cNvSpPr txBox="1"/>
            <p:nvPr/>
          </p:nvSpPr>
          <p:spPr>
            <a:xfrm>
              <a:off x="114300" y="95250"/>
              <a:ext cx="228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61"/>
            <p:cNvSpPr txBox="1"/>
            <p:nvPr/>
          </p:nvSpPr>
          <p:spPr>
            <a:xfrm>
              <a:off x="419100" y="104775"/>
              <a:ext cx="33813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Generate AI Job Analysis</a:t>
              </a:r>
              <a:endParaRPr b="1" sz="11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p61"/>
            <p:cNvSpPr/>
            <p:nvPr/>
          </p:nvSpPr>
          <p:spPr>
            <a:xfrm>
              <a:off x="114300" y="381000"/>
              <a:ext cx="3724200" cy="666900"/>
            </a:xfrm>
            <a:prstGeom prst="roundRect">
              <a:avLst>
                <a:gd fmla="val 8571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61"/>
            <p:cNvSpPr txBox="1"/>
            <p:nvPr/>
          </p:nvSpPr>
          <p:spPr>
            <a:xfrm>
              <a:off x="209550" y="438150"/>
              <a:ext cx="35337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ADE80"/>
                  </a:solidFill>
                  <a:latin typeface="Consolas"/>
                  <a:ea typeface="Consolas"/>
                  <a:cs typeface="Consolas"/>
                  <a:sym typeface="Consolas"/>
                </a:rPr>
                <a:t>fratnasamy@mcn01:~ $ </a:t>
              </a:r>
              <a:r>
                <a:rPr b="0" lang="en" sz="950">
                  <a:solidFill>
                    <a:srgbClr val="F8FAFC"/>
                  </a:solidFill>
                  <a:latin typeface="Consolas"/>
                  <a:ea typeface="Consolas"/>
                  <a:cs typeface="Consolas"/>
                  <a:sym typeface="Consolas"/>
                </a:rPr>
                <a:t>slurm-insight 772971</a:t>
              </a:r>
              <a:endParaRPr b="0" sz="950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38BDF8"/>
                  </a:solidFill>
                  <a:latin typeface="Consolas"/>
                  <a:ea typeface="Consolas"/>
                  <a:cs typeface="Consolas"/>
                  <a:sym typeface="Consolas"/>
                </a:rPr>
                <a:t>💡 Analyzes resource efficiency &amp; recommendations</a:t>
              </a:r>
              <a:endParaRPr b="0" sz="90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741" name="Google Shape;741;p61"/>
          <p:cNvGrpSpPr/>
          <p:nvPr/>
        </p:nvGrpSpPr>
        <p:grpSpPr>
          <a:xfrm>
            <a:off x="476250" y="1924050"/>
            <a:ext cx="8191500" cy="2419500"/>
            <a:chOff x="0" y="0"/>
            <a:chExt cx="8191500" cy="2419500"/>
          </a:xfrm>
        </p:grpSpPr>
        <p:sp>
          <p:nvSpPr>
            <p:cNvPr id="742" name="Google Shape;742;p61"/>
            <p:cNvSpPr/>
            <p:nvPr/>
          </p:nvSpPr>
          <p:spPr>
            <a:xfrm>
              <a:off x="0" y="0"/>
              <a:ext cx="8191500" cy="2419500"/>
            </a:xfrm>
            <a:prstGeom prst="roundRect">
              <a:avLst>
                <a:gd fmla="val 3149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61"/>
            <p:cNvSpPr/>
            <p:nvPr/>
          </p:nvSpPr>
          <p:spPr>
            <a:xfrm>
              <a:off x="0" y="0"/>
              <a:ext cx="8191500" cy="304800"/>
            </a:xfrm>
            <a:prstGeom prst="roundRect">
              <a:avLst>
                <a:gd fmla="val 25000" name="adj"/>
              </a:avLst>
            </a:prstGeom>
            <a:solidFill>
              <a:srgbClr val="82000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61"/>
            <p:cNvSpPr/>
            <p:nvPr/>
          </p:nvSpPr>
          <p:spPr>
            <a:xfrm>
              <a:off x="0" y="190500"/>
              <a:ext cx="8191500" cy="114300"/>
            </a:xfrm>
            <a:prstGeom prst="rect">
              <a:avLst/>
            </a:prstGeom>
            <a:solidFill>
              <a:srgbClr val="82000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61"/>
            <p:cNvSpPr txBox="1"/>
            <p:nvPr/>
          </p:nvSpPr>
          <p:spPr>
            <a:xfrm>
              <a:off x="152400" y="0"/>
              <a:ext cx="78867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Sample AI Analysis &amp; Optimization Output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46" name="Google Shape;746;p61"/>
          <p:cNvPicPr preferRelativeResize="0"/>
          <p:nvPr/>
        </p:nvPicPr>
        <p:blipFill rotWithShape="1">
          <a:blip r:embed="rId4">
            <a:alphaModFix/>
          </a:blip>
          <a:srcRect b="7585" l="0" r="0" t="7576"/>
          <a:stretch/>
        </p:blipFill>
        <p:spPr>
          <a:xfrm>
            <a:off x="552450" y="2266950"/>
            <a:ext cx="8039100" cy="201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2" name="Google Shape;752;p62"/>
          <p:cNvCxnSpPr/>
          <p:nvPr/>
        </p:nvCxnSpPr>
        <p:spPr>
          <a:xfrm>
            <a:off x="0" y="4457700"/>
            <a:ext cx="9144000" cy="1200"/>
          </a:xfrm>
          <a:prstGeom prst="straightConnector1">
            <a:avLst/>
          </a:prstGeom>
          <a:noFill/>
          <a:ln cap="flat" cmpd="sng" w="9525">
            <a:solidFill>
              <a:srgbClr val="6E0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PT-Large-Logo-with-Tag-Pos.png" id="753" name="Google Shape;753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91263" y="4552950"/>
            <a:ext cx="1796653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62"/>
          <p:cNvSpPr txBox="1"/>
          <p:nvPr/>
        </p:nvSpPr>
        <p:spPr>
          <a:xfrm>
            <a:off x="476250" y="4591050"/>
            <a:ext cx="381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sz="14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62"/>
          <p:cNvSpPr/>
          <p:nvPr/>
        </p:nvSpPr>
        <p:spPr>
          <a:xfrm>
            <a:off x="476250" y="171450"/>
            <a:ext cx="8191500" cy="38100"/>
          </a:xfrm>
          <a:prstGeom prst="roundRect">
            <a:avLst>
              <a:gd fmla="val 50000" name="adj"/>
            </a:avLst>
          </a:prstGeom>
          <a:solidFill>
            <a:srgbClr val="82000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56" name="Google Shape;756;p62"/>
          <p:cNvGrpSpPr/>
          <p:nvPr/>
        </p:nvGrpSpPr>
        <p:grpSpPr>
          <a:xfrm>
            <a:off x="476250" y="247650"/>
            <a:ext cx="8191500" cy="342900"/>
            <a:chOff x="0" y="0"/>
            <a:chExt cx="8191500" cy="342900"/>
          </a:xfrm>
        </p:grpSpPr>
        <p:sp>
          <p:nvSpPr>
            <p:cNvPr id="757" name="Google Shape;757;p62"/>
            <p:cNvSpPr/>
            <p:nvPr/>
          </p:nvSpPr>
          <p:spPr>
            <a:xfrm>
              <a:off x="0" y="0"/>
              <a:ext cx="8191500" cy="342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62"/>
            <p:cNvSpPr txBox="1"/>
            <p:nvPr/>
          </p:nvSpPr>
          <p:spPr>
            <a:xfrm>
              <a:off x="0" y="0"/>
              <a:ext cx="81915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820009"/>
                  </a:solidFill>
                  <a:latin typeface="Arial"/>
                  <a:ea typeface="Arial"/>
                  <a:cs typeface="Arial"/>
                  <a:sym typeface="Arial"/>
                </a:rPr>
                <a:t>Why did my job fail?</a:t>
              </a:r>
              <a:endParaRPr b="1" sz="2200">
                <a:solidFill>
                  <a:srgbClr val="82000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59" name="Google Shape;759;p62"/>
          <p:cNvGrpSpPr/>
          <p:nvPr/>
        </p:nvGrpSpPr>
        <p:grpSpPr>
          <a:xfrm>
            <a:off x="476250" y="666750"/>
            <a:ext cx="8191500" cy="400200"/>
            <a:chOff x="0" y="0"/>
            <a:chExt cx="8191500" cy="400200"/>
          </a:xfrm>
        </p:grpSpPr>
        <p:sp>
          <p:nvSpPr>
            <p:cNvPr id="760" name="Google Shape;760;p62"/>
            <p:cNvSpPr/>
            <p:nvPr/>
          </p:nvSpPr>
          <p:spPr>
            <a:xfrm>
              <a:off x="0" y="0"/>
              <a:ext cx="8191500" cy="400200"/>
            </a:xfrm>
            <a:prstGeom prst="roundRect">
              <a:avLst>
                <a:gd fmla="val 14285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62"/>
            <p:cNvSpPr txBox="1"/>
            <p:nvPr/>
          </p:nvSpPr>
          <p:spPr>
            <a:xfrm>
              <a:off x="0" y="0"/>
              <a:ext cx="8191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Make sure to review our FAQ section: </a:t>
              </a:r>
              <a:r>
                <a:rPr b="1" lang="en" sz="1300" u="sng">
                  <a:solidFill>
                    <a:srgbClr val="820009"/>
                  </a:solidFill>
                  <a:latin typeface="Arial"/>
                  <a:ea typeface="Arial"/>
                  <a:cs typeface="Arial"/>
                  <a:sym typeface="Arial"/>
                  <a:hlinkClick r:id="rId4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[link removed]</a:t>
              </a:r>
              <a:endParaRPr sz="13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2" name="Google Shape;762;p62"/>
          <p:cNvGrpSpPr/>
          <p:nvPr/>
        </p:nvGrpSpPr>
        <p:grpSpPr>
          <a:xfrm>
            <a:off x="476250" y="1200150"/>
            <a:ext cx="5048400" cy="3086100"/>
            <a:chOff x="0" y="0"/>
            <a:chExt cx="5048400" cy="3086100"/>
          </a:xfrm>
        </p:grpSpPr>
        <p:sp>
          <p:nvSpPr>
            <p:cNvPr id="763" name="Google Shape;763;p62"/>
            <p:cNvSpPr/>
            <p:nvPr/>
          </p:nvSpPr>
          <p:spPr>
            <a:xfrm>
              <a:off x="0" y="0"/>
              <a:ext cx="5048400" cy="3086100"/>
            </a:xfrm>
            <a:prstGeom prst="roundRect">
              <a:avLst>
                <a:gd fmla="val 2469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62"/>
            <p:cNvSpPr/>
            <p:nvPr/>
          </p:nvSpPr>
          <p:spPr>
            <a:xfrm>
              <a:off x="0" y="0"/>
              <a:ext cx="5048400" cy="381000"/>
            </a:xfrm>
            <a:prstGeom prst="roundRect">
              <a:avLst>
                <a:gd fmla="val 20000" name="adj"/>
              </a:avLst>
            </a:prstGeom>
            <a:solidFill>
              <a:srgbClr val="82000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62"/>
            <p:cNvSpPr txBox="1"/>
            <p:nvPr/>
          </p:nvSpPr>
          <p:spPr>
            <a:xfrm>
              <a:off x="0" y="0"/>
              <a:ext cx="5048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You can fix these</a:t>
              </a:r>
              <a:endParaRPr b="1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62"/>
            <p:cNvSpPr txBox="1"/>
            <p:nvPr/>
          </p:nvSpPr>
          <p:spPr>
            <a:xfrm>
              <a:off x="190500" y="495300"/>
              <a:ext cx="4667400" cy="24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• Ran out of Memory</a:t>
              </a:r>
              <a:endParaRPr sz="1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• Ran out of Time</a:t>
              </a:r>
              <a:endParaRPr sz="1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• Problem in your submit script</a:t>
              </a:r>
              <a:endParaRPr sz="1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• Problem with your code</a:t>
              </a:r>
              <a:endParaRPr sz="1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7" name="Google Shape;767;p62"/>
          <p:cNvGrpSpPr/>
          <p:nvPr/>
        </p:nvGrpSpPr>
        <p:grpSpPr>
          <a:xfrm>
            <a:off x="5715000" y="1200150"/>
            <a:ext cx="2952900" cy="3086100"/>
            <a:chOff x="0" y="0"/>
            <a:chExt cx="2952900" cy="3086100"/>
          </a:xfrm>
        </p:grpSpPr>
        <p:sp>
          <p:nvSpPr>
            <p:cNvPr id="768" name="Google Shape;768;p62"/>
            <p:cNvSpPr/>
            <p:nvPr/>
          </p:nvSpPr>
          <p:spPr>
            <a:xfrm>
              <a:off x="0" y="0"/>
              <a:ext cx="2952900" cy="3086100"/>
            </a:xfrm>
            <a:prstGeom prst="roundRect">
              <a:avLst>
                <a:gd fmla="val 2580" name="adj"/>
              </a:avLst>
            </a:prstGeom>
            <a:solidFill>
              <a:srgbClr val="FEF2F2"/>
            </a:solidFill>
            <a:ln cap="flat" cmpd="sng" w="14300">
              <a:solidFill>
                <a:srgbClr val="FECAC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62"/>
            <p:cNvSpPr/>
            <p:nvPr/>
          </p:nvSpPr>
          <p:spPr>
            <a:xfrm>
              <a:off x="0" y="0"/>
              <a:ext cx="2952900" cy="381000"/>
            </a:xfrm>
            <a:prstGeom prst="roundRect">
              <a:avLst>
                <a:gd fmla="val 20000" name="adj"/>
              </a:avLst>
            </a:prstGeom>
            <a:solidFill>
              <a:srgbClr val="991B1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62"/>
            <p:cNvSpPr txBox="1"/>
            <p:nvPr/>
          </p:nvSpPr>
          <p:spPr>
            <a:xfrm>
              <a:off x="0" y="0"/>
              <a:ext cx="2952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System / Infrastructure Issue</a:t>
              </a:r>
              <a:endParaRPr b="1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62"/>
            <p:cNvSpPr txBox="1"/>
            <p:nvPr/>
          </p:nvSpPr>
          <p:spPr>
            <a:xfrm>
              <a:off x="190500" y="495300"/>
              <a:ext cx="2571900" cy="24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991B1B"/>
                  </a:solidFill>
                  <a:latin typeface="Arial"/>
                  <a:ea typeface="Arial"/>
                  <a:cs typeface="Arial"/>
                  <a:sym typeface="Arial"/>
                </a:rPr>
                <a:t>Node failure</a:t>
              </a:r>
              <a:endParaRPr b="1" sz="1600">
                <a:solidFill>
                  <a:srgbClr val="991B1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If your job failed due to a node failure, please contact support:</a:t>
              </a:r>
              <a:endParaRPr sz="110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EMAIL SUPPORT</a:t>
              </a:r>
              <a:endParaRPr b="1"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820009"/>
                  </a:solidFill>
                  <a:latin typeface="Arial"/>
                  <a:ea typeface="Arial"/>
                  <a:cs typeface="Arial"/>
                  <a:sym typeface="Arial"/>
                </a:rPr>
                <a:t>research.support@chicagobooth.edu</a:t>
              </a:r>
              <a:endParaRPr b="1" sz="1050">
                <a:solidFill>
                  <a:srgbClr val="82000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77" name="Google Shape;777;p63"/>
          <p:cNvCxnSpPr/>
          <p:nvPr/>
        </p:nvCxnSpPr>
        <p:spPr>
          <a:xfrm>
            <a:off x="0" y="4457700"/>
            <a:ext cx="9144000" cy="1200"/>
          </a:xfrm>
          <a:prstGeom prst="straightConnector1">
            <a:avLst/>
          </a:prstGeom>
          <a:noFill/>
          <a:ln cap="flat" cmpd="sng" w="9525">
            <a:solidFill>
              <a:srgbClr val="6E0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PT-Large-Logo-with-Tag-Pos.png" id="778" name="Google Shape;778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91263" y="4552950"/>
            <a:ext cx="1796653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779" name="Google Shape;779;p63"/>
          <p:cNvSpPr/>
          <p:nvPr/>
        </p:nvSpPr>
        <p:spPr>
          <a:xfrm>
            <a:off x="476250" y="171450"/>
            <a:ext cx="8191500" cy="38100"/>
          </a:xfrm>
          <a:prstGeom prst="roundRect">
            <a:avLst>
              <a:gd fmla="val 50000" name="adj"/>
            </a:avLst>
          </a:prstGeom>
          <a:solidFill>
            <a:srgbClr val="82000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80" name="Google Shape;780;p63"/>
          <p:cNvGrpSpPr/>
          <p:nvPr/>
        </p:nvGrpSpPr>
        <p:grpSpPr>
          <a:xfrm>
            <a:off x="476250" y="247650"/>
            <a:ext cx="8191500" cy="342900"/>
            <a:chOff x="0" y="0"/>
            <a:chExt cx="8191500" cy="342900"/>
          </a:xfrm>
        </p:grpSpPr>
        <p:sp>
          <p:nvSpPr>
            <p:cNvPr id="781" name="Google Shape;781;p63"/>
            <p:cNvSpPr/>
            <p:nvPr/>
          </p:nvSpPr>
          <p:spPr>
            <a:xfrm>
              <a:off x="0" y="0"/>
              <a:ext cx="8191500" cy="342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63"/>
            <p:cNvSpPr txBox="1"/>
            <p:nvPr/>
          </p:nvSpPr>
          <p:spPr>
            <a:xfrm>
              <a:off x="0" y="0"/>
              <a:ext cx="81915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820009"/>
                  </a:solidFill>
                  <a:latin typeface="Arial"/>
                  <a:ea typeface="Arial"/>
                  <a:cs typeface="Arial"/>
                  <a:sym typeface="Arial"/>
                </a:rPr>
                <a:t>Out of memory (oom) errors</a:t>
              </a:r>
              <a:endParaRPr b="1" sz="2200">
                <a:solidFill>
                  <a:srgbClr val="82000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83" name="Google Shape;783;p63"/>
          <p:cNvGrpSpPr/>
          <p:nvPr/>
        </p:nvGrpSpPr>
        <p:grpSpPr>
          <a:xfrm>
            <a:off x="476250" y="685800"/>
            <a:ext cx="8191500" cy="1238400"/>
            <a:chOff x="0" y="0"/>
            <a:chExt cx="8191500" cy="1238400"/>
          </a:xfrm>
        </p:grpSpPr>
        <p:sp>
          <p:nvSpPr>
            <p:cNvPr id="784" name="Google Shape;784;p63"/>
            <p:cNvSpPr/>
            <p:nvPr/>
          </p:nvSpPr>
          <p:spPr>
            <a:xfrm>
              <a:off x="0" y="0"/>
              <a:ext cx="8191500" cy="1238400"/>
            </a:xfrm>
            <a:prstGeom prst="roundRect">
              <a:avLst>
                <a:gd fmla="val 6153" name="adj"/>
              </a:avLst>
            </a:prstGeom>
            <a:solidFill>
              <a:srgbClr val="FEF2F2"/>
            </a:solidFill>
            <a:ln cap="flat" cmpd="sng" w="14300">
              <a:solidFill>
                <a:srgbClr val="FECAC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63"/>
            <p:cNvSpPr/>
            <p:nvPr/>
          </p:nvSpPr>
          <p:spPr>
            <a:xfrm>
              <a:off x="0" y="0"/>
              <a:ext cx="8191500" cy="324000"/>
            </a:xfrm>
            <a:prstGeom prst="roundRect">
              <a:avLst>
                <a:gd fmla="val 23529" name="adj"/>
              </a:avLst>
            </a:prstGeom>
            <a:solidFill>
              <a:srgbClr val="991B1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63"/>
            <p:cNvSpPr txBox="1"/>
            <p:nvPr/>
          </p:nvSpPr>
          <p:spPr>
            <a:xfrm>
              <a:off x="0" y="0"/>
              <a:ext cx="81915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Error message:</a:t>
              </a:r>
              <a:endParaRPr b="1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p63"/>
            <p:cNvSpPr/>
            <p:nvPr/>
          </p:nvSpPr>
          <p:spPr>
            <a:xfrm>
              <a:off x="142875" y="419100"/>
              <a:ext cx="7905900" cy="685800"/>
            </a:xfrm>
            <a:prstGeom prst="roundRect">
              <a:avLst>
                <a:gd fmla="val 8333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63"/>
            <p:cNvSpPr txBox="1"/>
            <p:nvPr/>
          </p:nvSpPr>
          <p:spPr>
            <a:xfrm>
              <a:off x="238125" y="457200"/>
              <a:ext cx="77154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F87171"/>
                  </a:solidFill>
                  <a:latin typeface="Consolas"/>
                  <a:ea typeface="Consolas"/>
                  <a:cs typeface="Consolas"/>
                  <a:sym typeface="Consolas"/>
                </a:rPr>
                <a:t>slurmstepd: error: Detected 2 oom-kill event(s) in StepId=6795832.0 cgroup. Some of your processes may have been killed by the cgroup out-of-memory handler.</a:t>
              </a:r>
              <a:endParaRPr sz="1000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F87171"/>
                  </a:solidFill>
                  <a:latin typeface="Consolas"/>
                  <a:ea typeface="Consolas"/>
                  <a:cs typeface="Consolas"/>
                  <a:sym typeface="Consolas"/>
                </a:rPr>
                <a:t>srun: error: mcn61: task 0: Out Of Memory</a:t>
              </a:r>
              <a:endParaRPr sz="1000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789" name="Google Shape;789;p63"/>
          <p:cNvGrpSpPr/>
          <p:nvPr/>
        </p:nvGrpSpPr>
        <p:grpSpPr>
          <a:xfrm>
            <a:off x="476250" y="2038350"/>
            <a:ext cx="8191500" cy="2247900"/>
            <a:chOff x="0" y="0"/>
            <a:chExt cx="8191500" cy="2247900"/>
          </a:xfrm>
        </p:grpSpPr>
        <p:sp>
          <p:nvSpPr>
            <p:cNvPr id="790" name="Google Shape;790;p63"/>
            <p:cNvSpPr/>
            <p:nvPr/>
          </p:nvSpPr>
          <p:spPr>
            <a:xfrm>
              <a:off x="0" y="0"/>
              <a:ext cx="8191500" cy="2247900"/>
            </a:xfrm>
            <a:prstGeom prst="roundRect">
              <a:avLst>
                <a:gd fmla="val 3389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63"/>
            <p:cNvSpPr/>
            <p:nvPr/>
          </p:nvSpPr>
          <p:spPr>
            <a:xfrm>
              <a:off x="0" y="0"/>
              <a:ext cx="8191500" cy="324000"/>
            </a:xfrm>
            <a:prstGeom prst="roundRect">
              <a:avLst>
                <a:gd fmla="val 23529" name="adj"/>
              </a:avLst>
            </a:prstGeom>
            <a:solidFill>
              <a:srgbClr val="82000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63"/>
            <p:cNvSpPr txBox="1"/>
            <p:nvPr/>
          </p:nvSpPr>
          <p:spPr>
            <a:xfrm>
              <a:off x="0" y="0"/>
              <a:ext cx="81915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You probably need to request more memory. But how much more?</a:t>
              </a:r>
              <a:endParaRPr b="1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p63"/>
            <p:cNvSpPr txBox="1"/>
            <p:nvPr/>
          </p:nvSpPr>
          <p:spPr>
            <a:xfrm>
              <a:off x="190500" y="400050"/>
              <a:ext cx="7810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Check how much memory your job used:</a:t>
              </a:r>
              <a:endParaRPr b="0" sz="12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p63"/>
            <p:cNvSpPr/>
            <p:nvPr/>
          </p:nvSpPr>
          <p:spPr>
            <a:xfrm>
              <a:off x="190500" y="838200"/>
              <a:ext cx="7810500" cy="533400"/>
            </a:xfrm>
            <a:prstGeom prst="roundRect">
              <a:avLst>
                <a:gd fmla="val 10714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63"/>
            <p:cNvSpPr txBox="1"/>
            <p:nvPr/>
          </p:nvSpPr>
          <p:spPr>
            <a:xfrm>
              <a:off x="285750" y="876300"/>
              <a:ext cx="7620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8">
                  <a:solidFill>
                    <a:srgbClr val="38BDF8"/>
                  </a:solidFill>
                  <a:latin typeface="Consolas"/>
                  <a:ea typeface="Consolas"/>
                  <a:cs typeface="Consolas"/>
                  <a:sym typeface="Consolas"/>
                </a:rPr>
                <a:t>sacct -a --format="JobID%15,user,JobName%18,Partition,Account,AllocCPUS,State%30,AllocTRES%42,Submit,Start,End,Elapsed,AveCPU,MaxRSS,MaxVMSize" -j &lt;jobID&gt;</a:t>
              </a:r>
              <a:endParaRPr sz="808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796" name="Google Shape;796;p63"/>
            <p:cNvSpPr/>
            <p:nvPr/>
          </p:nvSpPr>
          <p:spPr>
            <a:xfrm>
              <a:off x="190500" y="1485900"/>
              <a:ext cx="7810500" cy="571500"/>
            </a:xfrm>
            <a:prstGeom prst="roundRect">
              <a:avLst>
                <a:gd fmla="val 10000" name="adj"/>
              </a:avLst>
            </a:prstGeom>
            <a:solidFill>
              <a:srgbClr val="FEF3C7"/>
            </a:solidFill>
            <a:ln cap="flat" cmpd="sng" w="9525">
              <a:solidFill>
                <a:srgbClr val="FCD3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63"/>
            <p:cNvSpPr txBox="1"/>
            <p:nvPr/>
          </p:nvSpPr>
          <p:spPr>
            <a:xfrm>
              <a:off x="333375" y="1485900"/>
              <a:ext cx="7524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50">
                  <a:solidFill>
                    <a:srgbClr val="78350F"/>
                  </a:solidFill>
                  <a:latin typeface="Arial"/>
                  <a:ea typeface="Arial"/>
                  <a:cs typeface="Arial"/>
                  <a:sym typeface="Arial"/>
                </a:rPr>
                <a:t>Check the value </a:t>
              </a:r>
              <a:r>
                <a:rPr b="1" lang="en" sz="115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MaxRSS</a:t>
              </a:r>
              <a:r>
                <a:rPr lang="en" sz="1150">
                  <a:solidFill>
                    <a:srgbClr val="78350F"/>
                  </a:solidFill>
                  <a:latin typeface="Arial"/>
                  <a:ea typeface="Arial"/>
                  <a:cs typeface="Arial"/>
                  <a:sym typeface="Arial"/>
                </a:rPr>
                <a:t>: amount of memory consumed during the running of your job.</a:t>
              </a:r>
              <a:endParaRPr sz="1150">
                <a:solidFill>
                  <a:srgbClr val="78350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8" name="Google Shape;798;p63"/>
          <p:cNvGrpSpPr/>
          <p:nvPr/>
        </p:nvGrpSpPr>
        <p:grpSpPr>
          <a:xfrm>
            <a:off x="476250" y="4591050"/>
            <a:ext cx="381000" cy="285900"/>
            <a:chOff x="0" y="0"/>
            <a:chExt cx="381000" cy="285900"/>
          </a:xfrm>
        </p:grpSpPr>
        <p:sp>
          <p:nvSpPr>
            <p:cNvPr id="799" name="Google Shape;799;p63"/>
            <p:cNvSpPr/>
            <p:nvPr/>
          </p:nvSpPr>
          <p:spPr>
            <a:xfrm>
              <a:off x="0" y="0"/>
              <a:ext cx="381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63"/>
            <p:cNvSpPr txBox="1"/>
            <p:nvPr/>
          </p:nvSpPr>
          <p:spPr>
            <a:xfrm>
              <a:off x="0" y="0"/>
              <a:ext cx="38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24</a:t>
              </a:r>
              <a:endParaRPr sz="14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6" name="Google Shape;806;p64"/>
          <p:cNvCxnSpPr/>
          <p:nvPr/>
        </p:nvCxnSpPr>
        <p:spPr>
          <a:xfrm>
            <a:off x="0" y="4457700"/>
            <a:ext cx="9144000" cy="1200"/>
          </a:xfrm>
          <a:prstGeom prst="straightConnector1">
            <a:avLst/>
          </a:prstGeom>
          <a:noFill/>
          <a:ln cap="flat" cmpd="sng" w="9525">
            <a:solidFill>
              <a:srgbClr val="6E0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PT-Large-Logo-with-Tag-Pos.png" id="807" name="Google Shape;807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91263" y="4552950"/>
            <a:ext cx="1796653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808" name="Google Shape;808;p64"/>
          <p:cNvSpPr/>
          <p:nvPr/>
        </p:nvSpPr>
        <p:spPr>
          <a:xfrm>
            <a:off x="476250" y="171450"/>
            <a:ext cx="8191500" cy="38100"/>
          </a:xfrm>
          <a:prstGeom prst="roundRect">
            <a:avLst>
              <a:gd fmla="val 50000" name="adj"/>
            </a:avLst>
          </a:prstGeom>
          <a:solidFill>
            <a:srgbClr val="82000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64"/>
          <p:cNvSpPr txBox="1"/>
          <p:nvPr/>
        </p:nvSpPr>
        <p:spPr>
          <a:xfrm>
            <a:off x="476250" y="4591050"/>
            <a:ext cx="381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sz="14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64"/>
          <p:cNvSpPr txBox="1"/>
          <p:nvPr/>
        </p:nvSpPr>
        <p:spPr>
          <a:xfrm>
            <a:off x="476250" y="247650"/>
            <a:ext cx="8191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820009"/>
                </a:solidFill>
                <a:latin typeface="Arial"/>
                <a:ea typeface="Arial"/>
                <a:cs typeface="Arial"/>
                <a:sym typeface="Arial"/>
              </a:rPr>
              <a:t>Getting Help &amp; Troubleshooting</a:t>
            </a:r>
            <a:endParaRPr b="1" sz="2200">
              <a:solidFill>
                <a:srgbClr val="82000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11" name="Google Shape;811;p64"/>
          <p:cNvGrpSpPr/>
          <p:nvPr/>
        </p:nvGrpSpPr>
        <p:grpSpPr>
          <a:xfrm>
            <a:off x="476250" y="666750"/>
            <a:ext cx="8191500" cy="400200"/>
            <a:chOff x="0" y="0"/>
            <a:chExt cx="8191500" cy="400200"/>
          </a:xfrm>
        </p:grpSpPr>
        <p:sp>
          <p:nvSpPr>
            <p:cNvPr id="812" name="Google Shape;812;p64"/>
            <p:cNvSpPr/>
            <p:nvPr/>
          </p:nvSpPr>
          <p:spPr>
            <a:xfrm>
              <a:off x="0" y="0"/>
              <a:ext cx="8191500" cy="400200"/>
            </a:xfrm>
            <a:prstGeom prst="roundRect">
              <a:avLst>
                <a:gd fmla="val 14285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64"/>
            <p:cNvSpPr txBox="1"/>
            <p:nvPr/>
          </p:nvSpPr>
          <p:spPr>
            <a:xfrm>
              <a:off x="0" y="0"/>
              <a:ext cx="8191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Common issues? Check our FAQ first: </a:t>
              </a:r>
              <a:r>
                <a:rPr b="1" lang="en" sz="1300" u="sng">
                  <a:solidFill>
                    <a:srgbClr val="820009"/>
                  </a:solidFill>
                  <a:latin typeface="Arial"/>
                  <a:ea typeface="Arial"/>
                  <a:cs typeface="Arial"/>
                  <a:sym typeface="Arial"/>
                  <a:hlinkClick r:id="rId4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[link removed]</a:t>
              </a:r>
              <a:endParaRPr sz="13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4" name="Google Shape;814;p64"/>
          <p:cNvGrpSpPr/>
          <p:nvPr/>
        </p:nvGrpSpPr>
        <p:grpSpPr>
          <a:xfrm>
            <a:off x="476250" y="1200150"/>
            <a:ext cx="2571900" cy="3086100"/>
            <a:chOff x="0" y="0"/>
            <a:chExt cx="2571900" cy="3086100"/>
          </a:xfrm>
        </p:grpSpPr>
        <p:sp>
          <p:nvSpPr>
            <p:cNvPr id="815" name="Google Shape;815;p64"/>
            <p:cNvSpPr/>
            <p:nvPr/>
          </p:nvSpPr>
          <p:spPr>
            <a:xfrm>
              <a:off x="0" y="0"/>
              <a:ext cx="2571900" cy="3086100"/>
            </a:xfrm>
            <a:prstGeom prst="roundRect">
              <a:avLst>
                <a:gd fmla="val 2962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64"/>
            <p:cNvSpPr/>
            <p:nvPr/>
          </p:nvSpPr>
          <p:spPr>
            <a:xfrm>
              <a:off x="0" y="0"/>
              <a:ext cx="2571900" cy="381000"/>
            </a:xfrm>
            <a:prstGeom prst="roundRect">
              <a:avLst>
                <a:gd fmla="val 20000" name="adj"/>
              </a:avLst>
            </a:prstGeom>
            <a:solidFill>
              <a:srgbClr val="82000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64"/>
            <p:cNvSpPr txBox="1"/>
            <p:nvPr/>
          </p:nvSpPr>
          <p:spPr>
            <a:xfrm>
              <a:off x="0" y="0"/>
              <a:ext cx="2571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Common Issues</a:t>
              </a:r>
              <a:endParaRPr b="1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p64"/>
            <p:cNvSpPr txBox="1"/>
            <p:nvPr/>
          </p:nvSpPr>
          <p:spPr>
            <a:xfrm>
              <a:off x="190500" y="495300"/>
              <a:ext cx="2190900" cy="24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Frequently encountered topics:</a:t>
              </a:r>
              <a:endParaRPr b="1"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• Failed jobs</a:t>
              </a:r>
              <a:endParaRPr b="1" sz="1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• Module import</a:t>
              </a:r>
              <a:endParaRPr b="1" sz="1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800"/>
                </a:spcAft>
                <a:buNone/>
              </a:pPr>
              <a:r>
                <a:rPr b="1" lang="en" sz="12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• File permissions errors</a:t>
              </a:r>
              <a:endParaRPr b="1" sz="1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9" name="Google Shape;819;p64"/>
          <p:cNvGrpSpPr/>
          <p:nvPr/>
        </p:nvGrpSpPr>
        <p:grpSpPr>
          <a:xfrm>
            <a:off x="3286125" y="1200150"/>
            <a:ext cx="2571900" cy="3086100"/>
            <a:chOff x="0" y="0"/>
            <a:chExt cx="2571900" cy="3086100"/>
          </a:xfrm>
        </p:grpSpPr>
        <p:sp>
          <p:nvSpPr>
            <p:cNvPr id="820" name="Google Shape;820;p64"/>
            <p:cNvSpPr/>
            <p:nvPr/>
          </p:nvSpPr>
          <p:spPr>
            <a:xfrm>
              <a:off x="0" y="0"/>
              <a:ext cx="2571900" cy="3086100"/>
            </a:xfrm>
            <a:prstGeom prst="roundRect">
              <a:avLst>
                <a:gd fmla="val 2962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64"/>
            <p:cNvSpPr/>
            <p:nvPr/>
          </p:nvSpPr>
          <p:spPr>
            <a:xfrm>
              <a:off x="0" y="0"/>
              <a:ext cx="2571900" cy="381000"/>
            </a:xfrm>
            <a:prstGeom prst="roundRect">
              <a:avLst>
                <a:gd fmla="val 20000" name="adj"/>
              </a:avLst>
            </a:prstGeom>
            <a:solidFill>
              <a:srgbClr val="82000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64"/>
            <p:cNvSpPr txBox="1"/>
            <p:nvPr/>
          </p:nvSpPr>
          <p:spPr>
            <a:xfrm>
              <a:off x="0" y="0"/>
              <a:ext cx="2571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Support Channels</a:t>
              </a:r>
              <a:endParaRPr b="1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64"/>
            <p:cNvSpPr txBox="1"/>
            <p:nvPr/>
          </p:nvSpPr>
          <p:spPr>
            <a:xfrm>
              <a:off x="190500" y="495300"/>
              <a:ext cx="2190900" cy="24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33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RESEARCH SUPPORT</a:t>
              </a:r>
              <a:endParaRPr b="1" sz="833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971">
                  <a:solidFill>
                    <a:srgbClr val="820009"/>
                  </a:solidFill>
                  <a:latin typeface="Arial"/>
                  <a:ea typeface="Arial"/>
                  <a:cs typeface="Arial"/>
                  <a:sym typeface="Arial"/>
                </a:rPr>
                <a:t>research.support@chicagobooth.edu</a:t>
              </a:r>
              <a:endParaRPr b="1" sz="971">
                <a:solidFill>
                  <a:srgbClr val="82000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1" lang="en" sz="833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GENERAL HELPDESK</a:t>
              </a:r>
              <a:endParaRPr b="1" sz="833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1600"/>
                </a:spcAft>
                <a:buNone/>
              </a:pPr>
              <a:r>
                <a:rPr b="1" lang="en" sz="971">
                  <a:solidFill>
                    <a:srgbClr val="820009"/>
                  </a:solidFill>
                  <a:latin typeface="Arial"/>
                  <a:ea typeface="Arial"/>
                  <a:cs typeface="Arial"/>
                  <a:sym typeface="Arial"/>
                </a:rPr>
                <a:t>helpdesk@chicagobooth.edu</a:t>
              </a:r>
              <a:endParaRPr b="1" sz="971">
                <a:solidFill>
                  <a:srgbClr val="82000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24" name="Google Shape;824;p64"/>
          <p:cNvGrpSpPr/>
          <p:nvPr/>
        </p:nvGrpSpPr>
        <p:grpSpPr>
          <a:xfrm>
            <a:off x="6096000" y="1200150"/>
            <a:ext cx="2571900" cy="3086100"/>
            <a:chOff x="0" y="0"/>
            <a:chExt cx="2571900" cy="3086100"/>
          </a:xfrm>
        </p:grpSpPr>
        <p:sp>
          <p:nvSpPr>
            <p:cNvPr id="825" name="Google Shape;825;p64"/>
            <p:cNvSpPr/>
            <p:nvPr/>
          </p:nvSpPr>
          <p:spPr>
            <a:xfrm>
              <a:off x="0" y="0"/>
              <a:ext cx="2571900" cy="3086100"/>
            </a:xfrm>
            <a:prstGeom prst="roundRect">
              <a:avLst>
                <a:gd fmla="val 2962" name="adj"/>
              </a:avLst>
            </a:prstGeom>
            <a:solidFill>
              <a:srgbClr val="FEF3C7"/>
            </a:solidFill>
            <a:ln cap="flat" cmpd="sng" w="14300">
              <a:solidFill>
                <a:srgbClr val="FCD3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64"/>
            <p:cNvSpPr/>
            <p:nvPr/>
          </p:nvSpPr>
          <p:spPr>
            <a:xfrm>
              <a:off x="0" y="0"/>
              <a:ext cx="2571900" cy="381000"/>
            </a:xfrm>
            <a:prstGeom prst="roundRect">
              <a:avLst>
                <a:gd fmla="val 20000" name="adj"/>
              </a:avLst>
            </a:prstGeom>
            <a:solidFill>
              <a:srgbClr val="78350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64"/>
            <p:cNvSpPr txBox="1"/>
            <p:nvPr/>
          </p:nvSpPr>
          <p:spPr>
            <a:xfrm>
              <a:off x="0" y="0"/>
              <a:ext cx="2571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When Reporting</a:t>
              </a:r>
              <a:endParaRPr b="1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64"/>
            <p:cNvSpPr txBox="1"/>
            <p:nvPr/>
          </p:nvSpPr>
          <p:spPr>
            <a:xfrm>
              <a:off x="171450" y="495300"/>
              <a:ext cx="2229000" cy="24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92400E"/>
                  </a:solidFill>
                  <a:latin typeface="Arial"/>
                  <a:ea typeface="Arial"/>
                  <a:cs typeface="Arial"/>
                  <a:sym typeface="Arial"/>
                </a:rPr>
                <a:t>• Start a new email thread for each new support request.</a:t>
              </a:r>
              <a:endParaRPr b="1" sz="1100">
                <a:solidFill>
                  <a:srgbClr val="92400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78350F"/>
                  </a:solidFill>
                  <a:latin typeface="Arial"/>
                  <a:ea typeface="Arial"/>
                  <a:cs typeface="Arial"/>
                  <a:sym typeface="Arial"/>
                </a:rPr>
                <a:t>Please always include:</a:t>
              </a:r>
              <a:endParaRPr b="1" sz="1100">
                <a:solidFill>
                  <a:srgbClr val="78350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78350F"/>
                  </a:solidFill>
                  <a:latin typeface="Arial"/>
                  <a:ea typeface="Arial"/>
                  <a:cs typeface="Arial"/>
                  <a:sym typeface="Arial"/>
                </a:rPr>
                <a:t>- User BoothID</a:t>
              </a:r>
              <a:endParaRPr sz="1100">
                <a:solidFill>
                  <a:srgbClr val="78350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78350F"/>
                  </a:solidFill>
                  <a:latin typeface="Arial"/>
                  <a:ea typeface="Arial"/>
                  <a:cs typeface="Arial"/>
                  <a:sym typeface="Arial"/>
                </a:rPr>
                <a:t>- Job ID</a:t>
              </a:r>
              <a:endParaRPr sz="1100">
                <a:solidFill>
                  <a:srgbClr val="78350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400"/>
                </a:spcAft>
                <a:buNone/>
              </a:pPr>
              <a:r>
                <a:rPr lang="en" sz="1100">
                  <a:solidFill>
                    <a:srgbClr val="78350F"/>
                  </a:solidFill>
                  <a:latin typeface="Arial"/>
                  <a:ea typeface="Arial"/>
                  <a:cs typeface="Arial"/>
                  <a:sym typeface="Arial"/>
                </a:rPr>
                <a:t>- Log snippets</a:t>
              </a:r>
              <a:endParaRPr sz="1100">
                <a:solidFill>
                  <a:srgbClr val="78350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33" name="Google Shape;833;p65"/>
          <p:cNvCxnSpPr/>
          <p:nvPr/>
        </p:nvCxnSpPr>
        <p:spPr>
          <a:xfrm>
            <a:off x="0" y="4457700"/>
            <a:ext cx="9144000" cy="1200"/>
          </a:xfrm>
          <a:prstGeom prst="straightConnector1">
            <a:avLst/>
          </a:prstGeom>
          <a:noFill/>
          <a:ln cap="flat" cmpd="sng" w="9525">
            <a:solidFill>
              <a:srgbClr val="6E0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PT-Large-Logo-with-Tag-Pos.png" id="834" name="Google Shape;834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91263" y="4552950"/>
            <a:ext cx="1796653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65"/>
          <p:cNvSpPr txBox="1"/>
          <p:nvPr/>
        </p:nvSpPr>
        <p:spPr>
          <a:xfrm>
            <a:off x="476250" y="4591050"/>
            <a:ext cx="381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26</a:t>
            </a:r>
            <a:endParaRPr b="0" sz="14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65"/>
          <p:cNvSpPr/>
          <p:nvPr/>
        </p:nvSpPr>
        <p:spPr>
          <a:xfrm>
            <a:off x="476250" y="171450"/>
            <a:ext cx="8191500" cy="38100"/>
          </a:xfrm>
          <a:prstGeom prst="roundRect">
            <a:avLst>
              <a:gd fmla="val 50000" name="adj"/>
            </a:avLst>
          </a:prstGeom>
          <a:solidFill>
            <a:srgbClr val="82000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65"/>
          <p:cNvSpPr txBox="1"/>
          <p:nvPr/>
        </p:nvSpPr>
        <p:spPr>
          <a:xfrm>
            <a:off x="476250" y="247650"/>
            <a:ext cx="8191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820009"/>
                </a:solidFill>
                <a:latin typeface="Arial"/>
                <a:ea typeface="Arial"/>
                <a:cs typeface="Arial"/>
                <a:sym typeface="Arial"/>
              </a:rPr>
              <a:t>External Resources</a:t>
            </a:r>
            <a:endParaRPr b="1" sz="2200">
              <a:solidFill>
                <a:srgbClr val="82000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38" name="Google Shape;838;p65"/>
          <p:cNvGrpSpPr/>
          <p:nvPr/>
        </p:nvGrpSpPr>
        <p:grpSpPr>
          <a:xfrm>
            <a:off x="476250" y="800100"/>
            <a:ext cx="3952800" cy="3429000"/>
            <a:chOff x="0" y="0"/>
            <a:chExt cx="3952800" cy="3429000"/>
          </a:xfrm>
        </p:grpSpPr>
        <p:sp>
          <p:nvSpPr>
            <p:cNvPr id="839" name="Google Shape;839;p65"/>
            <p:cNvSpPr/>
            <p:nvPr/>
          </p:nvSpPr>
          <p:spPr>
            <a:xfrm>
              <a:off x="0" y="0"/>
              <a:ext cx="3952800" cy="3429000"/>
            </a:xfrm>
            <a:prstGeom prst="roundRect">
              <a:avLst>
                <a:gd fmla="val 2222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65"/>
            <p:cNvSpPr/>
            <p:nvPr/>
          </p:nvSpPr>
          <p:spPr>
            <a:xfrm>
              <a:off x="0" y="0"/>
              <a:ext cx="3952800" cy="400200"/>
            </a:xfrm>
            <a:prstGeom prst="roundRect">
              <a:avLst>
                <a:gd fmla="val 19047" name="adj"/>
              </a:avLst>
            </a:prstGeom>
            <a:solidFill>
              <a:srgbClr val="82000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65"/>
            <p:cNvSpPr txBox="1"/>
            <p:nvPr/>
          </p:nvSpPr>
          <p:spPr>
            <a:xfrm>
              <a:off x="0" y="0"/>
              <a:ext cx="3952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Slurm Documentation</a:t>
              </a:r>
              <a:endParaRPr b="1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" name="Google Shape;842;p65"/>
            <p:cNvSpPr txBox="1"/>
            <p:nvPr/>
          </p:nvSpPr>
          <p:spPr>
            <a:xfrm>
              <a:off x="228600" y="552450"/>
              <a:ext cx="34956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SchedMD Documentation Website</a:t>
              </a:r>
              <a:endParaRPr b="1" sz="1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A comprehensive resource for advanced usage and configuration of the Slurm scheduler.</a:t>
              </a:r>
              <a:endParaRPr b="0" sz="12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" name="Google Shape;843;p65"/>
            <p:cNvSpPr/>
            <p:nvPr/>
          </p:nvSpPr>
          <p:spPr>
            <a:xfrm>
              <a:off x="228600" y="2667000"/>
              <a:ext cx="3495600" cy="514500"/>
            </a:xfrm>
            <a:prstGeom prst="roundRect">
              <a:avLst>
                <a:gd fmla="val 11111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65"/>
            <p:cNvSpPr txBox="1"/>
            <p:nvPr/>
          </p:nvSpPr>
          <p:spPr>
            <a:xfrm>
              <a:off x="228600" y="2667000"/>
              <a:ext cx="3495600" cy="5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95250" spcFirstLastPara="1" rIns="9525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 u="sng">
                  <a:solidFill>
                    <a:srgbClr val="38BDF8"/>
                  </a:solidFill>
                  <a:latin typeface="Consolas"/>
                  <a:ea typeface="Consolas"/>
                  <a:cs typeface="Consolas"/>
                  <a:sym typeface="Consolas"/>
                  <a:hlinkClick r:id="rId4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https://slurm.schedmd.com</a:t>
              </a:r>
              <a:endParaRPr b="0" sz="1050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845" name="Google Shape;845;p65"/>
          <p:cNvGrpSpPr/>
          <p:nvPr/>
        </p:nvGrpSpPr>
        <p:grpSpPr>
          <a:xfrm>
            <a:off x="4714875" y="800100"/>
            <a:ext cx="3952800" cy="3429000"/>
            <a:chOff x="0" y="0"/>
            <a:chExt cx="3952800" cy="3429000"/>
          </a:xfrm>
        </p:grpSpPr>
        <p:sp>
          <p:nvSpPr>
            <p:cNvPr id="846" name="Google Shape;846;p65"/>
            <p:cNvSpPr/>
            <p:nvPr/>
          </p:nvSpPr>
          <p:spPr>
            <a:xfrm>
              <a:off x="0" y="0"/>
              <a:ext cx="3952800" cy="3429000"/>
            </a:xfrm>
            <a:prstGeom prst="roundRect">
              <a:avLst>
                <a:gd fmla="val 2222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65"/>
            <p:cNvSpPr/>
            <p:nvPr/>
          </p:nvSpPr>
          <p:spPr>
            <a:xfrm>
              <a:off x="0" y="0"/>
              <a:ext cx="3952800" cy="400200"/>
            </a:xfrm>
            <a:prstGeom prst="roundRect">
              <a:avLst>
                <a:gd fmla="val 19047" name="adj"/>
              </a:avLst>
            </a:prstGeom>
            <a:solidFill>
              <a:srgbClr val="82000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65"/>
            <p:cNvSpPr txBox="1"/>
            <p:nvPr/>
          </p:nvSpPr>
          <p:spPr>
            <a:xfrm>
              <a:off x="0" y="0"/>
              <a:ext cx="3952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Booth Intranet</a:t>
              </a:r>
              <a:endParaRPr b="1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65"/>
            <p:cNvSpPr txBox="1"/>
            <p:nvPr/>
          </p:nvSpPr>
          <p:spPr>
            <a:xfrm>
              <a:off x="228600" y="552450"/>
              <a:ext cx="34956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Internal IT &amp; Research Portal</a:t>
              </a:r>
              <a:endParaRPr b="1" sz="1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Access our internal Chicago Booth IT research support, documentation, and staff guidelines.</a:t>
              </a:r>
              <a:endParaRPr b="0" sz="12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p65"/>
            <p:cNvSpPr/>
            <p:nvPr/>
          </p:nvSpPr>
          <p:spPr>
            <a:xfrm>
              <a:off x="228600" y="2667000"/>
              <a:ext cx="3495600" cy="514500"/>
            </a:xfrm>
            <a:prstGeom prst="roundRect">
              <a:avLst>
                <a:gd fmla="val 11111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65"/>
            <p:cNvSpPr txBox="1"/>
            <p:nvPr/>
          </p:nvSpPr>
          <p:spPr>
            <a:xfrm>
              <a:off x="228600" y="2667000"/>
              <a:ext cx="3495600" cy="5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95250" spcFirstLastPara="1" rIns="9525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36" u="sng">
                  <a:solidFill>
                    <a:srgbClr val="38BDF8"/>
                  </a:solidFill>
                  <a:latin typeface="Consolas"/>
                  <a:ea typeface="Consolas"/>
                  <a:cs typeface="Consolas"/>
                  <a:sym typeface="Consolas"/>
                  <a:hlinkClick r:id="rId5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https://intranet.chicagobooth.edu/secure/staff/booth-it/research</a:t>
              </a:r>
              <a:endParaRPr b="0" sz="736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57" name="Google Shape;857;p66"/>
          <p:cNvCxnSpPr/>
          <p:nvPr/>
        </p:nvCxnSpPr>
        <p:spPr>
          <a:xfrm>
            <a:off x="0" y="4457700"/>
            <a:ext cx="9144000" cy="1200"/>
          </a:xfrm>
          <a:prstGeom prst="straightConnector1">
            <a:avLst/>
          </a:prstGeom>
          <a:noFill/>
          <a:ln cap="flat" cmpd="sng" w="9525">
            <a:solidFill>
              <a:srgbClr val="6E0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PT-Large-Logo-with-Tag-Pos.png" id="858" name="Google Shape;858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91263" y="4552950"/>
            <a:ext cx="1796653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859" name="Google Shape;859;p66"/>
          <p:cNvSpPr txBox="1"/>
          <p:nvPr/>
        </p:nvSpPr>
        <p:spPr>
          <a:xfrm>
            <a:off x="476250" y="4591050"/>
            <a:ext cx="381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  <a:endParaRPr b="0" sz="14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66"/>
          <p:cNvSpPr/>
          <p:nvPr/>
        </p:nvSpPr>
        <p:spPr>
          <a:xfrm>
            <a:off x="476250" y="171450"/>
            <a:ext cx="8191500" cy="38100"/>
          </a:xfrm>
          <a:prstGeom prst="roundRect">
            <a:avLst>
              <a:gd fmla="val 50000" name="adj"/>
            </a:avLst>
          </a:prstGeom>
          <a:solidFill>
            <a:srgbClr val="82000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66"/>
          <p:cNvSpPr txBox="1"/>
          <p:nvPr>
            <p:ph type="title"/>
          </p:nvPr>
        </p:nvSpPr>
        <p:spPr>
          <a:xfrm>
            <a:off x="476250" y="247650"/>
            <a:ext cx="8191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200">
                <a:solidFill>
                  <a:srgbClr val="820009"/>
                </a:solidFill>
                <a:latin typeface="Arial"/>
                <a:ea typeface="Arial"/>
                <a:cs typeface="Arial"/>
                <a:sym typeface="Arial"/>
              </a:rPr>
              <a:t>Summary</a:t>
            </a:r>
            <a:endParaRPr b="1" i="0" sz="2200">
              <a:solidFill>
                <a:srgbClr val="82000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62" name="Google Shape;862;p66"/>
          <p:cNvGrpSpPr/>
          <p:nvPr/>
        </p:nvGrpSpPr>
        <p:grpSpPr>
          <a:xfrm>
            <a:off x="476250" y="914400"/>
            <a:ext cx="1905000" cy="3238500"/>
            <a:chOff x="0" y="0"/>
            <a:chExt cx="1905000" cy="3238500"/>
          </a:xfrm>
        </p:grpSpPr>
        <p:sp>
          <p:nvSpPr>
            <p:cNvPr id="863" name="Google Shape;863;p66"/>
            <p:cNvSpPr/>
            <p:nvPr/>
          </p:nvSpPr>
          <p:spPr>
            <a:xfrm>
              <a:off x="0" y="0"/>
              <a:ext cx="1905000" cy="3238500"/>
            </a:xfrm>
            <a:prstGeom prst="roundRect">
              <a:avLst>
                <a:gd fmla="val 400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66"/>
            <p:cNvSpPr/>
            <p:nvPr/>
          </p:nvSpPr>
          <p:spPr>
            <a:xfrm>
              <a:off x="0" y="0"/>
              <a:ext cx="1905000" cy="381000"/>
            </a:xfrm>
            <a:prstGeom prst="roundRect">
              <a:avLst>
                <a:gd fmla="val 20000" name="adj"/>
              </a:avLst>
            </a:prstGeom>
            <a:solidFill>
              <a:srgbClr val="82000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66"/>
            <p:cNvSpPr txBox="1"/>
            <p:nvPr/>
          </p:nvSpPr>
          <p:spPr>
            <a:xfrm>
              <a:off x="0" y="0"/>
              <a:ext cx="190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01. Environment</a:t>
              </a:r>
              <a:endParaRPr b="1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Google Shape;866;p66"/>
            <p:cNvSpPr txBox="1"/>
            <p:nvPr/>
          </p:nvSpPr>
          <p:spPr>
            <a:xfrm>
              <a:off x="152400" y="533400"/>
              <a:ext cx="16002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820009"/>
                  </a:solidFill>
                  <a:latin typeface="Arial"/>
                  <a:ea typeface="Arial"/>
                  <a:cs typeface="Arial"/>
                  <a:sym typeface="Arial"/>
                </a:rPr>
                <a:t>Cluster Access</a:t>
              </a:r>
              <a:endParaRPr b="1" sz="1100">
                <a:solidFill>
                  <a:srgbClr val="82000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Complete cluster access setup and environment configuration.</a:t>
              </a:r>
              <a:endParaRPr b="0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7" name="Google Shape;867;p66"/>
          <p:cNvGrpSpPr/>
          <p:nvPr/>
        </p:nvGrpSpPr>
        <p:grpSpPr>
          <a:xfrm>
            <a:off x="2571750" y="914400"/>
            <a:ext cx="1905000" cy="3238500"/>
            <a:chOff x="0" y="0"/>
            <a:chExt cx="1905000" cy="3238500"/>
          </a:xfrm>
        </p:grpSpPr>
        <p:sp>
          <p:nvSpPr>
            <p:cNvPr id="868" name="Google Shape;868;p66"/>
            <p:cNvSpPr/>
            <p:nvPr/>
          </p:nvSpPr>
          <p:spPr>
            <a:xfrm>
              <a:off x="0" y="0"/>
              <a:ext cx="1905000" cy="3238500"/>
            </a:xfrm>
            <a:prstGeom prst="roundRect">
              <a:avLst>
                <a:gd fmla="val 400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66"/>
            <p:cNvSpPr/>
            <p:nvPr/>
          </p:nvSpPr>
          <p:spPr>
            <a:xfrm>
              <a:off x="0" y="0"/>
              <a:ext cx="1905000" cy="381000"/>
            </a:xfrm>
            <a:prstGeom prst="roundRect">
              <a:avLst>
                <a:gd fmla="val 20000" name="adj"/>
              </a:avLst>
            </a:prstGeom>
            <a:solidFill>
              <a:srgbClr val="82000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66"/>
            <p:cNvSpPr txBox="1"/>
            <p:nvPr/>
          </p:nvSpPr>
          <p:spPr>
            <a:xfrm>
              <a:off x="0" y="0"/>
              <a:ext cx="190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02. Jobs &amp; Storage</a:t>
              </a:r>
              <a:endParaRPr b="1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" name="Google Shape;871;p66"/>
            <p:cNvSpPr txBox="1"/>
            <p:nvPr/>
          </p:nvSpPr>
          <p:spPr>
            <a:xfrm>
              <a:off x="152400" y="533400"/>
              <a:ext cx="16002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820009"/>
                  </a:solidFill>
                  <a:latin typeface="Arial"/>
                  <a:ea typeface="Arial"/>
                  <a:cs typeface="Arial"/>
                  <a:sym typeface="Arial"/>
                </a:rPr>
                <a:t>Workflow Rules</a:t>
              </a:r>
              <a:endParaRPr b="1" sz="1100">
                <a:solidFill>
                  <a:srgbClr val="82000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Follow storage guidelines and best practices for job submission.</a:t>
              </a:r>
              <a:endParaRPr b="0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72" name="Google Shape;872;p66"/>
          <p:cNvGrpSpPr/>
          <p:nvPr/>
        </p:nvGrpSpPr>
        <p:grpSpPr>
          <a:xfrm>
            <a:off x="4667250" y="914400"/>
            <a:ext cx="1905000" cy="3238500"/>
            <a:chOff x="0" y="0"/>
            <a:chExt cx="1905000" cy="3238500"/>
          </a:xfrm>
        </p:grpSpPr>
        <p:sp>
          <p:nvSpPr>
            <p:cNvPr id="873" name="Google Shape;873;p66"/>
            <p:cNvSpPr/>
            <p:nvPr/>
          </p:nvSpPr>
          <p:spPr>
            <a:xfrm>
              <a:off x="0" y="0"/>
              <a:ext cx="1905000" cy="3238500"/>
            </a:xfrm>
            <a:prstGeom prst="roundRect">
              <a:avLst>
                <a:gd fmla="val 400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66"/>
            <p:cNvSpPr/>
            <p:nvPr/>
          </p:nvSpPr>
          <p:spPr>
            <a:xfrm>
              <a:off x="0" y="0"/>
              <a:ext cx="1905000" cy="381000"/>
            </a:xfrm>
            <a:prstGeom prst="roundRect">
              <a:avLst>
                <a:gd fmla="val 20000" name="adj"/>
              </a:avLst>
            </a:prstGeom>
            <a:solidFill>
              <a:srgbClr val="82000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66"/>
            <p:cNvSpPr txBox="1"/>
            <p:nvPr/>
          </p:nvSpPr>
          <p:spPr>
            <a:xfrm>
              <a:off x="0" y="0"/>
              <a:ext cx="190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03. Optimization</a:t>
              </a:r>
              <a:endParaRPr b="1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" name="Google Shape;876;p66"/>
            <p:cNvSpPr txBox="1"/>
            <p:nvPr/>
          </p:nvSpPr>
          <p:spPr>
            <a:xfrm>
              <a:off x="152400" y="533400"/>
              <a:ext cx="16002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820009"/>
                  </a:solidFill>
                  <a:latin typeface="Arial"/>
                  <a:ea typeface="Arial"/>
                  <a:cs typeface="Arial"/>
                  <a:sym typeface="Arial"/>
                </a:rPr>
                <a:t>Resource Use</a:t>
              </a:r>
              <a:endParaRPr b="1" sz="1100">
                <a:solidFill>
                  <a:srgbClr val="82000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Aim for efficient utilization of memory allocation and CPU cores.</a:t>
              </a:r>
              <a:endParaRPr b="0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77" name="Google Shape;877;p66"/>
          <p:cNvGrpSpPr/>
          <p:nvPr/>
        </p:nvGrpSpPr>
        <p:grpSpPr>
          <a:xfrm>
            <a:off x="6762750" y="914400"/>
            <a:ext cx="1905000" cy="3238500"/>
            <a:chOff x="0" y="0"/>
            <a:chExt cx="1905000" cy="3238500"/>
          </a:xfrm>
        </p:grpSpPr>
        <p:sp>
          <p:nvSpPr>
            <p:cNvPr id="878" name="Google Shape;878;p66"/>
            <p:cNvSpPr/>
            <p:nvPr/>
          </p:nvSpPr>
          <p:spPr>
            <a:xfrm>
              <a:off x="0" y="0"/>
              <a:ext cx="1905000" cy="3238500"/>
            </a:xfrm>
            <a:prstGeom prst="roundRect">
              <a:avLst>
                <a:gd fmla="val 400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66"/>
            <p:cNvSpPr/>
            <p:nvPr/>
          </p:nvSpPr>
          <p:spPr>
            <a:xfrm>
              <a:off x="0" y="0"/>
              <a:ext cx="1905000" cy="381000"/>
            </a:xfrm>
            <a:prstGeom prst="roundRect">
              <a:avLst>
                <a:gd fmla="val 20000" name="adj"/>
              </a:avLst>
            </a:prstGeom>
            <a:solidFill>
              <a:srgbClr val="82000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66"/>
            <p:cNvSpPr txBox="1"/>
            <p:nvPr/>
          </p:nvSpPr>
          <p:spPr>
            <a:xfrm>
              <a:off x="0" y="0"/>
              <a:ext cx="190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04. Assistance</a:t>
              </a:r>
              <a:endParaRPr b="1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" name="Google Shape;881;p66"/>
            <p:cNvSpPr txBox="1"/>
            <p:nvPr/>
          </p:nvSpPr>
          <p:spPr>
            <a:xfrm>
              <a:off x="152400" y="533400"/>
              <a:ext cx="16002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820009"/>
                  </a:solidFill>
                  <a:latin typeface="Arial"/>
                  <a:ea typeface="Arial"/>
                  <a:cs typeface="Arial"/>
                  <a:sym typeface="Arial"/>
                </a:rPr>
                <a:t>Support &amp; Feedback</a:t>
              </a:r>
              <a:endParaRPr b="1" sz="1100">
                <a:solidFill>
                  <a:srgbClr val="82000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Please reach out for technical support or to share feedback.</a:t>
              </a:r>
              <a:endParaRPr b="0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6" name="Google Shape;886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3014" y="813435"/>
            <a:ext cx="5494940" cy="31870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PT-Large-Logo-with-Tag-Pos.png" id="891" name="Google Shape;891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716881"/>
            <a:ext cx="6172200" cy="170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lank">
  <a:themeElements>
    <a:clrScheme name="">
      <a:dk1>
        <a:srgbClr val="000000"/>
      </a:dk1>
      <a:lt1>
        <a:srgbClr val="FFFFFF"/>
      </a:lt1>
      <a:dk2>
        <a:srgbClr val="424087"/>
      </a:dk2>
      <a:lt2>
        <a:srgbClr val="969696"/>
      </a:lt2>
      <a:accent1>
        <a:srgbClr val="969696"/>
      </a:accent1>
      <a:accent2>
        <a:srgbClr val="666699"/>
      </a:accent2>
      <a:accent3>
        <a:srgbClr val="FFFFFF"/>
      </a:accent3>
      <a:accent4>
        <a:srgbClr val="000000"/>
      </a:accent4>
      <a:accent5>
        <a:srgbClr val="C9C9C9"/>
      </a:accent5>
      <a:accent6>
        <a:srgbClr val="5C5C8A"/>
      </a:accent6>
      <a:hlink>
        <a:srgbClr val="820009"/>
      </a:hlink>
      <a:folHlink>
        <a:srgbClr val="5F5F5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Blank">
  <a:themeElements>
    <a:clrScheme name="">
      <a:dk1>
        <a:srgbClr val="000000"/>
      </a:dk1>
      <a:lt1>
        <a:srgbClr val="FFFFFF"/>
      </a:lt1>
      <a:dk2>
        <a:srgbClr val="424087"/>
      </a:dk2>
      <a:lt2>
        <a:srgbClr val="969696"/>
      </a:lt2>
      <a:accent1>
        <a:srgbClr val="969696"/>
      </a:accent1>
      <a:accent2>
        <a:srgbClr val="666699"/>
      </a:accent2>
      <a:accent3>
        <a:srgbClr val="FFFFFF"/>
      </a:accent3>
      <a:accent4>
        <a:srgbClr val="000000"/>
      </a:accent4>
      <a:accent5>
        <a:srgbClr val="C9C9C9"/>
      </a:accent5>
      <a:accent6>
        <a:srgbClr val="5C5C8A"/>
      </a:accent6>
      <a:hlink>
        <a:srgbClr val="820009"/>
      </a:hlink>
      <a:folHlink>
        <a:srgbClr val="5F5F5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